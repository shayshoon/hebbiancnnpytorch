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179" autoAdjust="0"/>
  </p:normalViewPr>
  <p:slideViewPr>
    <p:cSldViewPr snapToGrid="0">
      <p:cViewPr varScale="1">
        <p:scale>
          <a:sx n="66" d="100"/>
          <a:sy n="66" d="100"/>
        </p:scale>
        <p:origin x="1301" y="53"/>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Billion operations</c:v>
          </c:tx>
          <c:spPr>
            <a:solidFill>
              <a:srgbClr val="0072B2"/>
            </a:solidFill>
          </c:spPr>
          <c:invertIfNegative val="1"/>
          <c:dPt>
            <c:idx val="0"/>
            <c:invertIfNegative val="0"/>
            <c:bubble3D val="0"/>
            <c:spPr>
              <a:solidFill>
                <a:srgbClr val="0072B2"/>
              </a:solidFill>
            </c:spPr>
            <c:extLst>
              <c:ext xmlns:c16="http://schemas.microsoft.com/office/drawing/2014/chart" uri="{C3380CC4-5D6E-409C-BE32-E72D297353CC}">
                <c16:uniqueId val="{00000001-27DC-4901-B806-D4288D22B832}"/>
              </c:ext>
            </c:extLst>
          </c:dPt>
          <c:dPt>
            <c:idx val="1"/>
            <c:invertIfNegative val="0"/>
            <c:bubble3D val="0"/>
            <c:spPr>
              <a:solidFill>
                <a:srgbClr val="E69F00"/>
              </a:solidFill>
            </c:spPr>
            <c:extLst>
              <c:ext xmlns:c16="http://schemas.microsoft.com/office/drawing/2014/chart" uri="{C3380CC4-5D6E-409C-BE32-E72D297353CC}">
                <c16:uniqueId val="{00000003-27DC-4901-B806-D4288D22B832}"/>
              </c:ext>
            </c:extLst>
          </c:dPt>
          <c:dPt>
            <c:idx val="2"/>
            <c:invertIfNegative val="0"/>
            <c:bubble3D val="0"/>
            <c:spPr>
              <a:solidFill>
                <a:srgbClr val="009E73"/>
              </a:solidFill>
            </c:spPr>
            <c:extLst>
              <c:ext xmlns:c16="http://schemas.microsoft.com/office/drawing/2014/chart" uri="{C3380CC4-5D6E-409C-BE32-E72D297353CC}">
                <c16:uniqueId val="{00000005-27DC-4901-B806-D4288D22B832}"/>
              </c:ext>
            </c:extLst>
          </c:dPt>
          <c:dPt>
            <c:idx val="3"/>
            <c:invertIfNegative val="0"/>
            <c:bubble3D val="0"/>
            <c:spPr>
              <a:solidFill>
                <a:srgbClr val="4D4D4D"/>
              </a:solidFill>
            </c:spPr>
            <c:extLst>
              <c:ext xmlns:c16="http://schemas.microsoft.com/office/drawing/2014/chart" uri="{C3380CC4-5D6E-409C-BE32-E72D297353CC}">
                <c16:uniqueId val="{00000007-27DC-4901-B806-D4288D22B832}"/>
              </c:ext>
            </c:extLst>
          </c:dPt>
          <c:dLbls>
            <c:spPr>
              <a:noFill/>
              <a:ln>
                <a:noFill/>
              </a:ln>
              <a:effectLst/>
            </c:spPr>
            <c:txPr>
              <a:bodyPr anchorCtr="1"/>
              <a:lstStyle/>
              <a:p>
                <a:pPr>
                  <a:defRPr sz="1275" b="1">
                    <a:solidFill>
                      <a:srgbClr val="17222F"/>
                    </a:solidFill>
                    <a:latin typeface="Arial"/>
                    <a:ea typeface="Arial"/>
                    <a:cs typeface="Arial"/>
                  </a:defRPr>
                </a:pPr>
                <a:endParaRPr lang="en-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A1</c:v>
                </c:pt>
                <c:pt idx="1">
                  <c:v>A2 conditional</c:v>
                </c:pt>
                <c:pt idx="2">
                  <c:v>B</c:v>
                </c:pt>
                <c:pt idx="3">
                  <c:v>BP</c:v>
                </c:pt>
              </c:strCache>
            </c:strRef>
          </c:cat>
          <c:val>
            <c:numRef>
              <c:f>'Chart Data'!$B$2:$B$5</c:f>
              <c:numCache>
                <c:formatCode>0.000" B"</c:formatCode>
                <c:ptCount val="4"/>
                <c:pt idx="0">
                  <c:v>8.6673400839999992</c:v>
                </c:pt>
                <c:pt idx="1">
                  <c:v>1.3803396830000001</c:v>
                </c:pt>
                <c:pt idx="2">
                  <c:v>17.267771387</c:v>
                </c:pt>
                <c:pt idx="3">
                  <c:v>24.430482934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27DC-4901-B806-D4288D22B832}"/>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IL"/>
          </a:p>
        </c:txPr>
        <c:crossAx val="48672768"/>
        <c:crosses val="autoZero"/>
        <c:auto val="1"/>
        <c:lblAlgn val="ctr"/>
        <c:lblOffset val="100"/>
        <c:noMultiLvlLbl val="1"/>
      </c:catAx>
      <c:valAx>
        <c:axId val="48672768"/>
        <c:scaling>
          <c:orientation val="minMax"/>
        </c:scaling>
        <c:delete val="0"/>
        <c:axPos val="b"/>
        <c:numFmt formatCode="0.000&quot; B&quot;" sourceLinked="1"/>
        <c:majorTickMark val="none"/>
        <c:minorTickMark val="none"/>
        <c:tickLblPos val="nextTo"/>
        <c:spPr>
          <a:ln w="0">
            <a:noFill/>
          </a:ln>
        </c:spPr>
        <c:txPr>
          <a:bodyPr anchorCtr="1"/>
          <a:lstStyle/>
          <a:p>
            <a:pPr>
              <a:defRPr sz="1350" b="1">
                <a:solidFill>
                  <a:srgbClr val="17222F"/>
                </a:solidFill>
                <a:latin typeface="Arial"/>
                <a:ea typeface="Arial"/>
                <a:cs typeface="Arial"/>
              </a:defRPr>
            </a:pPr>
            <a:endParaRPr lang="en-IL"/>
          </a:p>
        </c:txPr>
        <c:crossAx val="48650112"/>
        <c:crosses val="autoZero"/>
        <c:crossBetween val="between"/>
      </c:valAx>
      <c:spPr>
        <a:ln w="0">
          <a:noFill/>
        </a:ln>
      </c:spPr>
    </c:plotArea>
    <c:plotVisOnly val="1"/>
    <c:dispBlanksAs val="zero"/>
    <c:showDLblsOverMax val="1"/>
  </c:chart>
  <c:spPr>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Trillion operations</c:v>
          </c:tx>
          <c:spPr>
            <a:solidFill>
              <a:srgbClr val="0072B2"/>
            </a:solidFill>
          </c:spPr>
          <c:invertIfNegative val="1"/>
          <c:dPt>
            <c:idx val="0"/>
            <c:invertIfNegative val="0"/>
            <c:bubble3D val="0"/>
            <c:spPr>
              <a:solidFill>
                <a:srgbClr val="0072B2"/>
              </a:solidFill>
            </c:spPr>
            <c:extLst>
              <c:ext xmlns:c16="http://schemas.microsoft.com/office/drawing/2014/chart" uri="{C3380CC4-5D6E-409C-BE32-E72D297353CC}">
                <c16:uniqueId val="{00000001-118A-475A-8A0C-FF5D85C0DE50}"/>
              </c:ext>
            </c:extLst>
          </c:dPt>
          <c:dPt>
            <c:idx val="1"/>
            <c:invertIfNegative val="0"/>
            <c:bubble3D val="0"/>
            <c:spPr>
              <a:solidFill>
                <a:srgbClr val="E69F00"/>
              </a:solidFill>
            </c:spPr>
            <c:extLst>
              <c:ext xmlns:c16="http://schemas.microsoft.com/office/drawing/2014/chart" uri="{C3380CC4-5D6E-409C-BE32-E72D297353CC}">
                <c16:uniqueId val="{00000003-118A-475A-8A0C-FF5D85C0DE50}"/>
              </c:ext>
            </c:extLst>
          </c:dPt>
          <c:dPt>
            <c:idx val="2"/>
            <c:invertIfNegative val="0"/>
            <c:bubble3D val="0"/>
            <c:spPr>
              <a:solidFill>
                <a:srgbClr val="009E73"/>
              </a:solidFill>
            </c:spPr>
            <c:extLst>
              <c:ext xmlns:c16="http://schemas.microsoft.com/office/drawing/2014/chart" uri="{C3380CC4-5D6E-409C-BE32-E72D297353CC}">
                <c16:uniqueId val="{00000005-118A-475A-8A0C-FF5D85C0DE50}"/>
              </c:ext>
            </c:extLst>
          </c:dPt>
          <c:dPt>
            <c:idx val="3"/>
            <c:invertIfNegative val="0"/>
            <c:bubble3D val="0"/>
            <c:spPr>
              <a:solidFill>
                <a:srgbClr val="4D4D4D"/>
              </a:solidFill>
            </c:spPr>
            <c:extLst>
              <c:ext xmlns:c16="http://schemas.microsoft.com/office/drawing/2014/chart" uri="{C3380CC4-5D6E-409C-BE32-E72D297353CC}">
                <c16:uniqueId val="{00000007-118A-475A-8A0C-FF5D85C0DE50}"/>
              </c:ext>
            </c:extLst>
          </c:dPt>
          <c:dLbls>
            <c:spPr>
              <a:noFill/>
              <a:ln>
                <a:noFill/>
              </a:ln>
              <a:effectLst/>
            </c:spPr>
            <c:txPr>
              <a:bodyPr anchorCtr="1"/>
              <a:lstStyle/>
              <a:p>
                <a:pPr>
                  <a:defRPr sz="1050" b="1">
                    <a:solidFill>
                      <a:srgbClr val="17222F"/>
                    </a:solidFill>
                    <a:latin typeface="Arial"/>
                    <a:ea typeface="Arial"/>
                    <a:cs typeface="Arial"/>
                  </a:defRPr>
                </a:pPr>
                <a:endParaRPr lang="en-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A1</c:v>
                </c:pt>
                <c:pt idx="1">
                  <c:v>A2 conditional</c:v>
                </c:pt>
                <c:pt idx="2">
                  <c:v>B</c:v>
                </c:pt>
                <c:pt idx="3">
                  <c:v>BP 20</c:v>
                </c:pt>
              </c:strCache>
            </c:strRef>
          </c:cat>
          <c:val>
            <c:numRef>
              <c:f>'Chart Data'!$B$2:$B$5</c:f>
              <c:numCache>
                <c:formatCode>0.000" T"</c:formatCode>
                <c:ptCount val="4"/>
                <c:pt idx="0">
                  <c:v>112.59004183428701</c:v>
                </c:pt>
                <c:pt idx="1">
                  <c:v>35.365252130626999</c:v>
                </c:pt>
                <c:pt idx="2">
                  <c:v>198.60920618248699</c:v>
                </c:pt>
                <c:pt idx="3">
                  <c:v>245.15770369002001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118A-475A-8A0C-FF5D85C0DE50}"/>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IL"/>
          </a:p>
        </c:txPr>
        <c:crossAx val="48672768"/>
        <c:crosses val="autoZero"/>
        <c:auto val="1"/>
        <c:lblAlgn val="ctr"/>
        <c:lblOffset val="100"/>
        <c:noMultiLvlLbl val="1"/>
      </c:catAx>
      <c:valAx>
        <c:axId val="48672768"/>
        <c:scaling>
          <c:orientation val="minMax"/>
        </c:scaling>
        <c:delete val="0"/>
        <c:axPos val="b"/>
        <c:numFmt formatCode="0.000&quot; T&quot;" sourceLinked="1"/>
        <c:majorTickMark val="none"/>
        <c:minorTickMark val="none"/>
        <c:tickLblPos val="nextTo"/>
        <c:spPr>
          <a:ln w="0">
            <a:noFill/>
          </a:ln>
        </c:spPr>
        <c:txPr>
          <a:bodyPr anchorCtr="1"/>
          <a:lstStyle/>
          <a:p>
            <a:pPr>
              <a:defRPr sz="1200" b="1">
                <a:solidFill>
                  <a:srgbClr val="17222F"/>
                </a:solidFill>
                <a:latin typeface="Arial"/>
                <a:ea typeface="Arial"/>
                <a:cs typeface="Arial"/>
              </a:defRPr>
            </a:pPr>
            <a:endParaRPr lang="en-IL"/>
          </a:p>
        </c:txPr>
        <c:crossAx val="48650112"/>
        <c:crosses val="autoZero"/>
        <c:crossBetween val="between"/>
      </c:valAx>
      <c:spPr>
        <a:ln w="0">
          <a:noFill/>
        </a:ln>
      </c:spPr>
    </c:plotArea>
    <c:plotVisOnly val="1"/>
    <c:dispBlanksAs val="zero"/>
    <c:showDLblsOverMax val="1"/>
  </c:chart>
  <c:spPr>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MB</c:v>
          </c:tx>
          <c:spPr>
            <a:solidFill>
              <a:srgbClr val="0072B2"/>
            </a:solidFill>
          </c:spPr>
          <c:invertIfNegative val="1"/>
          <c:dPt>
            <c:idx val="0"/>
            <c:invertIfNegative val="0"/>
            <c:bubble3D val="0"/>
            <c:spPr>
              <a:solidFill>
                <a:srgbClr val="0072B2"/>
              </a:solidFill>
            </c:spPr>
            <c:extLst>
              <c:ext xmlns:c16="http://schemas.microsoft.com/office/drawing/2014/chart" uri="{C3380CC4-5D6E-409C-BE32-E72D297353CC}">
                <c16:uniqueId val="{00000001-C27D-4085-AC4D-8200678D9032}"/>
              </c:ext>
            </c:extLst>
          </c:dPt>
          <c:dPt>
            <c:idx val="1"/>
            <c:invertIfNegative val="0"/>
            <c:bubble3D val="0"/>
            <c:spPr>
              <a:solidFill>
                <a:srgbClr val="E69F00"/>
              </a:solidFill>
            </c:spPr>
            <c:extLst>
              <c:ext xmlns:c16="http://schemas.microsoft.com/office/drawing/2014/chart" uri="{C3380CC4-5D6E-409C-BE32-E72D297353CC}">
                <c16:uniqueId val="{00000003-C27D-4085-AC4D-8200678D9032}"/>
              </c:ext>
            </c:extLst>
          </c:dPt>
          <c:dPt>
            <c:idx val="2"/>
            <c:invertIfNegative val="0"/>
            <c:bubble3D val="0"/>
            <c:spPr>
              <a:solidFill>
                <a:srgbClr val="009E73"/>
              </a:solidFill>
            </c:spPr>
            <c:extLst>
              <c:ext xmlns:c16="http://schemas.microsoft.com/office/drawing/2014/chart" uri="{C3380CC4-5D6E-409C-BE32-E72D297353CC}">
                <c16:uniqueId val="{00000005-C27D-4085-AC4D-8200678D9032}"/>
              </c:ext>
            </c:extLst>
          </c:dPt>
          <c:dPt>
            <c:idx val="3"/>
            <c:invertIfNegative val="0"/>
            <c:bubble3D val="0"/>
            <c:spPr>
              <a:solidFill>
                <a:srgbClr val="4D4D4D"/>
              </a:solidFill>
            </c:spPr>
            <c:extLst>
              <c:ext xmlns:c16="http://schemas.microsoft.com/office/drawing/2014/chart" uri="{C3380CC4-5D6E-409C-BE32-E72D297353CC}">
                <c16:uniqueId val="{00000007-C27D-4085-AC4D-8200678D9032}"/>
              </c:ext>
            </c:extLst>
          </c:dPt>
          <c:dLbls>
            <c:spPr>
              <a:noFill/>
              <a:ln>
                <a:noFill/>
              </a:ln>
              <a:effectLst/>
            </c:spPr>
            <c:txPr>
              <a:bodyPr anchorCtr="1"/>
              <a:lstStyle/>
              <a:p>
                <a:pPr>
                  <a:defRPr sz="975" b="1">
                    <a:solidFill>
                      <a:srgbClr val="17222F"/>
                    </a:solidFill>
                    <a:latin typeface="Arial"/>
                    <a:ea typeface="Arial"/>
                    <a:cs typeface="Arial"/>
                  </a:defRPr>
                </a:pPr>
                <a:endParaRPr lang="en-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A1</c:v>
                </c:pt>
                <c:pt idx="1">
                  <c:v>A2 conditional</c:v>
                </c:pt>
                <c:pt idx="2">
                  <c:v>B</c:v>
                </c:pt>
                <c:pt idx="3">
                  <c:v>BP + Adam</c:v>
                </c:pt>
              </c:strCache>
            </c:strRef>
          </c:cat>
          <c:val>
            <c:numRef>
              <c:f>'Chart Data'!$B$2:$B$5</c:f>
              <c:numCache>
                <c:formatCode>0.000" MB"</c:formatCode>
                <c:ptCount val="4"/>
                <c:pt idx="0">
                  <c:v>7.0890000000000004</c:v>
                </c:pt>
                <c:pt idx="1">
                  <c:v>0.106</c:v>
                </c:pt>
                <c:pt idx="2">
                  <c:v>10.677</c:v>
                </c:pt>
                <c:pt idx="3">
                  <c:v>14.488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C27D-4085-AC4D-8200678D9032}"/>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one"/>
        <c:spPr>
          <a:ln w="9525">
            <a:solidFill>
              <a:srgbClr val="D4D4D4"/>
            </a:solidFill>
            <a:prstDash val="solid"/>
          </a:ln>
        </c:spPr>
        <c:txPr>
          <a:bodyPr anchorCtr="1"/>
          <a:lstStyle/>
          <a:p>
            <a:pPr>
              <a:defRPr>
                <a:solidFill>
                  <a:srgbClr val="666666"/>
                </a:solidFill>
                <a:latin typeface="Arial"/>
                <a:ea typeface="Arial"/>
                <a:cs typeface="Arial"/>
              </a:defRPr>
            </a:pPr>
            <a:endParaRPr lang="en-IL"/>
          </a:p>
        </c:txPr>
        <c:crossAx val="48672768"/>
        <c:crosses val="autoZero"/>
        <c:auto val="1"/>
        <c:lblAlgn val="ctr"/>
        <c:lblOffset val="100"/>
        <c:noMultiLvlLbl val="1"/>
      </c:catAx>
      <c:valAx>
        <c:axId val="48672768"/>
        <c:scaling>
          <c:orientation val="minMax"/>
        </c:scaling>
        <c:delete val="0"/>
        <c:axPos val="b"/>
        <c:numFmt formatCode="0.000&quot; MB&quot;" sourceLinked="1"/>
        <c:majorTickMark val="none"/>
        <c:minorTickMark val="none"/>
        <c:tickLblPos val="nextTo"/>
        <c:spPr>
          <a:ln w="0">
            <a:noFill/>
          </a:ln>
        </c:spPr>
        <c:txPr>
          <a:bodyPr anchorCtr="1"/>
          <a:lstStyle/>
          <a:p>
            <a:pPr>
              <a:defRPr sz="1125" b="1">
                <a:solidFill>
                  <a:srgbClr val="17222F"/>
                </a:solidFill>
                <a:latin typeface="Arial"/>
                <a:ea typeface="Arial"/>
                <a:cs typeface="Arial"/>
              </a:defRPr>
            </a:pPr>
            <a:endParaRPr lang="en-IL"/>
          </a:p>
        </c:txPr>
        <c:crossAx val="48650112"/>
        <c:crosses val="autoZero"/>
        <c:crossBetween val="between"/>
      </c:valAx>
      <c:spPr>
        <a:ln w="0">
          <a:noFill/>
        </a:ln>
      </c:spPr>
    </c:plotArea>
    <c:plotVisOnly val="1"/>
    <c:dispBlanksAs val="zero"/>
    <c:showDLblsOverMax val="1"/>
  </c:chart>
  <c:spPr>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HB</c:v>
          </c:tx>
          <c:spPr>
            <a:solidFill>
              <a:srgbClr val="0072B2"/>
            </a:solidFill>
          </c:spPr>
          <c:invertIfNegative val="1"/>
          <c:dLbls>
            <c:spPr>
              <a:noFill/>
              <a:ln>
                <a:noFill/>
              </a:ln>
              <a:effectLst/>
            </c:spPr>
            <c:txPr>
              <a:bodyPr anchorCtr="1"/>
              <a:lstStyle/>
              <a:p>
                <a:pPr>
                  <a:defRPr sz="1125" b="1">
                    <a:solidFill>
                      <a:srgbClr val="17222F"/>
                    </a:solidFill>
                    <a:latin typeface="Arial"/>
                    <a:ea typeface="Arial"/>
                    <a:cs typeface="Arial"/>
                  </a:defRPr>
                </a:pPr>
                <a:endParaRPr lang="en-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20 epochs</c:v>
                </c:pt>
                <c:pt idx="1">
                  <c:v>100 epochs</c:v>
                </c:pt>
              </c:strCache>
            </c:strRef>
          </c:cat>
          <c:val>
            <c:numRef>
              <c:f>'Chart Data'!$B$2:$B$3</c:f>
              <c:numCache>
                <c:formatCode>0"%"</c:formatCode>
                <c:ptCount val="2"/>
                <c:pt idx="0">
                  <c:v>66</c:v>
                </c:pt>
                <c:pt idx="1">
                  <c:v>66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71A-4F99-AEC3-54244E11F79D}"/>
            </c:ext>
          </c:extLst>
        </c:ser>
        <c:ser>
          <c:idx val="1"/>
          <c:order val="1"/>
          <c:tx>
            <c:v>BP</c:v>
          </c:tx>
          <c:spPr>
            <a:solidFill>
              <a:srgbClr val="4D4D4D"/>
            </a:solidFill>
          </c:spPr>
          <c:invertIfNegative val="1"/>
          <c:dLbls>
            <c:spPr>
              <a:noFill/>
              <a:ln>
                <a:noFill/>
              </a:ln>
              <a:effectLst/>
            </c:spPr>
            <c:txPr>
              <a:bodyPr anchorCtr="1"/>
              <a:lstStyle/>
              <a:p>
                <a:pPr>
                  <a:defRPr sz="1125" b="1">
                    <a:solidFill>
                      <a:srgbClr val="17222F"/>
                    </a:solidFill>
                    <a:latin typeface="Arial"/>
                    <a:ea typeface="Arial"/>
                    <a:cs typeface="Arial"/>
                  </a:defRPr>
                </a:pPr>
                <a:endParaRPr lang="en-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20 epochs</c:v>
                </c:pt>
                <c:pt idx="1">
                  <c:v>100 epochs</c:v>
                </c:pt>
              </c:strCache>
            </c:strRef>
          </c:cat>
          <c:val>
            <c:numRef>
              <c:f>'Chart Data'!$D$2:$D$3</c:f>
              <c:numCache>
                <c:formatCode>0"%"</c:formatCode>
                <c:ptCount val="2"/>
                <c:pt idx="0">
                  <c:v>57</c:v>
                </c:pt>
                <c:pt idx="1">
                  <c:v>70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A71A-4F99-AEC3-54244E11F79D}"/>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0E5"/>
            </a:solidFill>
            <a:prstDash val="solid"/>
          </a:ln>
        </c:spPr>
        <c:txPr>
          <a:bodyPr anchorCtr="1"/>
          <a:lstStyle/>
          <a:p>
            <a:pPr>
              <a:defRPr sz="975">
                <a:solidFill>
                  <a:srgbClr val="17222F"/>
                </a:solidFill>
                <a:latin typeface="Arial"/>
                <a:ea typeface="Arial"/>
                <a:cs typeface="Arial"/>
              </a:defRPr>
            </a:pPr>
            <a:endParaRPr lang="en-IL"/>
          </a:p>
        </c:txPr>
        <c:crossAx val="48672768"/>
        <c:crosses val="autoZero"/>
        <c:auto val="1"/>
        <c:lblAlgn val="ctr"/>
        <c:lblOffset val="100"/>
        <c:noMultiLvlLbl val="1"/>
      </c:catAx>
      <c:valAx>
        <c:axId val="48672768"/>
        <c:scaling>
          <c:orientation val="minMax"/>
          <c:max val="75"/>
          <c:min val="0"/>
        </c:scaling>
        <c:delete val="0"/>
        <c:axPos val="l"/>
        <c:majorGridlines>
          <c:spPr>
            <a:ln w="9525">
              <a:solidFill>
                <a:srgbClr val="D9E0E5"/>
              </a:solidFill>
              <a:prstDash val="solid"/>
            </a:ln>
          </c:spPr>
        </c:majorGridlines>
        <c:numFmt formatCode="0&quot;%&quot;" sourceLinked="1"/>
        <c:majorTickMark val="none"/>
        <c:minorTickMark val="none"/>
        <c:tickLblPos val="nextTo"/>
        <c:spPr>
          <a:ln w="9525">
            <a:solidFill>
              <a:srgbClr val="D4D4D4"/>
            </a:solidFill>
            <a:prstDash val="solid"/>
          </a:ln>
        </c:spPr>
        <c:txPr>
          <a:bodyPr anchorCtr="1"/>
          <a:lstStyle/>
          <a:p>
            <a:pPr>
              <a:defRPr sz="975">
                <a:solidFill>
                  <a:srgbClr val="526272"/>
                </a:solidFill>
                <a:latin typeface="Arial"/>
                <a:ea typeface="Arial"/>
                <a:cs typeface="Arial"/>
              </a:defRPr>
            </a:pPr>
            <a:endParaRPr lang="en-IL"/>
          </a:p>
        </c:txPr>
        <c:crossAx val="48650112"/>
        <c:crosses val="autoZero"/>
        <c:crossBetween val="between"/>
        <c:majorUnit val="15"/>
      </c:valAx>
      <c:spPr>
        <a:ln w="0">
          <a:noFill/>
        </a:ln>
      </c:spPr>
    </c:plotArea>
    <c:legend>
      <c:legendPos val="b"/>
      <c:overlay val="0"/>
      <c:txPr>
        <a:bodyPr anchorCtr="1"/>
        <a:lstStyle/>
        <a:p>
          <a:pPr>
            <a:defRPr sz="1200">
              <a:solidFill>
                <a:srgbClr val="17222F"/>
              </a:solidFill>
              <a:latin typeface="Arial"/>
              <a:ea typeface="Arial"/>
              <a:cs typeface="Arial"/>
            </a:defRPr>
          </a:pPr>
          <a:endParaRPr lang="en-IL"/>
        </a:p>
      </c:txPr>
    </c:legend>
    <c:plotVisOnly val="1"/>
    <c:dispBlanksAs val="zero"/>
    <c:showDLblsOverMax val="1"/>
  </c:chart>
  <c:spPr>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Bayan</a:t>
            </a:r>
          </a:p>
          <a:p>
            <a:endParaRPr/>
          </a:p>
          <a:p>
            <a:r>
              <a:t>Hello, we are Bayan and Shay. Our project studies the computational and memory cost of a concrete Hebbian convolutional network for CIFAR-10, and compares it with backpropagation. We focus on the published HebbianCNNPyTorch implementation. The question is deliberately narrow: for this architecture and training workflow, what resources does each learning method require? We do not claim a universal winner, and we do not estimate electricity without controlled hardware measurements.</a:t>
            </a:r>
          </a:p>
          <a:p>
            <a:endParaRPr/>
          </a:p>
          <a:p>
            <a:r>
              <a:t>Sources: Frozen project report and repository artifacts.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Speaker: Bayan</a:t>
            </a:r>
          </a:p>
          <a:p>
            <a:endParaRPr dirty="0"/>
          </a:p>
          <a:p>
            <a:r>
              <a:rPr dirty="0"/>
              <a:t>Backpropagation computes a loss, propagates derivatives through the complete network, stores parameter gradients, and often keeps optimizer state. Hebbian learning can update a layer from information available locally: its input patch, its winning output, and its current weights. That locality may remove global backward work and some stored state.</a:t>
            </a:r>
          </a:p>
          <a:p>
            <a:endParaRPr dirty="0"/>
          </a:p>
          <a:p>
            <a:r>
              <a:rPr dirty="0"/>
              <a:t>Our research question was whether this advantage appears in the actual three-layer repository, rather than only in a simplified equation. We had no controlled CPU or GPU experiment with power sampling, so electricity would have been speculation. Instead, we built a hardware-independent model. We count scalar operations by type, estimate tensor storage, and estimate logical tensor movement. These metrics describe algorithmic resource demand. They do not predict joules, wall-clock time, or measured GPU memory.</a:t>
            </a:r>
          </a:p>
          <a:p>
            <a:endParaRPr dirty="0"/>
          </a:p>
          <a:p>
            <a:r>
              <a:rPr dirty="0"/>
              <a:t>Sources: Frozen analytical methodology in final_report.md.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Speaker: Bayan</a:t>
            </a:r>
          </a:p>
          <a:p>
            <a:endParaRPr dirty="0"/>
          </a:p>
          <a:p>
            <a:r>
              <a:rPr dirty="0"/>
              <a:t>The active network has three valid convolutions with 100, 196, and 400 output channels. Their kernels are five by five, three by three, and three by three. Each layer uses two by two average pooling. The final tensor has 400 channels at two by two spatial positions, so the frozen representation contains 1,600 features. The Hebbian workflow then fits a Ridge classifier.</a:t>
            </a:r>
          </a:p>
          <a:p>
            <a:endParaRPr dirty="0"/>
          </a:p>
          <a:p>
            <a:r>
              <a:rPr dirty="0"/>
              <a:t>The local rule is Grossberg Instar. At each spatial position, WTA activates the positive top-cutoff winner or winners, if any. A non-positive maximum produces no winner, while a positive tie can activate more than one filter. The repository expresses this update through a surrogate loss and </a:t>
            </a:r>
            <a:r>
              <a:rPr dirty="0" err="1"/>
              <a:t>PyTorch</a:t>
            </a:r>
            <a:r>
              <a:rPr dirty="0"/>
              <a:t> </a:t>
            </a:r>
            <a:r>
              <a:rPr dirty="0" err="1"/>
              <a:t>autograd</a:t>
            </a:r>
            <a:r>
              <a:rPr dirty="0"/>
              <a:t>. We created a direct formula and tested one deterministic batch through all three layers. In that deterministic test batch, every updated weight and threshold matched within the stated floating-point tolerance.</a:t>
            </a:r>
          </a:p>
          <a:p>
            <a:endParaRPr dirty="0"/>
          </a:p>
          <a:p>
            <a:r>
              <a:rPr dirty="0"/>
              <a:t>That verification lets us separate four models: A1 is direct dense local Hebbian learning. A2 conditional assumes true sparse storage and sparse kernels. B is the current dense surrogate and </a:t>
            </a:r>
            <a:r>
              <a:rPr dirty="0" err="1"/>
              <a:t>autograd</a:t>
            </a:r>
            <a:r>
              <a:rPr dirty="0"/>
              <a:t> implementation. BP is an equal-architecture analytical reference with a learned linear classifier.</a:t>
            </a:r>
          </a:p>
          <a:p>
            <a:endParaRPr dirty="0"/>
          </a:p>
          <a:p>
            <a:r>
              <a:rPr dirty="0"/>
              <a:t>Sources: </a:t>
            </a:r>
            <a:r>
              <a:rPr dirty="0" err="1"/>
              <a:t>HebbGrad_Github.ipynb</a:t>
            </a:r>
            <a:r>
              <a:rPr dirty="0"/>
              <a:t>; direct_hebb_equivalence_test.py; final_report.md sections 3–5.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Speaker: Bayan</a:t>
            </a:r>
          </a:p>
          <a:p>
            <a:endParaRPr dirty="0"/>
          </a:p>
          <a:p>
            <a:r>
              <a:rPr dirty="0"/>
              <a:t>This slide compares one batch of learning work with batch size 100. A1 requires 8.667 billion modeled scalar operations. A2 conditional requires 1.380 billion, but only if the structural sparsity is genuinely exploited. The current surrogate implementation B requires 17.268 billion. The backpropagation reference requires 24.430 billion.</a:t>
            </a:r>
          </a:p>
          <a:p>
            <a:endParaRPr dirty="0"/>
          </a:p>
          <a:p>
            <a:r>
              <a:rPr dirty="0"/>
              <a:t>So BP is about 2.819 times A1, 17.699 times A2 conditional, and 1.415 times B. The main point is not that Hebbian convolution is free. Every method still performs large forward convolutions. The direct update saves the global backward path and optimizer work. B recovers the same local rule, but </a:t>
            </a:r>
            <a:r>
              <a:rPr dirty="0" err="1"/>
              <a:t>autograd</a:t>
            </a:r>
            <a:r>
              <a:rPr dirty="0"/>
              <a:t> adds computational overhead. A2 saves much more because it skips structurally masked higher-layer work. Ordinary dense </a:t>
            </a:r>
            <a:r>
              <a:rPr dirty="0" err="1"/>
              <a:t>PyTorch</a:t>
            </a:r>
            <a:r>
              <a:rPr dirty="0"/>
              <a:t> convolution would not realize that saving. The ordering remains the same when each method is scaled to twenty epochs.</a:t>
            </a:r>
          </a:p>
          <a:p>
            <a:endParaRPr dirty="0"/>
          </a:p>
          <a:p>
            <a:r>
              <a:rPr dirty="0"/>
              <a:t>Sources: results/data/compute_same_work.csv. Values are analytical scalar-operation totals, not energy measurements.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Speaker: Shay</a:t>
            </a:r>
          </a:p>
          <a:p>
            <a:endParaRPr dirty="0"/>
          </a:p>
          <a:p>
            <a:r>
              <a:rPr dirty="0"/>
              <a:t>The matched batch isolates the learning core. The fuller Hebbian method-level subtotal includes known ZCA preprocessing arithmetic, including the modeled construction and application work, twenty training epochs, post-training feature extraction with convolutional weights frozen while adaptive thresholds continue updating, Ridge fitting, and evaluation. The </a:t>
            </a:r>
            <a:r>
              <a:rPr dirty="0" err="1"/>
              <a:t>eigensolver</a:t>
            </a:r>
            <a:r>
              <a:rPr dirty="0"/>
              <a:t> remains a separate sensitivity estimate. Under that scope, A1 totals 112.590 trillion operations, A2 conditional 35.365 trillion, and B 198.609 trillion. BP at twenty epochs totals 245.158 trillion. At the comparison paper's one-hundred-epoch budget, BP reaches 1,222.377 trillion.</a:t>
            </a:r>
          </a:p>
          <a:p>
            <a:endParaRPr dirty="0"/>
          </a:p>
          <a:p>
            <a:r>
              <a:rPr dirty="0"/>
              <a:t>Persistent state shows a related effect. A1 uses 7.089 megabytes. B uses 10.677 megabytes because </a:t>
            </a:r>
            <a:r>
              <a:rPr dirty="0" err="1"/>
              <a:t>autograd</a:t>
            </a:r>
            <a:r>
              <a:rPr dirty="0"/>
              <a:t> needs dense gradients. BP with Adam uses 14.488 megabytes for parameters, gradients, and two moment tensors. A2 conditional uses 0.106 megabytes with the stated CSR32 representation, including sparse metadata and thresholds. These are analytical tensor payloads, not measured allocator or GPU peaks.</a:t>
            </a:r>
          </a:p>
          <a:p>
            <a:endParaRPr dirty="0"/>
          </a:p>
          <a:p>
            <a:r>
              <a:rPr dirty="0"/>
              <a:t>Sources: results/data/compute_method_level.csv; results/data/memory_persistent_state.csv; final_report.md sections 7–8.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Speaker: Shay</a:t>
            </a:r>
          </a:p>
          <a:p>
            <a:endParaRPr dirty="0"/>
          </a:p>
          <a:p>
            <a:r>
              <a:rPr dirty="0"/>
              <a:t>Compute cannot be interpreted without accuracy context, but these sources do not form one controlled experiment. The original Hebbian paper reports 64.55 percent plus or minus 0.4 across ten runs. The saved notebook records 64.65 percent for one run, which is consistent but is not a replication study.</a:t>
            </a:r>
          </a:p>
          <a:p>
            <a:endParaRPr dirty="0"/>
          </a:p>
          <a:p>
            <a:r>
              <a:rPr dirty="0"/>
              <a:t>The comparison paper gives approximate graph readings. Hebbian learning is around 66 percent at both twenty and one hundred epochs. Backpropagation is around 57 percent at twenty epochs and 70 percent at one hundred epochs. This supports the observation that the Hebbian representation stabilizes earlier, while BP continues improving and eventually exceeds it in that experiment.</a:t>
            </a:r>
          </a:p>
          <a:p>
            <a:endParaRPr dirty="0"/>
          </a:p>
          <a:p>
            <a:r>
              <a:rPr dirty="0"/>
              <a:t>Therefore, a five-epoch Hebbian versus one-hundred-epoch BP budget can illustrate convergence sensitivity, but it cannot be called an equal-accuracy comparison. We also avoid a combined efficiency score because the training protocols, classifiers, and evidence types differ.</a:t>
            </a:r>
          </a:p>
          <a:p>
            <a:endParaRPr dirty="0"/>
          </a:p>
          <a:p>
            <a:r>
              <a:rPr dirty="0"/>
              <a:t>Sources: results/data/accuracy_context.csv; Miconi Table 1; saved notebook output; Gupta et al. Figure 2 approximate graph reads.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Shay</a:t>
            </a:r>
          </a:p>
          <a:p>
            <a:endParaRPr/>
          </a:p>
          <a:p>
            <a:r>
              <a:t>The strongest supported finding is implementation-specific. For this architecture and our frozen counting rules, direct local Instar uses less modeled arithmetic than the equal-architecture BP reference. The current autograd method captures only part of that potential because its graph and gradients remain dense. A2 conditional gives the largest modeled savings, but it is an opportunity estimate that requires real sparse storage and kernels.</a:t>
            </a:r>
          </a:p>
          <a:p>
            <a:endParaRPr/>
          </a:p>
          <a:p>
            <a:r>
              <a:t>Local execution can also reduce persistent learning state and global-gradient traffic. However, lower counts do not guarantee lower runtime or energy. Kernel fusion, cache behavior, sparse irregularity, and library choices all matter on real hardware. The BP reference also contains documented assumptions where the comparison paper omits details. Finally, the accuracy protocols are not identical. These boundaries are central to the conclusion, rather than footnotes to remove.</a:t>
            </a:r>
          </a:p>
          <a:p>
            <a:endParaRPr/>
          </a:p>
          <a:p>
            <a:r>
              <a:t>Sources: Frozen final-report conclusions and limitations.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Shay</a:t>
            </a:r>
          </a:p>
          <a:p>
            <a:endParaRPr/>
          </a:p>
          <a:p>
            <a:r>
              <a:t>We conclude that the verified direct Hebbian rule can be implemented considerably more cheaply than conventional backpropagation under this analytical model. Implementation matters: A1 is much cheaper than the current surrogate method B, and A2 conditional could reduce cost further with genuine sparse execution. This is a resource-efficiency result for one concrete network. It does not establish equal accuracy, measured energy savings, or universal Hebbian superiority. Thank you. We are happy to take questions.</a:t>
            </a:r>
          </a:p>
          <a:p>
            <a:endParaRPr/>
          </a:p>
          <a:p>
            <a:r>
              <a:t>Sources: Frozen final-report conclusion.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22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D04FFAC-DD48-4BA9-B5A8-A12268B42BD1}"/>
              </a:ext>
            </a:extLst>
          </p:cNvPr>
          <p:cNvSpPr>
            <a:spLocks noGrp="1"/>
          </p:cNvSpPr>
          <p:nvPr/>
        </p:nvSpPr>
        <p:spPr>
          <a:xfrm>
            <a:off x="0" y="0"/>
            <a:ext cx="190500" cy="6858000"/>
          </a:xfrm>
          <a:prstGeom prst="rect">
            <a:avLst/>
          </a:prstGeom>
          <a:solidFill>
            <a:srgbClr val="0072B2"/>
          </a:solidFill>
          <a:ln w="9525">
            <a:solidFill>
              <a:srgbClr val="0072B2"/>
            </a:solidFill>
            <a:prstDash val="solid"/>
          </a:ln>
        </p:spPr>
        <p:txBody>
          <a:bodyPr/>
          <a:lstStyle/>
          <a:p>
            <a:endParaRPr lang="en-IL"/>
          </a:p>
        </p:txBody>
      </p:sp>
      <p:sp>
        <p:nvSpPr>
          <p:cNvPr id="2" name="Rectangle 1">
            <a:extLst>
              <a:ext uri="{FF2B5EF4-FFF2-40B4-BE49-F238E27FC236}">
                <a16:creationId xmlns:a16="http://schemas.microsoft.com/office/drawing/2014/main" id="{2F4E5521-0863-4D69-8459-E7719448D6C4}"/>
              </a:ext>
            </a:extLst>
          </p:cNvPr>
          <p:cNvSpPr>
            <a:spLocks noGrp="1"/>
          </p:cNvSpPr>
          <p:nvPr/>
        </p:nvSpPr>
        <p:spPr>
          <a:xfrm>
            <a:off x="781050" y="914400"/>
            <a:ext cx="7239000" cy="1714500"/>
          </a:xfrm>
          <a:prstGeom prst="rect">
            <a:avLst/>
          </a:prstGeom>
          <a:noFill/>
          <a:ln w="0">
            <a:noFill/>
          </a:ln>
        </p:spPr>
        <p:txBody>
          <a:bodyPr wrap="square" lIns="0" tIns="0" rIns="0" bIns="0" anchor="t">
            <a:normAutofit/>
          </a:bodyPr>
          <a:lstStyle/>
          <a:p>
            <a:pPr algn="l">
              <a:defRPr sz="3600" b="1">
                <a:solidFill>
                  <a:srgbClr val="FFFFFF"/>
                </a:solidFill>
                <a:latin typeface="Arial"/>
                <a:ea typeface="Arial"/>
                <a:cs typeface="Arial"/>
              </a:defRPr>
            </a:pPr>
            <a:r>
              <a:rPr sz="3600" b="1">
                <a:solidFill>
                  <a:srgbClr val="FFFFFF"/>
                </a:solidFill>
                <a:latin typeface="Arial"/>
                <a:ea typeface="Arial"/>
                <a:cs typeface="Arial"/>
              </a:rPr>
              <a:t>Hebbian CNNs versus</a:t>
            </a:r>
          </a:p>
          <a:p>
            <a:pPr algn="l">
              <a:defRPr sz="3600" b="1">
                <a:solidFill>
                  <a:srgbClr val="FFFFFF"/>
                </a:solidFill>
                <a:latin typeface="Arial"/>
                <a:ea typeface="Arial"/>
                <a:cs typeface="Arial"/>
              </a:defRPr>
            </a:pPr>
            <a:r>
              <a:rPr sz="3600" b="1">
                <a:solidFill>
                  <a:srgbClr val="FFFFFF"/>
                </a:solidFill>
                <a:latin typeface="Arial"/>
                <a:ea typeface="Arial"/>
                <a:cs typeface="Arial"/>
              </a:rPr>
              <a:t>backpropagation</a:t>
            </a:r>
          </a:p>
        </p:txBody>
      </p:sp>
      <p:sp>
        <p:nvSpPr>
          <p:cNvPr id="3" name="Rectangle 2">
            <a:extLst>
              <a:ext uri="{FF2B5EF4-FFF2-40B4-BE49-F238E27FC236}">
                <a16:creationId xmlns:a16="http://schemas.microsoft.com/office/drawing/2014/main" id="{5067A6E7-FE27-4A01-8641-34FCBE5C0A19}"/>
              </a:ext>
            </a:extLst>
          </p:cNvPr>
          <p:cNvSpPr>
            <a:spLocks noGrp="1"/>
          </p:cNvSpPr>
          <p:nvPr/>
        </p:nvSpPr>
        <p:spPr>
          <a:xfrm>
            <a:off x="819150" y="2867025"/>
            <a:ext cx="6715125" cy="457200"/>
          </a:xfrm>
          <a:prstGeom prst="rect">
            <a:avLst/>
          </a:prstGeom>
          <a:noFill/>
          <a:ln w="0">
            <a:noFill/>
          </a:ln>
        </p:spPr>
        <p:txBody>
          <a:bodyPr wrap="square" lIns="0" tIns="0" rIns="0" bIns="0" anchor="t">
            <a:normAutofit/>
          </a:bodyPr>
          <a:lstStyle/>
          <a:p>
            <a:pPr algn="l">
              <a:defRPr sz="1800" b="0">
                <a:solidFill>
                  <a:srgbClr val="C6D0D8"/>
                </a:solidFill>
                <a:latin typeface="Arial"/>
                <a:ea typeface="Arial"/>
                <a:cs typeface="Arial"/>
              </a:defRPr>
            </a:pPr>
            <a:r>
              <a:rPr sz="1800" b="0">
                <a:solidFill>
                  <a:srgbClr val="C6D0D8"/>
                </a:solidFill>
                <a:latin typeface="Arial"/>
                <a:ea typeface="Arial"/>
                <a:cs typeface="Arial"/>
              </a:rPr>
              <a:t>A hardware-independent compute and memory comparison</a:t>
            </a:r>
          </a:p>
        </p:txBody>
      </p:sp>
      <p:sp>
        <p:nvSpPr>
          <p:cNvPr id="4" name="Rectangle 3">
            <a:extLst>
              <a:ext uri="{FF2B5EF4-FFF2-40B4-BE49-F238E27FC236}">
                <a16:creationId xmlns:a16="http://schemas.microsoft.com/office/drawing/2014/main" id="{DE927CF9-CA54-4F73-9947-C671316C08E9}"/>
              </a:ext>
            </a:extLst>
          </p:cNvPr>
          <p:cNvSpPr>
            <a:spLocks noGrp="1"/>
          </p:cNvSpPr>
          <p:nvPr/>
        </p:nvSpPr>
        <p:spPr>
          <a:xfrm>
            <a:off x="8496300" y="1438275"/>
            <a:ext cx="2476500" cy="590550"/>
          </a:xfrm>
          <a:prstGeom prst="rect">
            <a:avLst/>
          </a:prstGeom>
          <a:noFill/>
          <a:ln w="0">
            <a:noFill/>
          </a:ln>
        </p:spPr>
        <p:txBody>
          <a:bodyPr wrap="square" lIns="0" tIns="0" rIns="0" bIns="0" anchor="t">
            <a:normAutofit/>
          </a:bodyPr>
          <a:lstStyle/>
          <a:p>
            <a:pPr algn="ctr">
              <a:defRPr sz="2700" b="1">
                <a:solidFill>
                  <a:srgbClr val="0072B2"/>
                </a:solidFill>
                <a:latin typeface="Arial"/>
                <a:ea typeface="Arial"/>
                <a:cs typeface="Arial"/>
              </a:defRPr>
            </a:pPr>
            <a:r>
              <a:rPr sz="2700" b="1">
                <a:solidFill>
                  <a:srgbClr val="0072B2"/>
                </a:solidFill>
                <a:latin typeface="Arial"/>
                <a:ea typeface="Arial"/>
                <a:cs typeface="Arial"/>
              </a:rPr>
              <a:t>local  Δw</a:t>
            </a:r>
          </a:p>
        </p:txBody>
      </p:sp>
      <p:sp>
        <p:nvSpPr>
          <p:cNvPr id="5" name="Straight Connector 4">
            <a:extLst>
              <a:ext uri="{FF2B5EF4-FFF2-40B4-BE49-F238E27FC236}">
                <a16:creationId xmlns:a16="http://schemas.microsoft.com/office/drawing/2014/main" id="{F86BAD62-84C1-435C-9D1F-BA2D4F61F9AB}"/>
              </a:ext>
            </a:extLst>
          </p:cNvPr>
          <p:cNvSpPr>
            <a:spLocks noGrp="1"/>
          </p:cNvSpPr>
          <p:nvPr/>
        </p:nvSpPr>
        <p:spPr>
          <a:xfrm>
            <a:off x="8953500" y="2266950"/>
            <a:ext cx="1571625" cy="9525"/>
          </a:xfrm>
          <a:prstGeom prst="line">
            <a:avLst/>
          </a:prstGeom>
          <a:noFill/>
          <a:ln w="19050">
            <a:solidFill>
              <a:srgbClr val="40505F"/>
            </a:solidFill>
            <a:prstDash val="solid"/>
          </a:ln>
        </p:spPr>
        <p:txBody>
          <a:bodyPr/>
          <a:lstStyle/>
          <a:p>
            <a:endParaRPr lang="en-IL"/>
          </a:p>
        </p:txBody>
      </p:sp>
      <p:sp>
        <p:nvSpPr>
          <p:cNvPr id="6" name="Rectangle 5">
            <a:extLst>
              <a:ext uri="{FF2B5EF4-FFF2-40B4-BE49-F238E27FC236}">
                <a16:creationId xmlns:a16="http://schemas.microsoft.com/office/drawing/2014/main" id="{62767721-0C83-4CF3-9BFD-78D7A24512EC}"/>
              </a:ext>
            </a:extLst>
          </p:cNvPr>
          <p:cNvSpPr>
            <a:spLocks noGrp="1"/>
          </p:cNvSpPr>
          <p:nvPr/>
        </p:nvSpPr>
        <p:spPr>
          <a:xfrm>
            <a:off x="8496300" y="2524125"/>
            <a:ext cx="2476500" cy="590550"/>
          </a:xfrm>
          <a:prstGeom prst="rect">
            <a:avLst/>
          </a:prstGeom>
          <a:noFill/>
          <a:ln w="0">
            <a:noFill/>
          </a:ln>
        </p:spPr>
        <p:txBody>
          <a:bodyPr wrap="square" lIns="0" tIns="0" rIns="0" bIns="0" anchor="t">
            <a:normAutofit/>
          </a:bodyPr>
          <a:lstStyle/>
          <a:p>
            <a:pPr algn="ctr">
              <a:defRPr sz="2700" b="1">
                <a:solidFill>
                  <a:srgbClr val="C6D0D8"/>
                </a:solidFill>
                <a:latin typeface="Arial"/>
                <a:ea typeface="Arial"/>
                <a:cs typeface="Arial"/>
              </a:defRPr>
            </a:pPr>
            <a:r>
              <a:rPr sz="2700" b="1">
                <a:solidFill>
                  <a:srgbClr val="C6D0D8"/>
                </a:solidFill>
                <a:latin typeface="Arial"/>
                <a:ea typeface="Arial"/>
                <a:cs typeface="Arial"/>
              </a:rPr>
              <a:t>global  ∇L</a:t>
            </a:r>
          </a:p>
        </p:txBody>
      </p:sp>
      <p:sp>
        <p:nvSpPr>
          <p:cNvPr id="7" name="Rectangle 6">
            <a:extLst>
              <a:ext uri="{FF2B5EF4-FFF2-40B4-BE49-F238E27FC236}">
                <a16:creationId xmlns:a16="http://schemas.microsoft.com/office/drawing/2014/main" id="{6DCC2C84-9293-474B-84FB-C2825ED39BB4}"/>
              </a:ext>
            </a:extLst>
          </p:cNvPr>
          <p:cNvSpPr>
            <a:spLocks noGrp="1"/>
          </p:cNvSpPr>
          <p:nvPr/>
        </p:nvSpPr>
        <p:spPr>
          <a:xfrm>
            <a:off x="819150" y="4857750"/>
            <a:ext cx="5334000" cy="495300"/>
          </a:xfrm>
          <a:prstGeom prst="rect">
            <a:avLst/>
          </a:prstGeom>
          <a:noFill/>
          <a:ln w="0">
            <a:noFill/>
          </a:ln>
        </p:spPr>
        <p:txBody>
          <a:bodyPr wrap="square" lIns="0" tIns="0" rIns="0" bIns="0" anchor="t">
            <a:normAutofit/>
          </a:bodyPr>
          <a:lstStyle/>
          <a:p>
            <a:pPr algn="l">
              <a:defRPr sz="2400" b="1">
                <a:solidFill>
                  <a:srgbClr val="FFFFFF"/>
                </a:solidFill>
                <a:latin typeface="Arial"/>
                <a:ea typeface="Arial"/>
                <a:cs typeface="Arial"/>
              </a:defRPr>
            </a:pPr>
            <a:r>
              <a:rPr sz="2400" b="1">
                <a:solidFill>
                  <a:srgbClr val="FFFFFF"/>
                </a:solidFill>
                <a:latin typeface="Arial"/>
                <a:ea typeface="Arial"/>
                <a:cs typeface="Arial"/>
              </a:rPr>
              <a:t>Bayan &amp; Shay</a:t>
            </a:r>
          </a:p>
        </p:txBody>
      </p:sp>
      <p:sp>
        <p:nvSpPr>
          <p:cNvPr id="8" name="Rectangle 7">
            <a:extLst>
              <a:ext uri="{FF2B5EF4-FFF2-40B4-BE49-F238E27FC236}">
                <a16:creationId xmlns:a16="http://schemas.microsoft.com/office/drawing/2014/main" id="{F76D676D-9444-4D7B-B6B3-F2DA79BAC7D1}"/>
              </a:ext>
            </a:extLst>
          </p:cNvPr>
          <p:cNvSpPr>
            <a:spLocks noGrp="1"/>
          </p:cNvSpPr>
          <p:nvPr/>
        </p:nvSpPr>
        <p:spPr>
          <a:xfrm>
            <a:off x="838200" y="5476875"/>
            <a:ext cx="5334000" cy="342900"/>
          </a:xfrm>
          <a:prstGeom prst="rect">
            <a:avLst/>
          </a:prstGeom>
          <a:noFill/>
          <a:ln w="0">
            <a:noFill/>
          </a:ln>
        </p:spPr>
        <p:txBody>
          <a:bodyPr wrap="square" lIns="0" tIns="0" rIns="0" bIns="0" anchor="t">
            <a:normAutofit/>
          </a:bodyPr>
          <a:lstStyle/>
          <a:p>
            <a:pPr algn="l">
              <a:defRPr sz="1425" b="0">
                <a:solidFill>
                  <a:srgbClr val="C6D0D8"/>
                </a:solidFill>
                <a:latin typeface="Arial"/>
                <a:ea typeface="Arial"/>
                <a:cs typeface="Arial"/>
              </a:defRPr>
            </a:pPr>
            <a:r>
              <a:rPr sz="1425" b="0">
                <a:solidFill>
                  <a:srgbClr val="C6D0D8"/>
                </a:solidFill>
                <a:latin typeface="Arial"/>
                <a:ea typeface="Arial"/>
                <a:cs typeface="Arial"/>
              </a:rPr>
              <a:t>CIFAR-10 · HebbianCNNPyTorch</a:t>
            </a:r>
          </a:p>
        </p:txBody>
      </p:sp>
      <p:sp>
        <p:nvSpPr>
          <p:cNvPr id="9" name="Straight Connector 8">
            <a:extLst>
              <a:ext uri="{FF2B5EF4-FFF2-40B4-BE49-F238E27FC236}">
                <a16:creationId xmlns:a16="http://schemas.microsoft.com/office/drawing/2014/main" id="{232B3E5A-8536-442A-AA5C-3057EE6998B2}"/>
              </a:ext>
            </a:extLst>
          </p:cNvPr>
          <p:cNvSpPr>
            <a:spLocks noGrp="1"/>
          </p:cNvSpPr>
          <p:nvPr/>
        </p:nvSpPr>
        <p:spPr>
          <a:xfrm>
            <a:off x="819150" y="6115050"/>
            <a:ext cx="10382250" cy="9525"/>
          </a:xfrm>
          <a:prstGeom prst="line">
            <a:avLst/>
          </a:prstGeom>
          <a:noFill/>
          <a:ln w="9525">
            <a:solidFill>
              <a:srgbClr val="40505F"/>
            </a:solidFill>
            <a:prstDash val="solid"/>
          </a:ln>
        </p:spPr>
        <p:txBody>
          <a:bodyPr/>
          <a:lstStyle/>
          <a:p>
            <a:endParaRPr lang="en-IL"/>
          </a:p>
        </p:txBody>
      </p:sp>
    </p:spTree>
    <p:extLst>
      <p:ext uri="{BB962C8B-B14F-4D97-AF65-F5344CB8AC3E}">
        <p14:creationId xmlns:p14="http://schemas.microsoft.com/office/powerpoint/2010/main" val="72830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E690D53-8DFB-4E40-BE8A-8B06D3247F35}"/>
              </a:ext>
            </a:extLst>
          </p:cNvPr>
          <p:cNvSpPr>
            <a:spLocks noGrp="1"/>
          </p:cNvSpPr>
          <p:nvPr/>
        </p:nvSpPr>
        <p:spPr>
          <a:xfrm>
            <a:off x="609600" y="333375"/>
            <a:ext cx="9715500" cy="514350"/>
          </a:xfrm>
          <a:prstGeom prst="rect">
            <a:avLst/>
          </a:prstGeom>
          <a:noFill/>
          <a:ln w="0">
            <a:noFill/>
          </a:ln>
        </p:spPr>
        <p:txBody>
          <a:bodyPr wrap="square" lIns="0" tIns="0" rIns="0" bIns="0" anchor="t">
            <a:normAutofit/>
          </a:bodyPr>
          <a:lstStyle/>
          <a:p>
            <a:pPr algn="l">
              <a:defRPr sz="2550" b="1">
                <a:solidFill>
                  <a:srgbClr val="17222F"/>
                </a:solidFill>
                <a:latin typeface="Arial"/>
                <a:ea typeface="Arial"/>
                <a:cs typeface="Arial"/>
              </a:defRPr>
            </a:pPr>
            <a:r>
              <a:rPr sz="2550" b="1">
                <a:solidFill>
                  <a:srgbClr val="17222F"/>
                </a:solidFill>
                <a:latin typeface="Arial"/>
                <a:ea typeface="Arial"/>
                <a:cs typeface="Arial"/>
              </a:rPr>
              <a:t>Research question and evidence</a:t>
            </a:r>
          </a:p>
        </p:txBody>
      </p:sp>
      <p:sp>
        <p:nvSpPr>
          <p:cNvPr id="2" name="Straight Connector 1">
            <a:extLst>
              <a:ext uri="{FF2B5EF4-FFF2-40B4-BE49-F238E27FC236}">
                <a16:creationId xmlns:a16="http://schemas.microsoft.com/office/drawing/2014/main" id="{DECB9CA6-57C1-42B6-9F94-13EDF364E4BA}"/>
              </a:ext>
            </a:extLst>
          </p:cNvPr>
          <p:cNvSpPr>
            <a:spLocks noGrp="1"/>
          </p:cNvSpPr>
          <p:nvPr/>
        </p:nvSpPr>
        <p:spPr>
          <a:xfrm>
            <a:off x="609600" y="942975"/>
            <a:ext cx="10972800" cy="9525"/>
          </a:xfrm>
          <a:prstGeom prst="line">
            <a:avLst/>
          </a:prstGeom>
          <a:noFill/>
          <a:ln w="9525">
            <a:solidFill>
              <a:srgbClr val="D9E0E5"/>
            </a:solidFill>
            <a:prstDash val="solid"/>
          </a:ln>
        </p:spPr>
        <p:txBody>
          <a:bodyPr/>
          <a:lstStyle/>
          <a:p>
            <a:endParaRPr lang="en-IL"/>
          </a:p>
        </p:txBody>
      </p:sp>
      <p:sp>
        <p:nvSpPr>
          <p:cNvPr id="3" name="Rectangle 2">
            <a:extLst>
              <a:ext uri="{FF2B5EF4-FFF2-40B4-BE49-F238E27FC236}">
                <a16:creationId xmlns:a16="http://schemas.microsoft.com/office/drawing/2014/main" id="{06851ED9-3A30-496A-B6E3-8ABA17599247}"/>
              </a:ext>
            </a:extLst>
          </p:cNvPr>
          <p:cNvSpPr>
            <a:spLocks noGrp="1"/>
          </p:cNvSpPr>
          <p:nvPr/>
        </p:nvSpPr>
        <p:spPr>
          <a:xfrm>
            <a:off x="11144250" y="381000"/>
            <a:ext cx="438150" cy="285750"/>
          </a:xfrm>
          <a:prstGeom prst="rect">
            <a:avLst/>
          </a:prstGeom>
          <a:noFill/>
          <a:ln w="0">
            <a:noFill/>
          </a:ln>
        </p:spPr>
        <p:txBody>
          <a:bodyPr wrap="square" lIns="0" tIns="0" rIns="0" bIns="0" anchor="t">
            <a:normAutofit/>
          </a:bodyPr>
          <a:lstStyle/>
          <a:p>
            <a:pPr algn="r">
              <a:defRPr sz="1125" b="1">
                <a:solidFill>
                  <a:srgbClr val="526272"/>
                </a:solidFill>
                <a:latin typeface="Arial"/>
                <a:ea typeface="Arial"/>
                <a:cs typeface="Arial"/>
              </a:defRPr>
            </a:pPr>
            <a:r>
              <a:rPr sz="1125" b="1">
                <a:solidFill>
                  <a:srgbClr val="526272"/>
                </a:solidFill>
                <a:latin typeface="Arial"/>
                <a:ea typeface="Arial"/>
                <a:cs typeface="Arial"/>
              </a:rPr>
              <a:t>02</a:t>
            </a:r>
          </a:p>
        </p:txBody>
      </p:sp>
      <p:sp>
        <p:nvSpPr>
          <p:cNvPr id="4" name="Rectangle 3">
            <a:extLst>
              <a:ext uri="{FF2B5EF4-FFF2-40B4-BE49-F238E27FC236}">
                <a16:creationId xmlns:a16="http://schemas.microsoft.com/office/drawing/2014/main" id="{E0C89984-FF86-40FD-8F28-0B2EC613E804}"/>
              </a:ext>
            </a:extLst>
          </p:cNvPr>
          <p:cNvSpPr>
            <a:spLocks noGrp="1"/>
          </p:cNvSpPr>
          <p:nvPr/>
        </p:nvSpPr>
        <p:spPr>
          <a:xfrm>
            <a:off x="1066800" y="1257300"/>
            <a:ext cx="3619500" cy="342900"/>
          </a:xfrm>
          <a:prstGeom prst="rect">
            <a:avLst/>
          </a:prstGeom>
          <a:noFill/>
          <a:ln w="0">
            <a:noFill/>
          </a:ln>
        </p:spPr>
        <p:txBody>
          <a:bodyPr wrap="square" lIns="0" tIns="0" rIns="0" bIns="0" anchor="t">
            <a:normAutofit/>
          </a:bodyPr>
          <a:lstStyle/>
          <a:p>
            <a:pPr algn="ctr">
              <a:defRPr sz="1875" b="1">
                <a:solidFill>
                  <a:srgbClr val="4D4D4D"/>
                </a:solidFill>
                <a:latin typeface="Arial"/>
                <a:ea typeface="Arial"/>
                <a:cs typeface="Arial"/>
              </a:defRPr>
            </a:pPr>
            <a:r>
              <a:rPr sz="1875" b="1">
                <a:solidFill>
                  <a:srgbClr val="4D4D4D"/>
                </a:solidFill>
                <a:latin typeface="Arial"/>
                <a:ea typeface="Arial"/>
                <a:cs typeface="Arial"/>
              </a:rPr>
              <a:t>Backpropagation</a:t>
            </a:r>
          </a:p>
        </p:txBody>
      </p:sp>
      <p:sp>
        <p:nvSpPr>
          <p:cNvPr id="5" name="Rectangle: Rounded Corners 4">
            <a:extLst>
              <a:ext uri="{FF2B5EF4-FFF2-40B4-BE49-F238E27FC236}">
                <a16:creationId xmlns:a16="http://schemas.microsoft.com/office/drawing/2014/main" id="{1187924B-08EA-4BF5-9B4C-40574C185D2F}"/>
              </a:ext>
            </a:extLst>
          </p:cNvPr>
          <p:cNvSpPr>
            <a:spLocks noGrp="1"/>
          </p:cNvSpPr>
          <p:nvPr/>
        </p:nvSpPr>
        <p:spPr>
          <a:xfrm>
            <a:off x="914400" y="1914525"/>
            <a:ext cx="1066800" cy="685800"/>
          </a:xfrm>
          <a:prstGeom prst="roundRect">
            <a:avLst>
              <a:gd name="adj" fmla="val 19444"/>
            </a:avLst>
          </a:prstGeom>
          <a:solidFill>
            <a:srgbClr val="E6E6E6"/>
          </a:solidFill>
          <a:ln w="9525">
            <a:solidFill>
              <a:srgbClr val="4D4D4D"/>
            </a:solidFill>
            <a:prstDash val="solid"/>
          </a:ln>
        </p:spPr>
        <p:txBody>
          <a:bodyPr/>
          <a:lstStyle/>
          <a:p>
            <a:endParaRPr lang="en-IL"/>
          </a:p>
        </p:txBody>
      </p:sp>
      <p:sp>
        <p:nvSpPr>
          <p:cNvPr id="6" name="Rectangle: Rounded Corners 5">
            <a:extLst>
              <a:ext uri="{FF2B5EF4-FFF2-40B4-BE49-F238E27FC236}">
                <a16:creationId xmlns:a16="http://schemas.microsoft.com/office/drawing/2014/main" id="{660891D6-6441-40FD-A2F2-156FE4E4C835}"/>
              </a:ext>
            </a:extLst>
          </p:cNvPr>
          <p:cNvSpPr>
            <a:spLocks noGrp="1"/>
          </p:cNvSpPr>
          <p:nvPr/>
        </p:nvSpPr>
        <p:spPr>
          <a:xfrm>
            <a:off x="2362200" y="1914525"/>
            <a:ext cx="1066800" cy="685800"/>
          </a:xfrm>
          <a:prstGeom prst="roundRect">
            <a:avLst>
              <a:gd name="adj" fmla="val 19444"/>
            </a:avLst>
          </a:prstGeom>
          <a:solidFill>
            <a:srgbClr val="E6E6E6"/>
          </a:solidFill>
          <a:ln w="9525">
            <a:solidFill>
              <a:srgbClr val="4D4D4D"/>
            </a:solidFill>
            <a:prstDash val="solid"/>
          </a:ln>
        </p:spPr>
        <p:txBody>
          <a:bodyPr/>
          <a:lstStyle/>
          <a:p>
            <a:endParaRPr lang="en-IL"/>
          </a:p>
        </p:txBody>
      </p:sp>
      <p:sp>
        <p:nvSpPr>
          <p:cNvPr id="7" name="Rectangle: Rounded Corners 6">
            <a:extLst>
              <a:ext uri="{FF2B5EF4-FFF2-40B4-BE49-F238E27FC236}">
                <a16:creationId xmlns:a16="http://schemas.microsoft.com/office/drawing/2014/main" id="{01B68E76-2360-4630-908B-D8F08D3BAFA1}"/>
              </a:ext>
            </a:extLst>
          </p:cNvPr>
          <p:cNvSpPr>
            <a:spLocks noGrp="1"/>
          </p:cNvSpPr>
          <p:nvPr/>
        </p:nvSpPr>
        <p:spPr>
          <a:xfrm>
            <a:off x="3810000" y="1914525"/>
            <a:ext cx="1139506" cy="685800"/>
          </a:xfrm>
          <a:prstGeom prst="roundRect">
            <a:avLst>
              <a:gd name="adj" fmla="val 19444"/>
            </a:avLst>
          </a:prstGeom>
          <a:solidFill>
            <a:srgbClr val="F7E5E5"/>
          </a:solidFill>
          <a:ln w="9525">
            <a:solidFill>
              <a:srgbClr val="A33A3A"/>
            </a:solidFill>
            <a:prstDash val="solid"/>
          </a:ln>
        </p:spPr>
        <p:txBody>
          <a:bodyPr/>
          <a:lstStyle/>
          <a:p>
            <a:endParaRPr lang="en-IL"/>
          </a:p>
        </p:txBody>
      </p:sp>
      <p:sp>
        <p:nvSpPr>
          <p:cNvPr id="8" name="Rectangle 7">
            <a:extLst>
              <a:ext uri="{FF2B5EF4-FFF2-40B4-BE49-F238E27FC236}">
                <a16:creationId xmlns:a16="http://schemas.microsoft.com/office/drawing/2014/main" id="{D8212F9D-5D88-4E2E-9C16-1198CD5F15C0}"/>
              </a:ext>
            </a:extLst>
          </p:cNvPr>
          <p:cNvSpPr>
            <a:spLocks noGrp="1"/>
          </p:cNvSpPr>
          <p:nvPr/>
        </p:nvSpPr>
        <p:spPr>
          <a:xfrm>
            <a:off x="1019175" y="2085975"/>
            <a:ext cx="857250" cy="323850"/>
          </a:xfrm>
          <a:prstGeom prst="rect">
            <a:avLst/>
          </a:prstGeom>
          <a:noFill/>
          <a:ln w="0">
            <a:noFill/>
          </a:ln>
        </p:spPr>
        <p:txBody>
          <a:bodyPr wrap="square" lIns="0" tIns="0" rIns="0" bIns="0" anchor="t">
            <a:normAutofit/>
          </a:bodyPr>
          <a:lstStyle/>
          <a:p>
            <a:pPr algn="ctr">
              <a:defRPr sz="1500" b="1">
                <a:solidFill>
                  <a:srgbClr val="17222F"/>
                </a:solidFill>
                <a:latin typeface="Arial"/>
                <a:ea typeface="Arial"/>
                <a:cs typeface="Arial"/>
              </a:defRPr>
            </a:pPr>
            <a:r>
              <a:rPr sz="1500" b="1">
                <a:solidFill>
                  <a:srgbClr val="17222F"/>
                </a:solidFill>
                <a:latin typeface="Arial"/>
                <a:ea typeface="Arial"/>
                <a:cs typeface="Arial"/>
              </a:rPr>
              <a:t>layers</a:t>
            </a:r>
          </a:p>
        </p:txBody>
      </p:sp>
      <p:sp>
        <p:nvSpPr>
          <p:cNvPr id="9" name="Rectangle 8">
            <a:extLst>
              <a:ext uri="{FF2B5EF4-FFF2-40B4-BE49-F238E27FC236}">
                <a16:creationId xmlns:a16="http://schemas.microsoft.com/office/drawing/2014/main" id="{479E08BD-DAA1-4355-B28B-9D3A5EE105F0}"/>
              </a:ext>
            </a:extLst>
          </p:cNvPr>
          <p:cNvSpPr>
            <a:spLocks noGrp="1"/>
          </p:cNvSpPr>
          <p:nvPr/>
        </p:nvSpPr>
        <p:spPr>
          <a:xfrm>
            <a:off x="2466975" y="2085975"/>
            <a:ext cx="857250" cy="323850"/>
          </a:xfrm>
          <a:prstGeom prst="rect">
            <a:avLst/>
          </a:prstGeom>
          <a:noFill/>
          <a:ln w="0">
            <a:noFill/>
          </a:ln>
        </p:spPr>
        <p:txBody>
          <a:bodyPr wrap="square" lIns="0" tIns="0" rIns="0" bIns="0" anchor="t">
            <a:normAutofit/>
          </a:bodyPr>
          <a:lstStyle/>
          <a:p>
            <a:pPr algn="ctr">
              <a:defRPr sz="1500" b="1">
                <a:solidFill>
                  <a:srgbClr val="17222F"/>
                </a:solidFill>
                <a:latin typeface="Arial"/>
                <a:ea typeface="Arial"/>
                <a:cs typeface="Arial"/>
              </a:defRPr>
            </a:pPr>
            <a:r>
              <a:rPr sz="1500" b="1">
                <a:solidFill>
                  <a:srgbClr val="17222F"/>
                </a:solidFill>
                <a:latin typeface="Arial"/>
                <a:ea typeface="Arial"/>
                <a:cs typeface="Arial"/>
              </a:rPr>
              <a:t>loss</a:t>
            </a:r>
          </a:p>
        </p:txBody>
      </p:sp>
      <p:sp>
        <p:nvSpPr>
          <p:cNvPr id="10" name="Rectangle 9">
            <a:extLst>
              <a:ext uri="{FF2B5EF4-FFF2-40B4-BE49-F238E27FC236}">
                <a16:creationId xmlns:a16="http://schemas.microsoft.com/office/drawing/2014/main" id="{BF059A97-C554-4A6F-9054-746D26CA3190}"/>
              </a:ext>
            </a:extLst>
          </p:cNvPr>
          <p:cNvSpPr>
            <a:spLocks noGrp="1"/>
          </p:cNvSpPr>
          <p:nvPr/>
        </p:nvSpPr>
        <p:spPr>
          <a:xfrm>
            <a:off x="3914774" y="2085975"/>
            <a:ext cx="923925" cy="323850"/>
          </a:xfrm>
          <a:prstGeom prst="rect">
            <a:avLst/>
          </a:prstGeom>
          <a:noFill/>
          <a:ln w="0">
            <a:noFill/>
          </a:ln>
        </p:spPr>
        <p:txBody>
          <a:bodyPr wrap="square" lIns="0" tIns="0" rIns="0" bIns="0" anchor="t">
            <a:normAutofit fontScale="97537"/>
          </a:bodyPr>
          <a:lstStyle/>
          <a:p>
            <a:pPr algn="ctr">
              <a:defRPr sz="1500" b="1">
                <a:solidFill>
                  <a:srgbClr val="A33A3A"/>
                </a:solidFill>
                <a:latin typeface="Arial"/>
                <a:ea typeface="Arial"/>
                <a:cs typeface="Arial"/>
              </a:defRPr>
            </a:pPr>
            <a:r>
              <a:rPr sz="1500" b="1" dirty="0">
                <a:solidFill>
                  <a:srgbClr val="A33A3A"/>
                </a:solidFill>
                <a:latin typeface="Arial"/>
                <a:ea typeface="Arial"/>
                <a:cs typeface="Arial"/>
              </a:rPr>
              <a:t>backward</a:t>
            </a:r>
          </a:p>
        </p:txBody>
      </p:sp>
      <p:cxnSp>
        <p:nvCxnSpPr>
          <p:cNvPr id="43" name="Straight Arrow Connector 42"/>
          <p:cNvCxnSpPr>
            <a:stCxn id="5" idx="3"/>
            <a:endCxn id="6" idx="1"/>
          </p:cNvCxnSpPr>
          <p:nvPr/>
        </p:nvCxnSpPr>
        <p:spPr>
          <a:xfrm>
            <a:off x="1981200" y="2257425"/>
            <a:ext cx="381000" cy="0"/>
          </a:xfrm>
          <a:prstGeom prst="straightConnector1">
            <a:avLst/>
          </a:prstGeom>
          <a:ln w="19050">
            <a:solidFill>
              <a:srgbClr val="4D4D4D"/>
            </a:solidFill>
            <a:prstDash val="solid"/>
            <a:headEnd type="triangle" w="sm" len="sm"/>
          </a:ln>
        </p:spPr>
      </p:cxnSp>
      <p:cxnSp>
        <p:nvCxnSpPr>
          <p:cNvPr id="44" name="Straight Arrow Connector 43"/>
          <p:cNvCxnSpPr>
            <a:cxnSpLocks/>
            <a:stCxn id="6" idx="3"/>
            <a:endCxn id="7" idx="1"/>
          </p:cNvCxnSpPr>
          <p:nvPr/>
        </p:nvCxnSpPr>
        <p:spPr>
          <a:xfrm>
            <a:off x="3429000" y="2257425"/>
            <a:ext cx="381000" cy="0"/>
          </a:xfrm>
          <a:prstGeom prst="straightConnector1">
            <a:avLst/>
          </a:prstGeom>
          <a:ln w="19050">
            <a:solidFill>
              <a:srgbClr val="4D4D4D"/>
            </a:solidFill>
            <a:prstDash val="solid"/>
            <a:headEnd type="triangle" w="sm" len="sm"/>
          </a:ln>
        </p:spPr>
      </p:cxnSp>
      <p:sp>
        <p:nvSpPr>
          <p:cNvPr id="13" name="Rectangle 12">
            <a:extLst>
              <a:ext uri="{FF2B5EF4-FFF2-40B4-BE49-F238E27FC236}">
                <a16:creationId xmlns:a16="http://schemas.microsoft.com/office/drawing/2014/main" id="{05BC8957-F137-42F0-A446-1BE79A799E8F}"/>
              </a:ext>
            </a:extLst>
          </p:cNvPr>
          <p:cNvSpPr>
            <a:spLocks noGrp="1"/>
          </p:cNvSpPr>
          <p:nvPr/>
        </p:nvSpPr>
        <p:spPr>
          <a:xfrm>
            <a:off x="981075" y="2876550"/>
            <a:ext cx="3905250" cy="514350"/>
          </a:xfrm>
          <a:prstGeom prst="rect">
            <a:avLst/>
          </a:prstGeom>
          <a:noFill/>
          <a:ln w="0">
            <a:noFill/>
          </a:ln>
        </p:spPr>
        <p:txBody>
          <a:bodyPr wrap="square" lIns="0" tIns="0" rIns="0" bIns="0" anchor="t">
            <a:normAutofit/>
          </a:bodyPr>
          <a:lstStyle/>
          <a:p>
            <a:pPr algn="ctr">
              <a:defRPr sz="1350" b="0">
                <a:solidFill>
                  <a:srgbClr val="526272"/>
                </a:solidFill>
                <a:latin typeface="Arial"/>
                <a:ea typeface="Arial"/>
                <a:cs typeface="Arial"/>
              </a:defRPr>
            </a:pPr>
            <a:r>
              <a:rPr sz="1350" b="0">
                <a:solidFill>
                  <a:srgbClr val="526272"/>
                </a:solidFill>
                <a:latin typeface="Arial"/>
                <a:ea typeface="Arial"/>
                <a:cs typeface="Arial"/>
              </a:rPr>
              <a:t>Global derivatives, gradients, optimizer state</a:t>
            </a:r>
          </a:p>
        </p:txBody>
      </p:sp>
      <p:sp>
        <p:nvSpPr>
          <p:cNvPr id="14" name="Rectangle 13">
            <a:extLst>
              <a:ext uri="{FF2B5EF4-FFF2-40B4-BE49-F238E27FC236}">
                <a16:creationId xmlns:a16="http://schemas.microsoft.com/office/drawing/2014/main" id="{25634208-F368-4DFB-BD39-AA0F6FB30CD7}"/>
              </a:ext>
            </a:extLst>
          </p:cNvPr>
          <p:cNvSpPr>
            <a:spLocks noGrp="1"/>
          </p:cNvSpPr>
          <p:nvPr/>
        </p:nvSpPr>
        <p:spPr>
          <a:xfrm>
            <a:off x="7096125" y="1257300"/>
            <a:ext cx="3619500" cy="342900"/>
          </a:xfrm>
          <a:prstGeom prst="rect">
            <a:avLst/>
          </a:prstGeom>
          <a:noFill/>
          <a:ln w="0">
            <a:noFill/>
          </a:ln>
        </p:spPr>
        <p:txBody>
          <a:bodyPr wrap="square" lIns="0" tIns="0" rIns="0" bIns="0" anchor="t">
            <a:normAutofit/>
          </a:bodyPr>
          <a:lstStyle/>
          <a:p>
            <a:pPr algn="ctr">
              <a:defRPr sz="1875" b="1">
                <a:solidFill>
                  <a:srgbClr val="0072B2"/>
                </a:solidFill>
                <a:latin typeface="Arial"/>
                <a:ea typeface="Arial"/>
                <a:cs typeface="Arial"/>
              </a:defRPr>
            </a:pPr>
            <a:r>
              <a:rPr sz="1875" b="1">
                <a:solidFill>
                  <a:srgbClr val="0072B2"/>
                </a:solidFill>
                <a:latin typeface="Arial"/>
                <a:ea typeface="Arial"/>
                <a:cs typeface="Arial"/>
              </a:rPr>
              <a:t>Hebbian learning</a:t>
            </a:r>
          </a:p>
        </p:txBody>
      </p:sp>
      <p:sp>
        <p:nvSpPr>
          <p:cNvPr id="15" name="Rectangle: Rounded Corners 14">
            <a:extLst>
              <a:ext uri="{FF2B5EF4-FFF2-40B4-BE49-F238E27FC236}">
                <a16:creationId xmlns:a16="http://schemas.microsoft.com/office/drawing/2014/main" id="{9A320A1F-0AC3-4D69-A169-518970785D00}"/>
              </a:ext>
            </a:extLst>
          </p:cNvPr>
          <p:cNvSpPr>
            <a:spLocks noGrp="1"/>
          </p:cNvSpPr>
          <p:nvPr/>
        </p:nvSpPr>
        <p:spPr>
          <a:xfrm>
            <a:off x="6915150" y="1914525"/>
            <a:ext cx="1143000" cy="685800"/>
          </a:xfrm>
          <a:prstGeom prst="roundRect">
            <a:avLst>
              <a:gd name="adj" fmla="val 19444"/>
            </a:avLst>
          </a:prstGeom>
          <a:solidFill>
            <a:srgbClr val="DCEFF8"/>
          </a:solidFill>
          <a:ln w="9525">
            <a:solidFill>
              <a:srgbClr val="0072B2"/>
            </a:solidFill>
            <a:prstDash val="solid"/>
          </a:ln>
        </p:spPr>
        <p:txBody>
          <a:bodyPr/>
          <a:lstStyle/>
          <a:p>
            <a:endParaRPr lang="en-IL"/>
          </a:p>
        </p:txBody>
      </p:sp>
      <p:sp>
        <p:nvSpPr>
          <p:cNvPr id="16" name="Rectangle 15">
            <a:extLst>
              <a:ext uri="{FF2B5EF4-FFF2-40B4-BE49-F238E27FC236}">
                <a16:creationId xmlns:a16="http://schemas.microsoft.com/office/drawing/2014/main" id="{6D72D376-473A-4FAA-8A52-F7676C7F9536}"/>
              </a:ext>
            </a:extLst>
          </p:cNvPr>
          <p:cNvSpPr>
            <a:spLocks noGrp="1"/>
          </p:cNvSpPr>
          <p:nvPr/>
        </p:nvSpPr>
        <p:spPr>
          <a:xfrm>
            <a:off x="7048500" y="2028825"/>
            <a:ext cx="876300" cy="228600"/>
          </a:xfrm>
          <a:prstGeom prst="rect">
            <a:avLst/>
          </a:prstGeom>
          <a:noFill/>
          <a:ln w="0">
            <a:noFill/>
          </a:ln>
        </p:spPr>
        <p:txBody>
          <a:bodyPr wrap="square" lIns="0" tIns="0" rIns="0" bIns="0" anchor="t">
            <a:normAutofit/>
          </a:bodyPr>
          <a:lstStyle/>
          <a:p>
            <a:pPr algn="ctr">
              <a:defRPr sz="1350" b="1">
                <a:solidFill>
                  <a:srgbClr val="0072B2"/>
                </a:solidFill>
                <a:latin typeface="Arial"/>
                <a:ea typeface="Arial"/>
                <a:cs typeface="Arial"/>
              </a:defRPr>
            </a:pPr>
            <a:r>
              <a:rPr sz="1350" b="1">
                <a:solidFill>
                  <a:srgbClr val="0072B2"/>
                </a:solidFill>
                <a:latin typeface="Arial"/>
                <a:ea typeface="Arial"/>
                <a:cs typeface="Arial"/>
              </a:rPr>
              <a:t>layer 1</a:t>
            </a:r>
          </a:p>
        </p:txBody>
      </p:sp>
      <p:sp>
        <p:nvSpPr>
          <p:cNvPr id="17" name="Rectangle 16">
            <a:extLst>
              <a:ext uri="{FF2B5EF4-FFF2-40B4-BE49-F238E27FC236}">
                <a16:creationId xmlns:a16="http://schemas.microsoft.com/office/drawing/2014/main" id="{DDF6873C-5A1E-4DDC-9D38-B147AC09DBAC}"/>
              </a:ext>
            </a:extLst>
          </p:cNvPr>
          <p:cNvSpPr>
            <a:spLocks noGrp="1"/>
          </p:cNvSpPr>
          <p:nvPr/>
        </p:nvSpPr>
        <p:spPr>
          <a:xfrm>
            <a:off x="7029450" y="2295525"/>
            <a:ext cx="914400" cy="171450"/>
          </a:xfrm>
          <a:prstGeom prst="rect">
            <a:avLst/>
          </a:prstGeom>
          <a:noFill/>
          <a:ln w="0">
            <a:noFill/>
          </a:ln>
        </p:spPr>
        <p:txBody>
          <a:bodyPr wrap="square" lIns="0" tIns="0" rIns="0" bIns="0" anchor="t">
            <a:normAutofit/>
          </a:bodyPr>
          <a:lstStyle/>
          <a:p>
            <a:pPr algn="ctr">
              <a:defRPr sz="1050" b="0">
                <a:solidFill>
                  <a:srgbClr val="526272"/>
                </a:solidFill>
                <a:latin typeface="Arial"/>
                <a:ea typeface="Arial"/>
                <a:cs typeface="Arial"/>
              </a:defRPr>
            </a:pPr>
            <a:r>
              <a:rPr sz="1050" b="0">
                <a:solidFill>
                  <a:srgbClr val="526272"/>
                </a:solidFill>
                <a:latin typeface="Arial"/>
                <a:ea typeface="Arial"/>
                <a:cs typeface="Arial"/>
              </a:rPr>
              <a:t>local update</a:t>
            </a:r>
          </a:p>
        </p:txBody>
      </p:sp>
      <p:sp>
        <p:nvSpPr>
          <p:cNvPr id="18" name="Rectangle: Rounded Corners 17">
            <a:extLst>
              <a:ext uri="{FF2B5EF4-FFF2-40B4-BE49-F238E27FC236}">
                <a16:creationId xmlns:a16="http://schemas.microsoft.com/office/drawing/2014/main" id="{C9EE6654-5DEE-4D89-9565-D520402D9335}"/>
              </a:ext>
            </a:extLst>
          </p:cNvPr>
          <p:cNvSpPr>
            <a:spLocks noGrp="1"/>
          </p:cNvSpPr>
          <p:nvPr/>
        </p:nvSpPr>
        <p:spPr>
          <a:xfrm>
            <a:off x="8343900" y="1914525"/>
            <a:ext cx="1143000" cy="685800"/>
          </a:xfrm>
          <a:prstGeom prst="roundRect">
            <a:avLst>
              <a:gd name="adj" fmla="val 19444"/>
            </a:avLst>
          </a:prstGeom>
          <a:solidFill>
            <a:srgbClr val="DCEFF8"/>
          </a:solidFill>
          <a:ln w="9525">
            <a:solidFill>
              <a:srgbClr val="0072B2"/>
            </a:solidFill>
            <a:prstDash val="solid"/>
          </a:ln>
        </p:spPr>
        <p:txBody>
          <a:bodyPr/>
          <a:lstStyle/>
          <a:p>
            <a:endParaRPr lang="en-IL"/>
          </a:p>
        </p:txBody>
      </p:sp>
      <p:sp>
        <p:nvSpPr>
          <p:cNvPr id="19" name="Rectangle 18">
            <a:extLst>
              <a:ext uri="{FF2B5EF4-FFF2-40B4-BE49-F238E27FC236}">
                <a16:creationId xmlns:a16="http://schemas.microsoft.com/office/drawing/2014/main" id="{D390D5F6-CDC1-49B2-8DF3-19C29AE3E3CC}"/>
              </a:ext>
            </a:extLst>
          </p:cNvPr>
          <p:cNvSpPr>
            <a:spLocks noGrp="1"/>
          </p:cNvSpPr>
          <p:nvPr/>
        </p:nvSpPr>
        <p:spPr>
          <a:xfrm>
            <a:off x="8477250" y="2028825"/>
            <a:ext cx="876300" cy="228600"/>
          </a:xfrm>
          <a:prstGeom prst="rect">
            <a:avLst/>
          </a:prstGeom>
          <a:noFill/>
          <a:ln w="0">
            <a:noFill/>
          </a:ln>
        </p:spPr>
        <p:txBody>
          <a:bodyPr wrap="square" lIns="0" tIns="0" rIns="0" bIns="0" anchor="t">
            <a:normAutofit/>
          </a:bodyPr>
          <a:lstStyle/>
          <a:p>
            <a:pPr algn="ctr">
              <a:defRPr sz="1350" b="1">
                <a:solidFill>
                  <a:srgbClr val="0072B2"/>
                </a:solidFill>
                <a:latin typeface="Arial"/>
                <a:ea typeface="Arial"/>
                <a:cs typeface="Arial"/>
              </a:defRPr>
            </a:pPr>
            <a:r>
              <a:rPr sz="1350" b="1">
                <a:solidFill>
                  <a:srgbClr val="0072B2"/>
                </a:solidFill>
                <a:latin typeface="Arial"/>
                <a:ea typeface="Arial"/>
                <a:cs typeface="Arial"/>
              </a:rPr>
              <a:t>layer 2</a:t>
            </a:r>
          </a:p>
        </p:txBody>
      </p:sp>
      <p:sp>
        <p:nvSpPr>
          <p:cNvPr id="20" name="Rectangle 19">
            <a:extLst>
              <a:ext uri="{FF2B5EF4-FFF2-40B4-BE49-F238E27FC236}">
                <a16:creationId xmlns:a16="http://schemas.microsoft.com/office/drawing/2014/main" id="{A4E28A10-EA1C-4E3D-B671-09B35ACC506E}"/>
              </a:ext>
            </a:extLst>
          </p:cNvPr>
          <p:cNvSpPr>
            <a:spLocks noGrp="1"/>
          </p:cNvSpPr>
          <p:nvPr/>
        </p:nvSpPr>
        <p:spPr>
          <a:xfrm>
            <a:off x="8458200" y="2295525"/>
            <a:ext cx="914400" cy="171450"/>
          </a:xfrm>
          <a:prstGeom prst="rect">
            <a:avLst/>
          </a:prstGeom>
          <a:noFill/>
          <a:ln w="0">
            <a:noFill/>
          </a:ln>
        </p:spPr>
        <p:txBody>
          <a:bodyPr wrap="square" lIns="0" tIns="0" rIns="0" bIns="0" anchor="t">
            <a:normAutofit/>
          </a:bodyPr>
          <a:lstStyle/>
          <a:p>
            <a:pPr algn="ctr">
              <a:defRPr sz="1050" b="0">
                <a:solidFill>
                  <a:srgbClr val="526272"/>
                </a:solidFill>
                <a:latin typeface="Arial"/>
                <a:ea typeface="Arial"/>
                <a:cs typeface="Arial"/>
              </a:defRPr>
            </a:pPr>
            <a:r>
              <a:rPr sz="1050" b="0">
                <a:solidFill>
                  <a:srgbClr val="526272"/>
                </a:solidFill>
                <a:latin typeface="Arial"/>
                <a:ea typeface="Arial"/>
                <a:cs typeface="Arial"/>
              </a:rPr>
              <a:t>local update</a:t>
            </a:r>
          </a:p>
        </p:txBody>
      </p:sp>
      <p:sp>
        <p:nvSpPr>
          <p:cNvPr id="21" name="Rectangle: Rounded Corners 20">
            <a:extLst>
              <a:ext uri="{FF2B5EF4-FFF2-40B4-BE49-F238E27FC236}">
                <a16:creationId xmlns:a16="http://schemas.microsoft.com/office/drawing/2014/main" id="{E77A33DD-33A9-4CEC-9048-64B00BF4B21B}"/>
              </a:ext>
            </a:extLst>
          </p:cNvPr>
          <p:cNvSpPr>
            <a:spLocks noGrp="1"/>
          </p:cNvSpPr>
          <p:nvPr/>
        </p:nvSpPr>
        <p:spPr>
          <a:xfrm>
            <a:off x="9772650" y="1914525"/>
            <a:ext cx="1143000" cy="685800"/>
          </a:xfrm>
          <a:prstGeom prst="roundRect">
            <a:avLst>
              <a:gd name="adj" fmla="val 19444"/>
            </a:avLst>
          </a:prstGeom>
          <a:solidFill>
            <a:srgbClr val="DCEFF8"/>
          </a:solidFill>
          <a:ln w="9525">
            <a:solidFill>
              <a:srgbClr val="0072B2"/>
            </a:solidFill>
            <a:prstDash val="solid"/>
          </a:ln>
        </p:spPr>
        <p:txBody>
          <a:bodyPr/>
          <a:lstStyle/>
          <a:p>
            <a:endParaRPr lang="en-IL"/>
          </a:p>
        </p:txBody>
      </p:sp>
      <p:sp>
        <p:nvSpPr>
          <p:cNvPr id="22" name="Rectangle 21">
            <a:extLst>
              <a:ext uri="{FF2B5EF4-FFF2-40B4-BE49-F238E27FC236}">
                <a16:creationId xmlns:a16="http://schemas.microsoft.com/office/drawing/2014/main" id="{CECE0BAB-C6EF-40AF-8B40-03475585DA3F}"/>
              </a:ext>
            </a:extLst>
          </p:cNvPr>
          <p:cNvSpPr>
            <a:spLocks noGrp="1"/>
          </p:cNvSpPr>
          <p:nvPr/>
        </p:nvSpPr>
        <p:spPr>
          <a:xfrm>
            <a:off x="9906000" y="2028825"/>
            <a:ext cx="876300" cy="228600"/>
          </a:xfrm>
          <a:prstGeom prst="rect">
            <a:avLst/>
          </a:prstGeom>
          <a:noFill/>
          <a:ln w="0">
            <a:noFill/>
          </a:ln>
        </p:spPr>
        <p:txBody>
          <a:bodyPr wrap="square" lIns="0" tIns="0" rIns="0" bIns="0" anchor="t">
            <a:normAutofit/>
          </a:bodyPr>
          <a:lstStyle/>
          <a:p>
            <a:pPr algn="ctr">
              <a:defRPr sz="1350" b="1">
                <a:solidFill>
                  <a:srgbClr val="0072B2"/>
                </a:solidFill>
                <a:latin typeface="Arial"/>
                <a:ea typeface="Arial"/>
                <a:cs typeface="Arial"/>
              </a:defRPr>
            </a:pPr>
            <a:r>
              <a:rPr sz="1350" b="1">
                <a:solidFill>
                  <a:srgbClr val="0072B2"/>
                </a:solidFill>
                <a:latin typeface="Arial"/>
                <a:ea typeface="Arial"/>
                <a:cs typeface="Arial"/>
              </a:rPr>
              <a:t>layer 3</a:t>
            </a:r>
          </a:p>
        </p:txBody>
      </p:sp>
      <p:sp>
        <p:nvSpPr>
          <p:cNvPr id="23" name="Rectangle 22">
            <a:extLst>
              <a:ext uri="{FF2B5EF4-FFF2-40B4-BE49-F238E27FC236}">
                <a16:creationId xmlns:a16="http://schemas.microsoft.com/office/drawing/2014/main" id="{C66BCFC1-034D-4624-8324-3DD252E3CA3F}"/>
              </a:ext>
            </a:extLst>
          </p:cNvPr>
          <p:cNvSpPr>
            <a:spLocks noGrp="1"/>
          </p:cNvSpPr>
          <p:nvPr/>
        </p:nvSpPr>
        <p:spPr>
          <a:xfrm>
            <a:off x="9886950" y="2295525"/>
            <a:ext cx="914400" cy="171450"/>
          </a:xfrm>
          <a:prstGeom prst="rect">
            <a:avLst/>
          </a:prstGeom>
          <a:noFill/>
          <a:ln w="0">
            <a:noFill/>
          </a:ln>
        </p:spPr>
        <p:txBody>
          <a:bodyPr wrap="square" lIns="0" tIns="0" rIns="0" bIns="0" anchor="t">
            <a:normAutofit/>
          </a:bodyPr>
          <a:lstStyle/>
          <a:p>
            <a:pPr algn="ctr">
              <a:defRPr sz="1050" b="0">
                <a:solidFill>
                  <a:srgbClr val="526272"/>
                </a:solidFill>
                <a:latin typeface="Arial"/>
                <a:ea typeface="Arial"/>
                <a:cs typeface="Arial"/>
              </a:defRPr>
            </a:pPr>
            <a:r>
              <a:rPr sz="1050" b="0">
                <a:solidFill>
                  <a:srgbClr val="526272"/>
                </a:solidFill>
                <a:latin typeface="Arial"/>
                <a:ea typeface="Arial"/>
                <a:cs typeface="Arial"/>
              </a:rPr>
              <a:t>local update</a:t>
            </a:r>
          </a:p>
        </p:txBody>
      </p:sp>
      <p:sp>
        <p:nvSpPr>
          <p:cNvPr id="24" name="Rectangle 23">
            <a:extLst>
              <a:ext uri="{FF2B5EF4-FFF2-40B4-BE49-F238E27FC236}">
                <a16:creationId xmlns:a16="http://schemas.microsoft.com/office/drawing/2014/main" id="{F14CBA73-973F-42D2-90B7-0E6E10688C6B}"/>
              </a:ext>
            </a:extLst>
          </p:cNvPr>
          <p:cNvSpPr>
            <a:spLocks noGrp="1"/>
          </p:cNvSpPr>
          <p:nvPr/>
        </p:nvSpPr>
        <p:spPr>
          <a:xfrm>
            <a:off x="6867525" y="2876550"/>
            <a:ext cx="4095750" cy="514350"/>
          </a:xfrm>
          <a:prstGeom prst="rect">
            <a:avLst/>
          </a:prstGeom>
          <a:noFill/>
          <a:ln w="0">
            <a:noFill/>
          </a:ln>
        </p:spPr>
        <p:txBody>
          <a:bodyPr wrap="square" lIns="0" tIns="0" rIns="0" bIns="0" anchor="t">
            <a:normAutofit/>
          </a:bodyPr>
          <a:lstStyle/>
          <a:p>
            <a:pPr algn="ctr">
              <a:defRPr sz="1350" b="0">
                <a:solidFill>
                  <a:srgbClr val="526272"/>
                </a:solidFill>
                <a:latin typeface="Arial"/>
                <a:ea typeface="Arial"/>
                <a:cs typeface="Arial"/>
              </a:defRPr>
            </a:pPr>
            <a:r>
              <a:rPr sz="1350" b="0">
                <a:solidFill>
                  <a:srgbClr val="526272"/>
                </a:solidFill>
                <a:latin typeface="Arial"/>
                <a:ea typeface="Arial"/>
                <a:cs typeface="Arial"/>
              </a:rPr>
              <a:t>Input patch + winner + current weights</a:t>
            </a:r>
          </a:p>
        </p:txBody>
      </p:sp>
      <p:sp>
        <p:nvSpPr>
          <p:cNvPr id="25" name="Straight Connector 24">
            <a:extLst>
              <a:ext uri="{FF2B5EF4-FFF2-40B4-BE49-F238E27FC236}">
                <a16:creationId xmlns:a16="http://schemas.microsoft.com/office/drawing/2014/main" id="{81B600AA-B02F-4773-AC09-564CDD1A9AB1}"/>
              </a:ext>
            </a:extLst>
          </p:cNvPr>
          <p:cNvSpPr>
            <a:spLocks noGrp="1"/>
          </p:cNvSpPr>
          <p:nvPr/>
        </p:nvSpPr>
        <p:spPr>
          <a:xfrm>
            <a:off x="6096000" y="1238250"/>
            <a:ext cx="9525" cy="2381250"/>
          </a:xfrm>
          <a:prstGeom prst="line">
            <a:avLst/>
          </a:prstGeom>
          <a:noFill/>
          <a:ln w="9525">
            <a:solidFill>
              <a:srgbClr val="D9E0E5"/>
            </a:solidFill>
            <a:prstDash val="solid"/>
          </a:ln>
        </p:spPr>
        <p:txBody>
          <a:bodyPr/>
          <a:lstStyle/>
          <a:p>
            <a:endParaRPr lang="en-IL"/>
          </a:p>
        </p:txBody>
      </p:sp>
      <p:sp>
        <p:nvSpPr>
          <p:cNvPr id="26" name="Rectangle 25">
            <a:extLst>
              <a:ext uri="{FF2B5EF4-FFF2-40B4-BE49-F238E27FC236}">
                <a16:creationId xmlns:a16="http://schemas.microsoft.com/office/drawing/2014/main" id="{FB753513-5CDC-4AB5-ADE0-65EB1FCA9C2E}"/>
              </a:ext>
            </a:extLst>
          </p:cNvPr>
          <p:cNvSpPr>
            <a:spLocks noGrp="1"/>
          </p:cNvSpPr>
          <p:nvPr/>
        </p:nvSpPr>
        <p:spPr>
          <a:xfrm>
            <a:off x="1143000" y="3829050"/>
            <a:ext cx="9906000" cy="457200"/>
          </a:xfrm>
          <a:prstGeom prst="rect">
            <a:avLst/>
          </a:prstGeom>
          <a:noFill/>
          <a:ln w="0">
            <a:noFill/>
          </a:ln>
        </p:spPr>
        <p:txBody>
          <a:bodyPr wrap="square" lIns="0" tIns="0" rIns="0" bIns="0" anchor="t">
            <a:normAutofit/>
          </a:bodyPr>
          <a:lstStyle/>
          <a:p>
            <a:pPr algn="ctr">
              <a:defRPr sz="2025" b="1">
                <a:solidFill>
                  <a:srgbClr val="17222F"/>
                </a:solidFill>
                <a:latin typeface="Arial"/>
                <a:ea typeface="Arial"/>
                <a:cs typeface="Arial"/>
              </a:defRPr>
            </a:pPr>
            <a:r>
              <a:rPr sz="2025" b="1">
                <a:solidFill>
                  <a:srgbClr val="17222F"/>
                </a:solidFill>
                <a:latin typeface="Arial"/>
                <a:ea typeface="Arial"/>
                <a:cs typeface="Arial"/>
              </a:rPr>
              <a:t>What resources do these learning paths require in the concrete repository?</a:t>
            </a:r>
          </a:p>
        </p:txBody>
      </p:sp>
      <p:sp>
        <p:nvSpPr>
          <p:cNvPr id="27" name="Rectangle 26">
            <a:extLst>
              <a:ext uri="{FF2B5EF4-FFF2-40B4-BE49-F238E27FC236}">
                <a16:creationId xmlns:a16="http://schemas.microsoft.com/office/drawing/2014/main" id="{1E49DBD6-643C-4D26-BE6C-AB25B76AB3D6}"/>
              </a:ext>
            </a:extLst>
          </p:cNvPr>
          <p:cNvSpPr>
            <a:spLocks noGrp="1"/>
          </p:cNvSpPr>
          <p:nvPr/>
        </p:nvSpPr>
        <p:spPr>
          <a:xfrm>
            <a:off x="1304925" y="4762500"/>
            <a:ext cx="7620000" cy="266700"/>
          </a:xfrm>
          <a:prstGeom prst="rect">
            <a:avLst/>
          </a:prstGeom>
          <a:noFill/>
          <a:ln w="0">
            <a:noFill/>
          </a:ln>
        </p:spPr>
        <p:txBody>
          <a:bodyPr wrap="square" lIns="0" tIns="0" rIns="0" bIns="0" anchor="t">
            <a:normAutofit/>
          </a:bodyPr>
          <a:lstStyle/>
          <a:p>
            <a:pPr algn="ctr">
              <a:defRPr sz="1200" b="1">
                <a:solidFill>
                  <a:srgbClr val="0072B2"/>
                </a:solidFill>
                <a:latin typeface="Arial"/>
                <a:ea typeface="Arial"/>
                <a:cs typeface="Arial"/>
              </a:defRPr>
            </a:pPr>
            <a:r>
              <a:rPr sz="1200" b="1">
                <a:solidFill>
                  <a:srgbClr val="0072B2"/>
                </a:solidFill>
                <a:latin typeface="Arial"/>
                <a:ea typeface="Arial"/>
                <a:cs typeface="Arial"/>
              </a:rPr>
              <a:t>MODELED PROXIES</a:t>
            </a:r>
          </a:p>
        </p:txBody>
      </p:sp>
      <p:sp>
        <p:nvSpPr>
          <p:cNvPr id="28" name="Rectangle 27">
            <a:extLst>
              <a:ext uri="{FF2B5EF4-FFF2-40B4-BE49-F238E27FC236}">
                <a16:creationId xmlns:a16="http://schemas.microsoft.com/office/drawing/2014/main" id="{0354A57D-1B76-423A-90C8-833614179A35}"/>
              </a:ext>
            </a:extLst>
          </p:cNvPr>
          <p:cNvSpPr>
            <a:spLocks noGrp="1"/>
          </p:cNvSpPr>
          <p:nvPr/>
        </p:nvSpPr>
        <p:spPr>
          <a:xfrm>
            <a:off x="1304925" y="5114925"/>
            <a:ext cx="2381250" cy="304800"/>
          </a:xfrm>
          <a:prstGeom prst="rect">
            <a:avLst/>
          </a:prstGeom>
          <a:noFill/>
          <a:ln w="0">
            <a:noFill/>
          </a:ln>
        </p:spPr>
        <p:txBody>
          <a:bodyPr wrap="square" lIns="0" tIns="0" rIns="0" bIns="0" anchor="t">
            <a:normAutofit/>
          </a:bodyPr>
          <a:lstStyle/>
          <a:p>
            <a:pPr algn="l">
              <a:defRPr sz="1650" b="1">
                <a:solidFill>
                  <a:srgbClr val="17222F"/>
                </a:solidFill>
                <a:latin typeface="Arial"/>
                <a:ea typeface="Arial"/>
                <a:cs typeface="Arial"/>
              </a:defRPr>
            </a:pPr>
            <a:r>
              <a:rPr sz="1650" b="1">
                <a:solidFill>
                  <a:srgbClr val="17222F"/>
                </a:solidFill>
                <a:latin typeface="Arial"/>
                <a:ea typeface="Arial"/>
                <a:cs typeface="Arial"/>
              </a:rPr>
              <a:t>scalar operations</a:t>
            </a:r>
          </a:p>
        </p:txBody>
      </p:sp>
      <p:sp>
        <p:nvSpPr>
          <p:cNvPr id="29" name="Rectangle 28">
            <a:extLst>
              <a:ext uri="{FF2B5EF4-FFF2-40B4-BE49-F238E27FC236}">
                <a16:creationId xmlns:a16="http://schemas.microsoft.com/office/drawing/2014/main" id="{8CE5E1B5-7793-40FD-A170-061C79F103D7}"/>
              </a:ext>
            </a:extLst>
          </p:cNvPr>
          <p:cNvSpPr>
            <a:spLocks noGrp="1"/>
          </p:cNvSpPr>
          <p:nvPr/>
        </p:nvSpPr>
        <p:spPr>
          <a:xfrm>
            <a:off x="4067175" y="5114925"/>
            <a:ext cx="2190750" cy="304800"/>
          </a:xfrm>
          <a:prstGeom prst="rect">
            <a:avLst/>
          </a:prstGeom>
          <a:noFill/>
          <a:ln w="0">
            <a:noFill/>
          </a:ln>
        </p:spPr>
        <p:txBody>
          <a:bodyPr wrap="square" lIns="0" tIns="0" rIns="0" bIns="0" anchor="t">
            <a:normAutofit/>
          </a:bodyPr>
          <a:lstStyle/>
          <a:p>
            <a:pPr algn="l">
              <a:defRPr sz="1650" b="1">
                <a:solidFill>
                  <a:srgbClr val="17222F"/>
                </a:solidFill>
                <a:latin typeface="Arial"/>
                <a:ea typeface="Arial"/>
                <a:cs typeface="Arial"/>
              </a:defRPr>
            </a:pPr>
            <a:r>
              <a:rPr sz="1650" b="1">
                <a:solidFill>
                  <a:srgbClr val="17222F"/>
                </a:solidFill>
                <a:latin typeface="Arial"/>
                <a:ea typeface="Arial"/>
                <a:cs typeface="Arial"/>
              </a:rPr>
              <a:t>tensor storage</a:t>
            </a:r>
          </a:p>
        </p:txBody>
      </p:sp>
      <p:sp>
        <p:nvSpPr>
          <p:cNvPr id="30" name="Rectangle 29">
            <a:extLst>
              <a:ext uri="{FF2B5EF4-FFF2-40B4-BE49-F238E27FC236}">
                <a16:creationId xmlns:a16="http://schemas.microsoft.com/office/drawing/2014/main" id="{4E1B8333-C294-4E3A-A5EF-525E8BA0B66A}"/>
              </a:ext>
            </a:extLst>
          </p:cNvPr>
          <p:cNvSpPr>
            <a:spLocks noGrp="1"/>
          </p:cNvSpPr>
          <p:nvPr/>
        </p:nvSpPr>
        <p:spPr>
          <a:xfrm>
            <a:off x="6543675" y="5114925"/>
            <a:ext cx="2381250" cy="304800"/>
          </a:xfrm>
          <a:prstGeom prst="rect">
            <a:avLst/>
          </a:prstGeom>
          <a:noFill/>
          <a:ln w="0">
            <a:noFill/>
          </a:ln>
        </p:spPr>
        <p:txBody>
          <a:bodyPr wrap="square" lIns="0" tIns="0" rIns="0" bIns="0" anchor="t">
            <a:normAutofit/>
          </a:bodyPr>
          <a:lstStyle/>
          <a:p>
            <a:pPr algn="l">
              <a:defRPr sz="1650" b="1">
                <a:solidFill>
                  <a:srgbClr val="17222F"/>
                </a:solidFill>
                <a:latin typeface="Arial"/>
                <a:ea typeface="Arial"/>
                <a:cs typeface="Arial"/>
              </a:defRPr>
            </a:pPr>
            <a:r>
              <a:rPr sz="1650" b="1">
                <a:solidFill>
                  <a:srgbClr val="17222F"/>
                </a:solidFill>
                <a:latin typeface="Arial"/>
                <a:ea typeface="Arial"/>
                <a:cs typeface="Arial"/>
              </a:rPr>
              <a:t>logical movement</a:t>
            </a:r>
          </a:p>
        </p:txBody>
      </p:sp>
      <p:sp>
        <p:nvSpPr>
          <p:cNvPr id="31" name="Rectangle 30">
            <a:extLst>
              <a:ext uri="{FF2B5EF4-FFF2-40B4-BE49-F238E27FC236}">
                <a16:creationId xmlns:a16="http://schemas.microsoft.com/office/drawing/2014/main" id="{91FD7564-146D-4402-8E15-4430D65BA58A}"/>
              </a:ext>
            </a:extLst>
          </p:cNvPr>
          <p:cNvSpPr>
            <a:spLocks noGrp="1"/>
          </p:cNvSpPr>
          <p:nvPr/>
        </p:nvSpPr>
        <p:spPr>
          <a:xfrm>
            <a:off x="9324975" y="4762500"/>
            <a:ext cx="1619250" cy="266700"/>
          </a:xfrm>
          <a:prstGeom prst="rect">
            <a:avLst/>
          </a:prstGeom>
          <a:noFill/>
          <a:ln w="0">
            <a:noFill/>
          </a:ln>
        </p:spPr>
        <p:txBody>
          <a:bodyPr wrap="square" lIns="0" tIns="0" rIns="0" bIns="0" anchor="t">
            <a:normAutofit/>
          </a:bodyPr>
          <a:lstStyle/>
          <a:p>
            <a:pPr algn="l">
              <a:defRPr sz="1200" b="1">
                <a:solidFill>
                  <a:srgbClr val="A33A3A"/>
                </a:solidFill>
                <a:latin typeface="Arial"/>
                <a:ea typeface="Arial"/>
                <a:cs typeface="Arial"/>
              </a:defRPr>
            </a:pPr>
            <a:r>
              <a:rPr sz="1200" b="1">
                <a:solidFill>
                  <a:srgbClr val="A33A3A"/>
                </a:solidFill>
                <a:latin typeface="Arial"/>
                <a:ea typeface="Arial"/>
                <a:cs typeface="Arial"/>
              </a:rPr>
              <a:t>NOT MEASURED</a:t>
            </a:r>
          </a:p>
        </p:txBody>
      </p:sp>
      <p:sp>
        <p:nvSpPr>
          <p:cNvPr id="32" name="Rectangle 31">
            <a:extLst>
              <a:ext uri="{FF2B5EF4-FFF2-40B4-BE49-F238E27FC236}">
                <a16:creationId xmlns:a16="http://schemas.microsoft.com/office/drawing/2014/main" id="{B6B88D4C-D65F-4182-B363-1CCDC498F2BF}"/>
              </a:ext>
            </a:extLst>
          </p:cNvPr>
          <p:cNvSpPr>
            <a:spLocks noGrp="1"/>
          </p:cNvSpPr>
          <p:nvPr/>
        </p:nvSpPr>
        <p:spPr>
          <a:xfrm>
            <a:off x="9324975" y="5114925"/>
            <a:ext cx="2047875" cy="552450"/>
          </a:xfrm>
          <a:prstGeom prst="rect">
            <a:avLst/>
          </a:prstGeom>
          <a:noFill/>
          <a:ln w="0">
            <a:noFill/>
          </a:ln>
        </p:spPr>
        <p:txBody>
          <a:bodyPr wrap="square" lIns="0" tIns="0" rIns="0" bIns="0" anchor="t">
            <a:normAutofit/>
          </a:bodyPr>
          <a:lstStyle/>
          <a:p>
            <a:pPr algn="l">
              <a:defRPr sz="1350" b="1">
                <a:solidFill>
                  <a:srgbClr val="A33A3A"/>
                </a:solidFill>
                <a:latin typeface="Arial"/>
                <a:ea typeface="Arial"/>
                <a:cs typeface="Arial"/>
              </a:defRPr>
            </a:pPr>
            <a:r>
              <a:rPr sz="1350" b="1">
                <a:solidFill>
                  <a:srgbClr val="A33A3A"/>
                </a:solidFill>
                <a:latin typeface="Arial"/>
                <a:ea typeface="Arial"/>
                <a:cs typeface="Arial"/>
              </a:rPr>
              <a:t>electricity · runtime · GPU peak</a:t>
            </a:r>
          </a:p>
        </p:txBody>
      </p:sp>
      <p:sp>
        <p:nvSpPr>
          <p:cNvPr id="37" name="TextBox 36">
            <a:extLst>
              <a:ext uri="{FF2B5EF4-FFF2-40B4-BE49-F238E27FC236}">
                <a16:creationId xmlns:a16="http://schemas.microsoft.com/office/drawing/2014/main" id="{2F0FCF5C-955A-1241-DD29-9425E1361B43}"/>
              </a:ext>
            </a:extLst>
          </p:cNvPr>
          <p:cNvSpPr txBox="1"/>
          <p:nvPr/>
        </p:nvSpPr>
        <p:spPr>
          <a:xfrm>
            <a:off x="169265" y="6259168"/>
            <a:ext cx="9514464" cy="276999"/>
          </a:xfrm>
          <a:prstGeom prst="rect">
            <a:avLst/>
          </a:prstGeom>
          <a:noFill/>
        </p:spPr>
        <p:txBody>
          <a:bodyPr wrap="none" rtlCol="0">
            <a:spAutoFit/>
          </a:bodyPr>
          <a:lstStyle/>
          <a:p>
            <a:r>
              <a:rPr lang="en-IL" sz="1200" dirty="0"/>
              <a:t>Gupta, Manas, et al. "Is bio-inspired learning better than backprop? benchmarking bio learning vs. backprop." </a:t>
            </a:r>
            <a:r>
              <a:rPr lang="en-IL" sz="1200" i="1" dirty="0" err="1"/>
              <a:t>arXiv</a:t>
            </a:r>
            <a:r>
              <a:rPr lang="en-IL" sz="1200" i="1" dirty="0"/>
              <a:t> preprint arXiv:2212.04614</a:t>
            </a:r>
            <a:r>
              <a:rPr lang="en-IL" sz="1200" dirty="0"/>
              <a:t> (2022).</a:t>
            </a:r>
          </a:p>
        </p:txBody>
      </p:sp>
    </p:spTree>
    <p:extLst>
      <p:ext uri="{BB962C8B-B14F-4D97-AF65-F5344CB8AC3E}">
        <p14:creationId xmlns:p14="http://schemas.microsoft.com/office/powerpoint/2010/main" val="201100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81CE143A-FFBF-4B00-800E-41B9D1F1E19D}"/>
              </a:ext>
            </a:extLst>
          </p:cNvPr>
          <p:cNvSpPr>
            <a:spLocks noGrp="1"/>
          </p:cNvSpPr>
          <p:nvPr/>
        </p:nvSpPr>
        <p:spPr>
          <a:xfrm>
            <a:off x="609600" y="333375"/>
            <a:ext cx="9715500" cy="514350"/>
          </a:xfrm>
          <a:prstGeom prst="rect">
            <a:avLst/>
          </a:prstGeom>
          <a:noFill/>
          <a:ln w="0">
            <a:noFill/>
          </a:ln>
        </p:spPr>
        <p:txBody>
          <a:bodyPr wrap="square" lIns="0" tIns="0" rIns="0" bIns="0" anchor="t">
            <a:normAutofit/>
          </a:bodyPr>
          <a:lstStyle/>
          <a:p>
            <a:pPr algn="l">
              <a:defRPr sz="2550" b="1">
                <a:solidFill>
                  <a:srgbClr val="17222F"/>
                </a:solidFill>
                <a:latin typeface="Arial"/>
                <a:ea typeface="Arial"/>
                <a:cs typeface="Arial"/>
              </a:defRPr>
            </a:pPr>
            <a:r>
              <a:rPr sz="2550" b="1">
                <a:solidFill>
                  <a:srgbClr val="17222F"/>
                </a:solidFill>
                <a:latin typeface="Arial"/>
                <a:ea typeface="Arial"/>
                <a:cs typeface="Arial"/>
              </a:rPr>
              <a:t>Architecture and four execution models</a:t>
            </a:r>
          </a:p>
        </p:txBody>
      </p:sp>
      <p:sp>
        <p:nvSpPr>
          <p:cNvPr id="2" name="Straight Connector 1">
            <a:extLst>
              <a:ext uri="{FF2B5EF4-FFF2-40B4-BE49-F238E27FC236}">
                <a16:creationId xmlns:a16="http://schemas.microsoft.com/office/drawing/2014/main" id="{D051BA80-3D4B-4333-915B-06233F5D4C52}"/>
              </a:ext>
            </a:extLst>
          </p:cNvPr>
          <p:cNvSpPr>
            <a:spLocks noGrp="1"/>
          </p:cNvSpPr>
          <p:nvPr/>
        </p:nvSpPr>
        <p:spPr>
          <a:xfrm>
            <a:off x="609600" y="942975"/>
            <a:ext cx="10972800" cy="9525"/>
          </a:xfrm>
          <a:prstGeom prst="line">
            <a:avLst/>
          </a:prstGeom>
          <a:noFill/>
          <a:ln w="9525">
            <a:solidFill>
              <a:srgbClr val="D9E0E5"/>
            </a:solidFill>
            <a:prstDash val="solid"/>
          </a:ln>
        </p:spPr>
        <p:txBody>
          <a:bodyPr/>
          <a:lstStyle/>
          <a:p>
            <a:endParaRPr lang="en-IL"/>
          </a:p>
        </p:txBody>
      </p:sp>
      <p:sp>
        <p:nvSpPr>
          <p:cNvPr id="3" name="Rectangle 2">
            <a:extLst>
              <a:ext uri="{FF2B5EF4-FFF2-40B4-BE49-F238E27FC236}">
                <a16:creationId xmlns:a16="http://schemas.microsoft.com/office/drawing/2014/main" id="{2A2794B9-3084-405E-99F6-8CBDE6C192A5}"/>
              </a:ext>
            </a:extLst>
          </p:cNvPr>
          <p:cNvSpPr>
            <a:spLocks noGrp="1"/>
          </p:cNvSpPr>
          <p:nvPr/>
        </p:nvSpPr>
        <p:spPr>
          <a:xfrm>
            <a:off x="11144250" y="381000"/>
            <a:ext cx="438150" cy="285750"/>
          </a:xfrm>
          <a:prstGeom prst="rect">
            <a:avLst/>
          </a:prstGeom>
          <a:noFill/>
          <a:ln w="0">
            <a:noFill/>
          </a:ln>
        </p:spPr>
        <p:txBody>
          <a:bodyPr wrap="square" lIns="0" tIns="0" rIns="0" bIns="0" anchor="t">
            <a:normAutofit/>
          </a:bodyPr>
          <a:lstStyle/>
          <a:p>
            <a:pPr algn="r">
              <a:defRPr sz="1125" b="1">
                <a:solidFill>
                  <a:srgbClr val="526272"/>
                </a:solidFill>
                <a:latin typeface="Arial"/>
                <a:ea typeface="Arial"/>
                <a:cs typeface="Arial"/>
              </a:defRPr>
            </a:pPr>
            <a:r>
              <a:rPr sz="1125" b="1">
                <a:solidFill>
                  <a:srgbClr val="526272"/>
                </a:solidFill>
                <a:latin typeface="Arial"/>
                <a:ea typeface="Arial"/>
                <a:cs typeface="Arial"/>
              </a:rPr>
              <a:t>03</a:t>
            </a:r>
          </a:p>
        </p:txBody>
      </p:sp>
      <p:sp>
        <p:nvSpPr>
          <p:cNvPr id="4" name="Rectangle: Rounded Corners 3">
            <a:extLst>
              <a:ext uri="{FF2B5EF4-FFF2-40B4-BE49-F238E27FC236}">
                <a16:creationId xmlns:a16="http://schemas.microsoft.com/office/drawing/2014/main" id="{F584DE94-53AB-42C0-831D-E26645BCEAA9}"/>
              </a:ext>
            </a:extLst>
          </p:cNvPr>
          <p:cNvSpPr>
            <a:spLocks noGrp="1"/>
          </p:cNvSpPr>
          <p:nvPr/>
        </p:nvSpPr>
        <p:spPr>
          <a:xfrm>
            <a:off x="685800" y="1343025"/>
            <a:ext cx="1238250" cy="876300"/>
          </a:xfrm>
          <a:prstGeom prst="roundRect">
            <a:avLst>
              <a:gd name="adj" fmla="val 13043"/>
            </a:avLst>
          </a:prstGeom>
          <a:solidFill>
            <a:srgbClr val="FFFFFF"/>
          </a:solidFill>
          <a:ln w="9525">
            <a:solidFill>
              <a:srgbClr val="526272"/>
            </a:solidFill>
            <a:prstDash val="solid"/>
          </a:ln>
        </p:spPr>
        <p:txBody>
          <a:bodyPr/>
          <a:lstStyle/>
          <a:p>
            <a:endParaRPr lang="en-IL"/>
          </a:p>
        </p:txBody>
      </p:sp>
      <p:sp>
        <p:nvSpPr>
          <p:cNvPr id="5" name="Rectangle 4">
            <a:extLst>
              <a:ext uri="{FF2B5EF4-FFF2-40B4-BE49-F238E27FC236}">
                <a16:creationId xmlns:a16="http://schemas.microsoft.com/office/drawing/2014/main" id="{285B3952-3121-43E1-BED7-FCFE594EA045}"/>
              </a:ext>
            </a:extLst>
          </p:cNvPr>
          <p:cNvSpPr>
            <a:spLocks noGrp="1"/>
          </p:cNvSpPr>
          <p:nvPr/>
        </p:nvSpPr>
        <p:spPr>
          <a:xfrm>
            <a:off x="781050" y="1495425"/>
            <a:ext cx="1047750" cy="266700"/>
          </a:xfrm>
          <a:prstGeom prst="rect">
            <a:avLst/>
          </a:prstGeom>
          <a:noFill/>
          <a:ln w="0">
            <a:noFill/>
          </a:ln>
        </p:spPr>
        <p:txBody>
          <a:bodyPr wrap="square" lIns="0" tIns="0" rIns="0" bIns="0" anchor="t">
            <a:normAutofit/>
          </a:bodyPr>
          <a:lstStyle/>
          <a:p>
            <a:pPr algn="ctr">
              <a:defRPr sz="1500" b="1">
                <a:solidFill>
                  <a:srgbClr val="526272"/>
                </a:solidFill>
                <a:latin typeface="Arial"/>
                <a:ea typeface="Arial"/>
                <a:cs typeface="Arial"/>
              </a:defRPr>
            </a:pPr>
            <a:r>
              <a:rPr sz="1500" b="1">
                <a:solidFill>
                  <a:srgbClr val="526272"/>
                </a:solidFill>
                <a:latin typeface="Arial"/>
                <a:ea typeface="Arial"/>
                <a:cs typeface="Arial"/>
              </a:rPr>
              <a:t>Input</a:t>
            </a:r>
          </a:p>
        </p:txBody>
      </p:sp>
      <p:sp>
        <p:nvSpPr>
          <p:cNvPr id="6" name="Rectangle 5">
            <a:extLst>
              <a:ext uri="{FF2B5EF4-FFF2-40B4-BE49-F238E27FC236}">
                <a16:creationId xmlns:a16="http://schemas.microsoft.com/office/drawing/2014/main" id="{617BF2D5-B11E-4E9E-AC4E-0BBB9EC5F4C8}"/>
              </a:ext>
            </a:extLst>
          </p:cNvPr>
          <p:cNvSpPr>
            <a:spLocks noGrp="1"/>
          </p:cNvSpPr>
          <p:nvPr/>
        </p:nvSpPr>
        <p:spPr>
          <a:xfrm>
            <a:off x="781050" y="1809750"/>
            <a:ext cx="1047750" cy="304800"/>
          </a:xfrm>
          <a:prstGeom prst="rect">
            <a:avLst/>
          </a:prstGeom>
          <a:noFill/>
          <a:ln w="0">
            <a:noFill/>
          </a:ln>
        </p:spPr>
        <p:txBody>
          <a:bodyPr wrap="square" lIns="0" tIns="0" rIns="0" bIns="0" anchor="t">
            <a:normAutofit/>
          </a:bodyPr>
          <a:lstStyle/>
          <a:p>
            <a:pPr algn="ctr">
              <a:defRPr sz="1050" b="0">
                <a:solidFill>
                  <a:srgbClr val="526272"/>
                </a:solidFill>
                <a:latin typeface="Arial"/>
                <a:ea typeface="Arial"/>
                <a:cs typeface="Arial"/>
              </a:defRPr>
            </a:pPr>
            <a:r>
              <a:rPr sz="1050" b="0">
                <a:solidFill>
                  <a:srgbClr val="526272"/>
                </a:solidFill>
                <a:latin typeface="Arial"/>
                <a:ea typeface="Arial"/>
                <a:cs typeface="Arial"/>
              </a:rPr>
              <a:t>3 × 32 × 32</a:t>
            </a:r>
          </a:p>
        </p:txBody>
      </p:sp>
      <p:sp>
        <p:nvSpPr>
          <p:cNvPr id="7" name="Rectangle: Rounded Corners 6">
            <a:extLst>
              <a:ext uri="{FF2B5EF4-FFF2-40B4-BE49-F238E27FC236}">
                <a16:creationId xmlns:a16="http://schemas.microsoft.com/office/drawing/2014/main" id="{88E06FE6-D08E-4F3E-AE50-83BC542EB173}"/>
              </a:ext>
            </a:extLst>
          </p:cNvPr>
          <p:cNvSpPr>
            <a:spLocks noGrp="1"/>
          </p:cNvSpPr>
          <p:nvPr/>
        </p:nvSpPr>
        <p:spPr>
          <a:xfrm>
            <a:off x="2305050" y="1343025"/>
            <a:ext cx="1619250" cy="876300"/>
          </a:xfrm>
          <a:prstGeom prst="roundRect">
            <a:avLst>
              <a:gd name="adj" fmla="val 13043"/>
            </a:avLst>
          </a:prstGeom>
          <a:solidFill>
            <a:srgbClr val="DCEFF8"/>
          </a:solidFill>
          <a:ln w="9525">
            <a:solidFill>
              <a:srgbClr val="0072B2"/>
            </a:solidFill>
            <a:prstDash val="solid"/>
          </a:ln>
        </p:spPr>
        <p:txBody>
          <a:bodyPr/>
          <a:lstStyle/>
          <a:p>
            <a:endParaRPr lang="en-IL"/>
          </a:p>
        </p:txBody>
      </p:sp>
      <p:sp>
        <p:nvSpPr>
          <p:cNvPr id="8" name="Rectangle 7">
            <a:extLst>
              <a:ext uri="{FF2B5EF4-FFF2-40B4-BE49-F238E27FC236}">
                <a16:creationId xmlns:a16="http://schemas.microsoft.com/office/drawing/2014/main" id="{646C1A5C-E1A2-4CF4-9490-0B98782881B9}"/>
              </a:ext>
            </a:extLst>
          </p:cNvPr>
          <p:cNvSpPr>
            <a:spLocks noGrp="1"/>
          </p:cNvSpPr>
          <p:nvPr/>
        </p:nvSpPr>
        <p:spPr>
          <a:xfrm>
            <a:off x="2400300" y="1495425"/>
            <a:ext cx="1428750" cy="266700"/>
          </a:xfrm>
          <a:prstGeom prst="rect">
            <a:avLst/>
          </a:prstGeom>
          <a:noFill/>
          <a:ln w="0">
            <a:noFill/>
          </a:ln>
        </p:spPr>
        <p:txBody>
          <a:bodyPr wrap="square" lIns="0" tIns="0" rIns="0" bIns="0" anchor="t">
            <a:normAutofit/>
          </a:bodyPr>
          <a:lstStyle/>
          <a:p>
            <a:pPr algn="ctr">
              <a:defRPr sz="1500" b="1">
                <a:solidFill>
                  <a:srgbClr val="0072B2"/>
                </a:solidFill>
                <a:latin typeface="Arial"/>
                <a:ea typeface="Arial"/>
                <a:cs typeface="Arial"/>
              </a:defRPr>
            </a:pPr>
            <a:r>
              <a:rPr sz="1500" b="1" dirty="0">
                <a:solidFill>
                  <a:srgbClr val="0072B2"/>
                </a:solidFill>
                <a:latin typeface="Arial"/>
                <a:ea typeface="Arial"/>
                <a:cs typeface="Arial"/>
              </a:rPr>
              <a:t>Conv 1</a:t>
            </a:r>
          </a:p>
        </p:txBody>
      </p:sp>
      <p:sp>
        <p:nvSpPr>
          <p:cNvPr id="9" name="Rectangle 8">
            <a:extLst>
              <a:ext uri="{FF2B5EF4-FFF2-40B4-BE49-F238E27FC236}">
                <a16:creationId xmlns:a16="http://schemas.microsoft.com/office/drawing/2014/main" id="{42E5A205-6CEE-4DA4-BD66-7DCFFC560B18}"/>
              </a:ext>
            </a:extLst>
          </p:cNvPr>
          <p:cNvSpPr>
            <a:spLocks noGrp="1"/>
          </p:cNvSpPr>
          <p:nvPr/>
        </p:nvSpPr>
        <p:spPr>
          <a:xfrm>
            <a:off x="2400300" y="1809750"/>
            <a:ext cx="1428750" cy="304800"/>
          </a:xfrm>
          <a:prstGeom prst="rect">
            <a:avLst/>
          </a:prstGeom>
          <a:noFill/>
          <a:ln w="0">
            <a:noFill/>
          </a:ln>
        </p:spPr>
        <p:txBody>
          <a:bodyPr wrap="square" lIns="0" tIns="0" rIns="0" bIns="0" anchor="t">
            <a:normAutofit/>
          </a:bodyPr>
          <a:lstStyle/>
          <a:p>
            <a:pPr algn="ctr">
              <a:defRPr sz="1050" b="0">
                <a:solidFill>
                  <a:srgbClr val="526272"/>
                </a:solidFill>
                <a:latin typeface="Arial"/>
                <a:ea typeface="Arial"/>
                <a:cs typeface="Arial"/>
              </a:defRPr>
            </a:pPr>
            <a:r>
              <a:rPr sz="1050" b="0" dirty="0">
                <a:solidFill>
                  <a:srgbClr val="526272"/>
                </a:solidFill>
                <a:latin typeface="Arial"/>
                <a:ea typeface="Arial"/>
                <a:cs typeface="Arial"/>
              </a:rPr>
              <a:t>100</a:t>
            </a:r>
            <a:r>
              <a:rPr lang="en-IL" sz="1050" dirty="0">
                <a:solidFill>
                  <a:srgbClr val="526272"/>
                </a:solidFill>
                <a:latin typeface="Arial"/>
                <a:ea typeface="Arial"/>
                <a:cs typeface="Arial"/>
              </a:rPr>
              <a:t>×</a:t>
            </a:r>
            <a:r>
              <a:rPr sz="1050" b="0" dirty="0">
                <a:solidFill>
                  <a:srgbClr val="526272"/>
                </a:solidFill>
                <a:latin typeface="Arial"/>
                <a:ea typeface="Arial"/>
                <a:cs typeface="Arial"/>
              </a:rPr>
              <a:t>5</a:t>
            </a:r>
            <a:r>
              <a:rPr lang="en-IL" sz="1050" b="0" dirty="0">
                <a:solidFill>
                  <a:srgbClr val="526272"/>
                </a:solidFill>
                <a:latin typeface="Arial"/>
                <a:ea typeface="Arial"/>
                <a:cs typeface="Arial"/>
              </a:rPr>
              <a:t>×</a:t>
            </a:r>
            <a:r>
              <a:rPr sz="1050" b="0" dirty="0">
                <a:solidFill>
                  <a:srgbClr val="526272"/>
                </a:solidFill>
                <a:latin typeface="Arial"/>
                <a:ea typeface="Arial"/>
                <a:cs typeface="Arial"/>
              </a:rPr>
              <a:t>5 · pool 2</a:t>
            </a:r>
          </a:p>
        </p:txBody>
      </p:sp>
      <p:sp>
        <p:nvSpPr>
          <p:cNvPr id="10" name="Rectangle: Rounded Corners 9">
            <a:extLst>
              <a:ext uri="{FF2B5EF4-FFF2-40B4-BE49-F238E27FC236}">
                <a16:creationId xmlns:a16="http://schemas.microsoft.com/office/drawing/2014/main" id="{BE99A1DC-6BD1-408B-9C7A-614A0B3F4798}"/>
              </a:ext>
            </a:extLst>
          </p:cNvPr>
          <p:cNvSpPr>
            <a:spLocks noGrp="1"/>
          </p:cNvSpPr>
          <p:nvPr/>
        </p:nvSpPr>
        <p:spPr>
          <a:xfrm>
            <a:off x="4305300" y="1343025"/>
            <a:ext cx="1619250" cy="876300"/>
          </a:xfrm>
          <a:prstGeom prst="roundRect">
            <a:avLst>
              <a:gd name="adj" fmla="val 13043"/>
            </a:avLst>
          </a:prstGeom>
          <a:solidFill>
            <a:srgbClr val="DCEFF8"/>
          </a:solidFill>
          <a:ln w="9525">
            <a:solidFill>
              <a:srgbClr val="0072B2"/>
            </a:solidFill>
            <a:prstDash val="solid"/>
          </a:ln>
        </p:spPr>
        <p:txBody>
          <a:bodyPr/>
          <a:lstStyle/>
          <a:p>
            <a:endParaRPr lang="en-IL"/>
          </a:p>
        </p:txBody>
      </p:sp>
      <p:sp>
        <p:nvSpPr>
          <p:cNvPr id="11" name="Rectangle 10">
            <a:extLst>
              <a:ext uri="{FF2B5EF4-FFF2-40B4-BE49-F238E27FC236}">
                <a16:creationId xmlns:a16="http://schemas.microsoft.com/office/drawing/2014/main" id="{FDED0072-C95F-4849-A6F3-184616735F20}"/>
              </a:ext>
            </a:extLst>
          </p:cNvPr>
          <p:cNvSpPr>
            <a:spLocks noGrp="1"/>
          </p:cNvSpPr>
          <p:nvPr/>
        </p:nvSpPr>
        <p:spPr>
          <a:xfrm>
            <a:off x="4400550" y="1495425"/>
            <a:ext cx="1428750" cy="266700"/>
          </a:xfrm>
          <a:prstGeom prst="rect">
            <a:avLst/>
          </a:prstGeom>
          <a:noFill/>
          <a:ln w="0">
            <a:noFill/>
          </a:ln>
        </p:spPr>
        <p:txBody>
          <a:bodyPr wrap="square" lIns="0" tIns="0" rIns="0" bIns="0" anchor="t">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Conv 2</a:t>
            </a:r>
          </a:p>
        </p:txBody>
      </p:sp>
      <p:sp>
        <p:nvSpPr>
          <p:cNvPr id="12" name="Rectangle 11">
            <a:extLst>
              <a:ext uri="{FF2B5EF4-FFF2-40B4-BE49-F238E27FC236}">
                <a16:creationId xmlns:a16="http://schemas.microsoft.com/office/drawing/2014/main" id="{1017843C-624F-4098-A5C8-A4A0F3574C6E}"/>
              </a:ext>
            </a:extLst>
          </p:cNvPr>
          <p:cNvSpPr>
            <a:spLocks noGrp="1"/>
          </p:cNvSpPr>
          <p:nvPr/>
        </p:nvSpPr>
        <p:spPr>
          <a:xfrm>
            <a:off x="4400550" y="1809750"/>
            <a:ext cx="1428750" cy="304800"/>
          </a:xfrm>
          <a:prstGeom prst="rect">
            <a:avLst/>
          </a:prstGeom>
          <a:noFill/>
          <a:ln w="0">
            <a:noFill/>
          </a:ln>
        </p:spPr>
        <p:txBody>
          <a:bodyPr wrap="square" lIns="0" tIns="0" rIns="0" bIns="0" anchor="t">
            <a:normAutofit/>
          </a:bodyPr>
          <a:lstStyle/>
          <a:p>
            <a:pPr algn="ctr">
              <a:defRPr sz="1050" b="0">
                <a:solidFill>
                  <a:srgbClr val="526272"/>
                </a:solidFill>
                <a:latin typeface="Arial"/>
                <a:ea typeface="Arial"/>
                <a:cs typeface="Arial"/>
              </a:defRPr>
            </a:pPr>
            <a:r>
              <a:rPr sz="1050" b="0" dirty="0">
                <a:solidFill>
                  <a:srgbClr val="526272"/>
                </a:solidFill>
                <a:latin typeface="Arial"/>
                <a:ea typeface="Arial"/>
                <a:cs typeface="Arial"/>
              </a:rPr>
              <a:t>196</a:t>
            </a:r>
            <a:r>
              <a:rPr lang="en-IL" sz="1050" dirty="0">
                <a:solidFill>
                  <a:srgbClr val="526272"/>
                </a:solidFill>
                <a:latin typeface="Arial"/>
                <a:ea typeface="Arial"/>
                <a:cs typeface="Arial"/>
              </a:rPr>
              <a:t>×</a:t>
            </a:r>
            <a:r>
              <a:rPr sz="1050" b="0" dirty="0">
                <a:solidFill>
                  <a:srgbClr val="526272"/>
                </a:solidFill>
                <a:latin typeface="Arial"/>
                <a:ea typeface="Arial"/>
                <a:cs typeface="Arial"/>
              </a:rPr>
              <a:t>3×3 · pool 2</a:t>
            </a:r>
          </a:p>
        </p:txBody>
      </p:sp>
      <p:sp>
        <p:nvSpPr>
          <p:cNvPr id="13" name="Rectangle: Rounded Corners 12">
            <a:extLst>
              <a:ext uri="{FF2B5EF4-FFF2-40B4-BE49-F238E27FC236}">
                <a16:creationId xmlns:a16="http://schemas.microsoft.com/office/drawing/2014/main" id="{77BE7322-89AF-4355-BA89-A50C12000C31}"/>
              </a:ext>
            </a:extLst>
          </p:cNvPr>
          <p:cNvSpPr>
            <a:spLocks noGrp="1"/>
          </p:cNvSpPr>
          <p:nvPr/>
        </p:nvSpPr>
        <p:spPr>
          <a:xfrm>
            <a:off x="6305550" y="1343025"/>
            <a:ext cx="1619250" cy="876300"/>
          </a:xfrm>
          <a:prstGeom prst="roundRect">
            <a:avLst>
              <a:gd name="adj" fmla="val 13043"/>
            </a:avLst>
          </a:prstGeom>
          <a:solidFill>
            <a:srgbClr val="DCEFF8"/>
          </a:solidFill>
          <a:ln w="9525">
            <a:solidFill>
              <a:srgbClr val="0072B2"/>
            </a:solidFill>
            <a:prstDash val="solid"/>
          </a:ln>
        </p:spPr>
        <p:txBody>
          <a:bodyPr/>
          <a:lstStyle/>
          <a:p>
            <a:endParaRPr lang="en-IL"/>
          </a:p>
        </p:txBody>
      </p:sp>
      <p:sp>
        <p:nvSpPr>
          <p:cNvPr id="14" name="Rectangle 13">
            <a:extLst>
              <a:ext uri="{FF2B5EF4-FFF2-40B4-BE49-F238E27FC236}">
                <a16:creationId xmlns:a16="http://schemas.microsoft.com/office/drawing/2014/main" id="{47738079-2E28-49F0-822B-97830833917A}"/>
              </a:ext>
            </a:extLst>
          </p:cNvPr>
          <p:cNvSpPr>
            <a:spLocks noGrp="1"/>
          </p:cNvSpPr>
          <p:nvPr/>
        </p:nvSpPr>
        <p:spPr>
          <a:xfrm>
            <a:off x="6400800" y="1495425"/>
            <a:ext cx="1428750" cy="266700"/>
          </a:xfrm>
          <a:prstGeom prst="rect">
            <a:avLst/>
          </a:prstGeom>
          <a:noFill/>
          <a:ln w="0">
            <a:noFill/>
          </a:ln>
        </p:spPr>
        <p:txBody>
          <a:bodyPr wrap="square" lIns="0" tIns="0" rIns="0" bIns="0" anchor="t">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Conv 3</a:t>
            </a:r>
          </a:p>
        </p:txBody>
      </p:sp>
      <p:sp>
        <p:nvSpPr>
          <p:cNvPr id="15" name="Rectangle 14">
            <a:extLst>
              <a:ext uri="{FF2B5EF4-FFF2-40B4-BE49-F238E27FC236}">
                <a16:creationId xmlns:a16="http://schemas.microsoft.com/office/drawing/2014/main" id="{A20AB6AC-F75C-4E0C-9A88-339ABB90225E}"/>
              </a:ext>
            </a:extLst>
          </p:cNvPr>
          <p:cNvSpPr>
            <a:spLocks noGrp="1"/>
          </p:cNvSpPr>
          <p:nvPr/>
        </p:nvSpPr>
        <p:spPr>
          <a:xfrm>
            <a:off x="6400800" y="1809750"/>
            <a:ext cx="1428750" cy="304800"/>
          </a:xfrm>
          <a:prstGeom prst="rect">
            <a:avLst/>
          </a:prstGeom>
          <a:noFill/>
          <a:ln w="0">
            <a:noFill/>
          </a:ln>
        </p:spPr>
        <p:txBody>
          <a:bodyPr wrap="square" lIns="0" tIns="0" rIns="0" bIns="0" anchor="t">
            <a:normAutofit/>
          </a:bodyPr>
          <a:lstStyle/>
          <a:p>
            <a:pPr algn="ctr">
              <a:defRPr sz="1050" b="0">
                <a:solidFill>
                  <a:srgbClr val="526272"/>
                </a:solidFill>
                <a:latin typeface="Arial"/>
                <a:ea typeface="Arial"/>
                <a:cs typeface="Arial"/>
              </a:defRPr>
            </a:pPr>
            <a:r>
              <a:rPr sz="1050" b="0" dirty="0">
                <a:solidFill>
                  <a:srgbClr val="526272"/>
                </a:solidFill>
                <a:latin typeface="Arial"/>
                <a:ea typeface="Arial"/>
                <a:cs typeface="Arial"/>
              </a:rPr>
              <a:t>400</a:t>
            </a:r>
            <a:r>
              <a:rPr lang="en-IL" sz="1050" dirty="0">
                <a:solidFill>
                  <a:srgbClr val="526272"/>
                </a:solidFill>
                <a:latin typeface="Arial"/>
                <a:ea typeface="Arial"/>
                <a:cs typeface="Arial"/>
              </a:rPr>
              <a:t>×</a:t>
            </a:r>
            <a:r>
              <a:rPr sz="1050" b="0" dirty="0">
                <a:solidFill>
                  <a:srgbClr val="526272"/>
                </a:solidFill>
                <a:latin typeface="Arial"/>
                <a:ea typeface="Arial"/>
                <a:cs typeface="Arial"/>
              </a:rPr>
              <a:t>3×3 · pool 2</a:t>
            </a:r>
          </a:p>
        </p:txBody>
      </p:sp>
      <p:sp>
        <p:nvSpPr>
          <p:cNvPr id="16" name="Rectangle: Rounded Corners 15">
            <a:extLst>
              <a:ext uri="{FF2B5EF4-FFF2-40B4-BE49-F238E27FC236}">
                <a16:creationId xmlns:a16="http://schemas.microsoft.com/office/drawing/2014/main" id="{09071F69-42F4-4BFE-9FFA-1FC6B1957FE1}"/>
              </a:ext>
            </a:extLst>
          </p:cNvPr>
          <p:cNvSpPr>
            <a:spLocks noGrp="1"/>
          </p:cNvSpPr>
          <p:nvPr/>
        </p:nvSpPr>
        <p:spPr>
          <a:xfrm>
            <a:off x="8305800" y="1343025"/>
            <a:ext cx="1428750" cy="876300"/>
          </a:xfrm>
          <a:prstGeom prst="roundRect">
            <a:avLst>
              <a:gd name="adj" fmla="val 13043"/>
            </a:avLst>
          </a:prstGeom>
          <a:solidFill>
            <a:srgbClr val="FFFFFF"/>
          </a:solidFill>
          <a:ln w="9525">
            <a:solidFill>
              <a:srgbClr val="526272"/>
            </a:solidFill>
            <a:prstDash val="solid"/>
          </a:ln>
        </p:spPr>
        <p:txBody>
          <a:bodyPr/>
          <a:lstStyle/>
          <a:p>
            <a:endParaRPr lang="en-IL"/>
          </a:p>
        </p:txBody>
      </p:sp>
      <p:sp>
        <p:nvSpPr>
          <p:cNvPr id="17" name="Rectangle 16">
            <a:extLst>
              <a:ext uri="{FF2B5EF4-FFF2-40B4-BE49-F238E27FC236}">
                <a16:creationId xmlns:a16="http://schemas.microsoft.com/office/drawing/2014/main" id="{1FC9AC4E-3DC2-4E1F-AC20-9E1FC689F382}"/>
              </a:ext>
            </a:extLst>
          </p:cNvPr>
          <p:cNvSpPr>
            <a:spLocks noGrp="1"/>
          </p:cNvSpPr>
          <p:nvPr/>
        </p:nvSpPr>
        <p:spPr>
          <a:xfrm>
            <a:off x="8401050" y="1495425"/>
            <a:ext cx="1238250" cy="266700"/>
          </a:xfrm>
          <a:prstGeom prst="rect">
            <a:avLst/>
          </a:prstGeom>
          <a:noFill/>
          <a:ln w="0">
            <a:noFill/>
          </a:ln>
        </p:spPr>
        <p:txBody>
          <a:bodyPr wrap="square" lIns="0" tIns="0" rIns="0" bIns="0" anchor="t">
            <a:normAutofit/>
          </a:bodyPr>
          <a:lstStyle/>
          <a:p>
            <a:pPr algn="ctr">
              <a:defRPr sz="1500" b="1">
                <a:solidFill>
                  <a:srgbClr val="526272"/>
                </a:solidFill>
                <a:latin typeface="Arial"/>
                <a:ea typeface="Arial"/>
                <a:cs typeface="Arial"/>
              </a:defRPr>
            </a:pPr>
            <a:r>
              <a:rPr sz="1500" b="1">
                <a:solidFill>
                  <a:srgbClr val="526272"/>
                </a:solidFill>
                <a:latin typeface="Arial"/>
                <a:ea typeface="Arial"/>
                <a:cs typeface="Arial"/>
              </a:rPr>
              <a:t>Features</a:t>
            </a:r>
          </a:p>
        </p:txBody>
      </p:sp>
      <p:sp>
        <p:nvSpPr>
          <p:cNvPr id="18" name="Rectangle 17">
            <a:extLst>
              <a:ext uri="{FF2B5EF4-FFF2-40B4-BE49-F238E27FC236}">
                <a16:creationId xmlns:a16="http://schemas.microsoft.com/office/drawing/2014/main" id="{B7A05DF5-08C3-447E-8248-940F48BF78A4}"/>
              </a:ext>
            </a:extLst>
          </p:cNvPr>
          <p:cNvSpPr>
            <a:spLocks noGrp="1"/>
          </p:cNvSpPr>
          <p:nvPr/>
        </p:nvSpPr>
        <p:spPr>
          <a:xfrm>
            <a:off x="8401050" y="1809750"/>
            <a:ext cx="1238250" cy="304800"/>
          </a:xfrm>
          <a:prstGeom prst="rect">
            <a:avLst/>
          </a:prstGeom>
          <a:noFill/>
          <a:ln w="0">
            <a:noFill/>
          </a:ln>
        </p:spPr>
        <p:txBody>
          <a:bodyPr wrap="square" lIns="0" tIns="0" rIns="0" bIns="0" anchor="t">
            <a:normAutofit/>
          </a:bodyPr>
          <a:lstStyle/>
          <a:p>
            <a:pPr algn="ctr">
              <a:defRPr sz="1050" b="0">
                <a:solidFill>
                  <a:srgbClr val="526272"/>
                </a:solidFill>
                <a:latin typeface="Arial"/>
                <a:ea typeface="Arial"/>
                <a:cs typeface="Arial"/>
              </a:defRPr>
            </a:pPr>
            <a:r>
              <a:rPr sz="1050" b="0" dirty="0">
                <a:solidFill>
                  <a:srgbClr val="526272"/>
                </a:solidFill>
                <a:latin typeface="Arial"/>
                <a:ea typeface="Arial"/>
                <a:cs typeface="Arial"/>
              </a:rPr>
              <a:t>400 × 2 × 2 = 1,600</a:t>
            </a:r>
          </a:p>
        </p:txBody>
      </p:sp>
      <p:sp>
        <p:nvSpPr>
          <p:cNvPr id="19" name="Rectangle: Rounded Corners 18">
            <a:extLst>
              <a:ext uri="{FF2B5EF4-FFF2-40B4-BE49-F238E27FC236}">
                <a16:creationId xmlns:a16="http://schemas.microsoft.com/office/drawing/2014/main" id="{2854208B-71AE-4E30-8C5F-054B57287434}"/>
              </a:ext>
            </a:extLst>
          </p:cNvPr>
          <p:cNvSpPr>
            <a:spLocks noGrp="1"/>
          </p:cNvSpPr>
          <p:nvPr/>
        </p:nvSpPr>
        <p:spPr>
          <a:xfrm>
            <a:off x="10115550" y="1343025"/>
            <a:ext cx="1381125" cy="876300"/>
          </a:xfrm>
          <a:prstGeom prst="roundRect">
            <a:avLst>
              <a:gd name="adj" fmla="val 13043"/>
            </a:avLst>
          </a:prstGeom>
          <a:solidFill>
            <a:srgbClr val="FFFFFF"/>
          </a:solidFill>
          <a:ln w="9525">
            <a:solidFill>
              <a:srgbClr val="526272"/>
            </a:solidFill>
            <a:prstDash val="solid"/>
          </a:ln>
        </p:spPr>
        <p:txBody>
          <a:bodyPr/>
          <a:lstStyle/>
          <a:p>
            <a:endParaRPr lang="en-IL"/>
          </a:p>
        </p:txBody>
      </p:sp>
      <p:sp>
        <p:nvSpPr>
          <p:cNvPr id="20" name="Rectangle 19">
            <a:extLst>
              <a:ext uri="{FF2B5EF4-FFF2-40B4-BE49-F238E27FC236}">
                <a16:creationId xmlns:a16="http://schemas.microsoft.com/office/drawing/2014/main" id="{73B6044E-65D9-4960-8930-7D40B93A1C27}"/>
              </a:ext>
            </a:extLst>
          </p:cNvPr>
          <p:cNvSpPr>
            <a:spLocks noGrp="1"/>
          </p:cNvSpPr>
          <p:nvPr/>
        </p:nvSpPr>
        <p:spPr>
          <a:xfrm>
            <a:off x="10210800" y="1495425"/>
            <a:ext cx="1190625" cy="266700"/>
          </a:xfrm>
          <a:prstGeom prst="rect">
            <a:avLst/>
          </a:prstGeom>
          <a:noFill/>
          <a:ln w="0">
            <a:noFill/>
          </a:ln>
        </p:spPr>
        <p:txBody>
          <a:bodyPr wrap="square" lIns="0" tIns="0" rIns="0" bIns="0" anchor="t">
            <a:normAutofit/>
          </a:bodyPr>
          <a:lstStyle/>
          <a:p>
            <a:pPr algn="ctr">
              <a:defRPr sz="1500" b="1">
                <a:solidFill>
                  <a:srgbClr val="526272"/>
                </a:solidFill>
                <a:latin typeface="Arial"/>
                <a:ea typeface="Arial"/>
                <a:cs typeface="Arial"/>
              </a:defRPr>
            </a:pPr>
            <a:r>
              <a:rPr sz="1500" b="1">
                <a:solidFill>
                  <a:srgbClr val="526272"/>
                </a:solidFill>
                <a:latin typeface="Arial"/>
                <a:ea typeface="Arial"/>
                <a:cs typeface="Arial"/>
              </a:rPr>
              <a:t>Ridge</a:t>
            </a:r>
          </a:p>
        </p:txBody>
      </p:sp>
      <p:sp>
        <p:nvSpPr>
          <p:cNvPr id="21" name="Rectangle 20">
            <a:extLst>
              <a:ext uri="{FF2B5EF4-FFF2-40B4-BE49-F238E27FC236}">
                <a16:creationId xmlns:a16="http://schemas.microsoft.com/office/drawing/2014/main" id="{D872E8F2-E0A2-41B2-A927-9F02F94B2B0A}"/>
              </a:ext>
            </a:extLst>
          </p:cNvPr>
          <p:cNvSpPr>
            <a:spLocks noGrp="1"/>
          </p:cNvSpPr>
          <p:nvPr/>
        </p:nvSpPr>
        <p:spPr>
          <a:xfrm>
            <a:off x="10210800" y="1809750"/>
            <a:ext cx="1190625" cy="304800"/>
          </a:xfrm>
          <a:prstGeom prst="rect">
            <a:avLst/>
          </a:prstGeom>
          <a:noFill/>
          <a:ln w="0">
            <a:noFill/>
          </a:ln>
        </p:spPr>
        <p:txBody>
          <a:bodyPr wrap="square" lIns="0" tIns="0" rIns="0" bIns="0" anchor="t">
            <a:normAutofit/>
          </a:bodyPr>
          <a:lstStyle/>
          <a:p>
            <a:pPr algn="ctr">
              <a:defRPr sz="1050" b="0">
                <a:solidFill>
                  <a:srgbClr val="526272"/>
                </a:solidFill>
                <a:latin typeface="Arial"/>
                <a:ea typeface="Arial"/>
                <a:cs typeface="Arial"/>
              </a:defRPr>
            </a:pPr>
            <a:r>
              <a:rPr sz="1050" b="0">
                <a:solidFill>
                  <a:srgbClr val="526272"/>
                </a:solidFill>
                <a:latin typeface="Arial"/>
                <a:ea typeface="Arial"/>
                <a:cs typeface="Arial"/>
              </a:rPr>
              <a:t>CIFAR-10 readout</a:t>
            </a:r>
          </a:p>
        </p:txBody>
      </p:sp>
      <p:sp>
        <p:nvSpPr>
          <p:cNvPr id="22" name="Rectangle 21">
            <a:extLst>
              <a:ext uri="{FF2B5EF4-FFF2-40B4-BE49-F238E27FC236}">
                <a16:creationId xmlns:a16="http://schemas.microsoft.com/office/drawing/2014/main" id="{DF33E8D4-9D1B-4C65-AB57-EC4C2D4CFF9B}"/>
              </a:ext>
            </a:extLst>
          </p:cNvPr>
          <p:cNvSpPr>
            <a:spLocks noGrp="1"/>
          </p:cNvSpPr>
          <p:nvPr/>
        </p:nvSpPr>
        <p:spPr>
          <a:xfrm>
            <a:off x="1943100" y="1581150"/>
            <a:ext cx="361950" cy="400050"/>
          </a:xfrm>
          <a:prstGeom prst="rect">
            <a:avLst/>
          </a:prstGeom>
          <a:noFill/>
          <a:ln w="0">
            <a:noFill/>
          </a:ln>
        </p:spPr>
        <p:txBody>
          <a:bodyPr wrap="square" lIns="0" tIns="0" rIns="0" bIns="0" anchor="t">
            <a:normAutofit/>
          </a:bodyPr>
          <a:lstStyle/>
          <a:p>
            <a:pPr algn="ctr">
              <a:defRPr sz="2400" b="1">
                <a:solidFill>
                  <a:srgbClr val="526272"/>
                </a:solidFill>
                <a:latin typeface="Arial"/>
                <a:ea typeface="Arial"/>
                <a:cs typeface="Arial"/>
              </a:defRPr>
            </a:pPr>
            <a:r>
              <a:rPr sz="2400" b="1">
                <a:solidFill>
                  <a:srgbClr val="526272"/>
                </a:solidFill>
                <a:latin typeface="Arial"/>
                <a:ea typeface="Arial"/>
                <a:cs typeface="Arial"/>
              </a:rPr>
              <a:t>›</a:t>
            </a:r>
          </a:p>
        </p:txBody>
      </p:sp>
      <p:sp>
        <p:nvSpPr>
          <p:cNvPr id="23" name="Rectangle 22">
            <a:extLst>
              <a:ext uri="{FF2B5EF4-FFF2-40B4-BE49-F238E27FC236}">
                <a16:creationId xmlns:a16="http://schemas.microsoft.com/office/drawing/2014/main" id="{948B2D21-B582-4C75-AFAB-2E12B45B6609}"/>
              </a:ext>
            </a:extLst>
          </p:cNvPr>
          <p:cNvSpPr>
            <a:spLocks noGrp="1"/>
          </p:cNvSpPr>
          <p:nvPr/>
        </p:nvSpPr>
        <p:spPr>
          <a:xfrm>
            <a:off x="3943350" y="1581150"/>
            <a:ext cx="361950" cy="400050"/>
          </a:xfrm>
          <a:prstGeom prst="rect">
            <a:avLst/>
          </a:prstGeom>
          <a:noFill/>
          <a:ln w="0">
            <a:noFill/>
          </a:ln>
        </p:spPr>
        <p:txBody>
          <a:bodyPr wrap="square" lIns="0" tIns="0" rIns="0" bIns="0" anchor="t">
            <a:normAutofit/>
          </a:bodyPr>
          <a:lstStyle/>
          <a:p>
            <a:pPr algn="ctr">
              <a:defRPr sz="2400" b="1">
                <a:solidFill>
                  <a:srgbClr val="526272"/>
                </a:solidFill>
                <a:latin typeface="Arial"/>
                <a:ea typeface="Arial"/>
                <a:cs typeface="Arial"/>
              </a:defRPr>
            </a:pPr>
            <a:r>
              <a:rPr sz="2400" b="1">
                <a:solidFill>
                  <a:srgbClr val="526272"/>
                </a:solidFill>
                <a:latin typeface="Arial"/>
                <a:ea typeface="Arial"/>
                <a:cs typeface="Arial"/>
              </a:rPr>
              <a:t>›</a:t>
            </a:r>
          </a:p>
        </p:txBody>
      </p:sp>
      <p:sp>
        <p:nvSpPr>
          <p:cNvPr id="24" name="Rectangle 23">
            <a:extLst>
              <a:ext uri="{FF2B5EF4-FFF2-40B4-BE49-F238E27FC236}">
                <a16:creationId xmlns:a16="http://schemas.microsoft.com/office/drawing/2014/main" id="{1ED64F61-EC18-4F4C-A907-8A6D2BE7B58C}"/>
              </a:ext>
            </a:extLst>
          </p:cNvPr>
          <p:cNvSpPr>
            <a:spLocks noGrp="1"/>
          </p:cNvSpPr>
          <p:nvPr/>
        </p:nvSpPr>
        <p:spPr>
          <a:xfrm>
            <a:off x="5943600" y="1581150"/>
            <a:ext cx="361950" cy="400050"/>
          </a:xfrm>
          <a:prstGeom prst="rect">
            <a:avLst/>
          </a:prstGeom>
          <a:noFill/>
          <a:ln w="0">
            <a:noFill/>
          </a:ln>
        </p:spPr>
        <p:txBody>
          <a:bodyPr wrap="square" lIns="0" tIns="0" rIns="0" bIns="0" anchor="t">
            <a:normAutofit/>
          </a:bodyPr>
          <a:lstStyle/>
          <a:p>
            <a:pPr algn="ctr">
              <a:defRPr sz="2400" b="1">
                <a:solidFill>
                  <a:srgbClr val="526272"/>
                </a:solidFill>
                <a:latin typeface="Arial"/>
                <a:ea typeface="Arial"/>
                <a:cs typeface="Arial"/>
              </a:defRPr>
            </a:pPr>
            <a:r>
              <a:rPr sz="2400" b="1">
                <a:solidFill>
                  <a:srgbClr val="526272"/>
                </a:solidFill>
                <a:latin typeface="Arial"/>
                <a:ea typeface="Arial"/>
                <a:cs typeface="Arial"/>
              </a:rPr>
              <a:t>›</a:t>
            </a:r>
          </a:p>
        </p:txBody>
      </p:sp>
      <p:sp>
        <p:nvSpPr>
          <p:cNvPr id="25" name="Rectangle 24">
            <a:extLst>
              <a:ext uri="{FF2B5EF4-FFF2-40B4-BE49-F238E27FC236}">
                <a16:creationId xmlns:a16="http://schemas.microsoft.com/office/drawing/2014/main" id="{3941FA32-C687-4EA7-A0F6-74E6D040623E}"/>
              </a:ext>
            </a:extLst>
          </p:cNvPr>
          <p:cNvSpPr>
            <a:spLocks noGrp="1"/>
          </p:cNvSpPr>
          <p:nvPr/>
        </p:nvSpPr>
        <p:spPr>
          <a:xfrm>
            <a:off x="7943850" y="1581150"/>
            <a:ext cx="361950" cy="400050"/>
          </a:xfrm>
          <a:prstGeom prst="rect">
            <a:avLst/>
          </a:prstGeom>
          <a:noFill/>
          <a:ln w="0">
            <a:noFill/>
          </a:ln>
        </p:spPr>
        <p:txBody>
          <a:bodyPr wrap="square" lIns="0" tIns="0" rIns="0" bIns="0" anchor="t">
            <a:normAutofit/>
          </a:bodyPr>
          <a:lstStyle/>
          <a:p>
            <a:pPr algn="ctr">
              <a:defRPr sz="2400" b="1">
                <a:solidFill>
                  <a:srgbClr val="526272"/>
                </a:solidFill>
                <a:latin typeface="Arial"/>
                <a:ea typeface="Arial"/>
                <a:cs typeface="Arial"/>
              </a:defRPr>
            </a:pPr>
            <a:r>
              <a:rPr sz="2400" b="1">
                <a:solidFill>
                  <a:srgbClr val="526272"/>
                </a:solidFill>
                <a:latin typeface="Arial"/>
                <a:ea typeface="Arial"/>
                <a:cs typeface="Arial"/>
              </a:rPr>
              <a:t>›</a:t>
            </a:r>
          </a:p>
        </p:txBody>
      </p:sp>
      <p:sp>
        <p:nvSpPr>
          <p:cNvPr id="26" name="Rectangle 25">
            <a:extLst>
              <a:ext uri="{FF2B5EF4-FFF2-40B4-BE49-F238E27FC236}">
                <a16:creationId xmlns:a16="http://schemas.microsoft.com/office/drawing/2014/main" id="{E02EBD51-4335-4845-AE33-D834ADDF6C00}"/>
              </a:ext>
            </a:extLst>
          </p:cNvPr>
          <p:cNvSpPr>
            <a:spLocks noGrp="1"/>
          </p:cNvSpPr>
          <p:nvPr/>
        </p:nvSpPr>
        <p:spPr>
          <a:xfrm>
            <a:off x="9753600" y="1581150"/>
            <a:ext cx="361950" cy="400050"/>
          </a:xfrm>
          <a:prstGeom prst="rect">
            <a:avLst/>
          </a:prstGeom>
          <a:noFill/>
          <a:ln w="0">
            <a:noFill/>
          </a:ln>
        </p:spPr>
        <p:txBody>
          <a:bodyPr wrap="square" lIns="0" tIns="0" rIns="0" bIns="0" anchor="t">
            <a:normAutofit/>
          </a:bodyPr>
          <a:lstStyle/>
          <a:p>
            <a:pPr algn="ctr">
              <a:defRPr sz="2400" b="1">
                <a:solidFill>
                  <a:srgbClr val="526272"/>
                </a:solidFill>
                <a:latin typeface="Arial"/>
                <a:ea typeface="Arial"/>
                <a:cs typeface="Arial"/>
              </a:defRPr>
            </a:pPr>
            <a:r>
              <a:rPr sz="2400" b="1">
                <a:solidFill>
                  <a:srgbClr val="526272"/>
                </a:solidFill>
                <a:latin typeface="Arial"/>
                <a:ea typeface="Arial"/>
                <a:cs typeface="Arial"/>
              </a:rPr>
              <a:t>›</a:t>
            </a:r>
          </a:p>
        </p:txBody>
      </p:sp>
      <p:sp>
        <p:nvSpPr>
          <p:cNvPr id="27" name="Rectangle 26">
            <a:extLst>
              <a:ext uri="{FF2B5EF4-FFF2-40B4-BE49-F238E27FC236}">
                <a16:creationId xmlns:a16="http://schemas.microsoft.com/office/drawing/2014/main" id="{1BAD7034-843F-440D-9117-F8A625CE040A}"/>
              </a:ext>
            </a:extLst>
          </p:cNvPr>
          <p:cNvSpPr>
            <a:spLocks noGrp="1"/>
          </p:cNvSpPr>
          <p:nvPr/>
        </p:nvSpPr>
        <p:spPr>
          <a:xfrm>
            <a:off x="1676400" y="2524125"/>
            <a:ext cx="8839200" cy="381000"/>
          </a:xfrm>
          <a:prstGeom prst="rect">
            <a:avLst/>
          </a:prstGeom>
          <a:noFill/>
          <a:ln w="0">
            <a:noFill/>
          </a:ln>
        </p:spPr>
        <p:txBody>
          <a:bodyPr wrap="square" lIns="0" tIns="0" rIns="0" bIns="0" anchor="t">
            <a:normAutofit/>
          </a:bodyPr>
          <a:lstStyle/>
          <a:p>
            <a:pPr algn="ctr">
              <a:defRPr sz="1725" b="1">
                <a:solidFill>
                  <a:srgbClr val="17222F"/>
                </a:solidFill>
                <a:latin typeface="Arial"/>
                <a:ea typeface="Arial"/>
                <a:cs typeface="Arial"/>
              </a:defRPr>
            </a:pPr>
            <a:r>
              <a:rPr sz="1725" b="1" dirty="0">
                <a:solidFill>
                  <a:srgbClr val="17222F"/>
                </a:solidFill>
                <a:latin typeface="Arial"/>
                <a:ea typeface="Arial"/>
                <a:cs typeface="Arial"/>
              </a:rPr>
              <a:t>WTA activates the positive top-cutoff winner(s), if any</a:t>
            </a:r>
          </a:p>
        </p:txBody>
      </p:sp>
      <p:sp>
        <p:nvSpPr>
          <p:cNvPr id="28" name="Rectangle: Rounded Corners 27">
            <a:extLst>
              <a:ext uri="{FF2B5EF4-FFF2-40B4-BE49-F238E27FC236}">
                <a16:creationId xmlns:a16="http://schemas.microsoft.com/office/drawing/2014/main" id="{41BD322E-E4B4-4721-9853-4EBDB8239F2A}"/>
              </a:ext>
            </a:extLst>
          </p:cNvPr>
          <p:cNvSpPr>
            <a:spLocks noGrp="1"/>
          </p:cNvSpPr>
          <p:nvPr/>
        </p:nvSpPr>
        <p:spPr>
          <a:xfrm>
            <a:off x="1600200" y="2981325"/>
            <a:ext cx="8991600" cy="457200"/>
          </a:xfrm>
          <a:prstGeom prst="roundRect">
            <a:avLst>
              <a:gd name="adj" fmla="val 20833"/>
            </a:avLst>
          </a:prstGeom>
          <a:solidFill>
            <a:srgbClr val="DDF3EC"/>
          </a:solidFill>
          <a:ln w="9525">
            <a:solidFill>
              <a:srgbClr val="009E73"/>
            </a:solidFill>
            <a:prstDash val="solid"/>
          </a:ln>
        </p:spPr>
        <p:txBody>
          <a:bodyPr/>
          <a:lstStyle/>
          <a:p>
            <a:endParaRPr lang="en-IL"/>
          </a:p>
        </p:txBody>
      </p:sp>
      <p:sp>
        <p:nvSpPr>
          <p:cNvPr id="29" name="Rectangle 28">
            <a:extLst>
              <a:ext uri="{FF2B5EF4-FFF2-40B4-BE49-F238E27FC236}">
                <a16:creationId xmlns:a16="http://schemas.microsoft.com/office/drawing/2014/main" id="{E4174AB4-77C0-4C2C-8D7D-ABF64F2E4328}"/>
              </a:ext>
            </a:extLst>
          </p:cNvPr>
          <p:cNvSpPr>
            <a:spLocks noGrp="1"/>
          </p:cNvSpPr>
          <p:nvPr/>
        </p:nvSpPr>
        <p:spPr>
          <a:xfrm>
            <a:off x="1752600" y="3076575"/>
            <a:ext cx="8686800" cy="266700"/>
          </a:xfrm>
          <a:prstGeom prst="rect">
            <a:avLst/>
          </a:prstGeom>
          <a:noFill/>
          <a:ln w="0">
            <a:noFill/>
          </a:ln>
        </p:spPr>
        <p:txBody>
          <a:bodyPr wrap="square" lIns="0" tIns="0" rIns="0" bIns="0" anchor="t">
            <a:normAutofit/>
          </a:bodyPr>
          <a:lstStyle/>
          <a:p>
            <a:pPr algn="ctr">
              <a:defRPr sz="1425" b="1">
                <a:solidFill>
                  <a:srgbClr val="009E73"/>
                </a:solidFill>
                <a:latin typeface="Arial"/>
                <a:ea typeface="Arial"/>
                <a:cs typeface="Arial"/>
              </a:defRPr>
            </a:pPr>
            <a:r>
              <a:rPr sz="1425" b="1" dirty="0">
                <a:solidFill>
                  <a:srgbClr val="009E73"/>
                </a:solidFill>
                <a:latin typeface="Arial"/>
                <a:ea typeface="Arial"/>
                <a:cs typeface="Arial"/>
              </a:rPr>
              <a:t>Deterministic test batch: update matched for all 3 layers within </a:t>
            </a:r>
            <a:r>
              <a:rPr sz="1425" b="1" dirty="0" err="1">
                <a:solidFill>
                  <a:srgbClr val="009E73"/>
                </a:solidFill>
                <a:latin typeface="Arial"/>
                <a:ea typeface="Arial"/>
                <a:cs typeface="Arial"/>
              </a:rPr>
              <a:t>atol</a:t>
            </a:r>
            <a:r>
              <a:rPr sz="1425" b="1" dirty="0">
                <a:solidFill>
                  <a:srgbClr val="009E73"/>
                </a:solidFill>
                <a:latin typeface="Arial"/>
                <a:ea typeface="Arial"/>
                <a:cs typeface="Arial"/>
              </a:rPr>
              <a:t> 1e−6 and </a:t>
            </a:r>
            <a:r>
              <a:rPr sz="1425" b="1" dirty="0" err="1">
                <a:solidFill>
                  <a:srgbClr val="009E73"/>
                </a:solidFill>
                <a:latin typeface="Arial"/>
                <a:ea typeface="Arial"/>
                <a:cs typeface="Arial"/>
              </a:rPr>
              <a:t>rtol</a:t>
            </a:r>
            <a:r>
              <a:rPr sz="1425" b="1" dirty="0">
                <a:solidFill>
                  <a:srgbClr val="009E73"/>
                </a:solidFill>
                <a:latin typeface="Arial"/>
                <a:ea typeface="Arial"/>
                <a:cs typeface="Arial"/>
              </a:rPr>
              <a:t> 1e−5</a:t>
            </a:r>
          </a:p>
        </p:txBody>
      </p:sp>
      <p:sp>
        <p:nvSpPr>
          <p:cNvPr id="30" name="Rectangle: Rounded Corners 29">
            <a:extLst>
              <a:ext uri="{FF2B5EF4-FFF2-40B4-BE49-F238E27FC236}">
                <a16:creationId xmlns:a16="http://schemas.microsoft.com/office/drawing/2014/main" id="{2B296092-F77B-4A5B-8A64-605D7B0D4A4C}"/>
              </a:ext>
            </a:extLst>
          </p:cNvPr>
          <p:cNvSpPr>
            <a:spLocks noGrp="1"/>
          </p:cNvSpPr>
          <p:nvPr/>
        </p:nvSpPr>
        <p:spPr>
          <a:xfrm>
            <a:off x="857250" y="4029075"/>
            <a:ext cx="114300" cy="438150"/>
          </a:xfrm>
          <a:prstGeom prst="roundRect">
            <a:avLst>
              <a:gd name="adj" fmla="val 50000"/>
            </a:avLst>
          </a:prstGeom>
          <a:solidFill>
            <a:srgbClr val="0072B2"/>
          </a:solidFill>
          <a:ln w="9525">
            <a:solidFill>
              <a:srgbClr val="0072B2"/>
            </a:solidFill>
            <a:prstDash val="solid"/>
          </a:ln>
        </p:spPr>
        <p:txBody>
          <a:bodyPr/>
          <a:lstStyle/>
          <a:p>
            <a:endParaRPr lang="en-IL"/>
          </a:p>
        </p:txBody>
      </p:sp>
      <p:sp>
        <p:nvSpPr>
          <p:cNvPr id="31" name="Rectangle 30">
            <a:extLst>
              <a:ext uri="{FF2B5EF4-FFF2-40B4-BE49-F238E27FC236}">
                <a16:creationId xmlns:a16="http://schemas.microsoft.com/office/drawing/2014/main" id="{3439E024-5192-4E72-9F9E-FFD5FF68D571}"/>
              </a:ext>
            </a:extLst>
          </p:cNvPr>
          <p:cNvSpPr>
            <a:spLocks noGrp="1"/>
          </p:cNvSpPr>
          <p:nvPr/>
        </p:nvSpPr>
        <p:spPr>
          <a:xfrm>
            <a:off x="1085850" y="3962400"/>
            <a:ext cx="2152650" cy="266700"/>
          </a:xfrm>
          <a:prstGeom prst="rect">
            <a:avLst/>
          </a:prstGeom>
          <a:noFill/>
          <a:ln w="0">
            <a:noFill/>
          </a:ln>
        </p:spPr>
        <p:txBody>
          <a:bodyPr wrap="square" lIns="0" tIns="0" rIns="0" bIns="0" anchor="t">
            <a:normAutofit/>
          </a:bodyPr>
          <a:lstStyle/>
          <a:p>
            <a:pPr algn="l">
              <a:defRPr sz="1650" b="1">
                <a:solidFill>
                  <a:srgbClr val="0072B2"/>
                </a:solidFill>
                <a:latin typeface="Arial"/>
                <a:ea typeface="Arial"/>
                <a:cs typeface="Arial"/>
              </a:defRPr>
            </a:pPr>
            <a:r>
              <a:rPr sz="1650" b="1" dirty="0">
                <a:solidFill>
                  <a:srgbClr val="0072B2"/>
                </a:solidFill>
                <a:latin typeface="Arial"/>
                <a:ea typeface="Arial"/>
                <a:cs typeface="Arial"/>
              </a:rPr>
              <a:t>A1</a:t>
            </a:r>
          </a:p>
        </p:txBody>
      </p:sp>
      <p:sp>
        <p:nvSpPr>
          <p:cNvPr id="32" name="Rectangle 31">
            <a:extLst>
              <a:ext uri="{FF2B5EF4-FFF2-40B4-BE49-F238E27FC236}">
                <a16:creationId xmlns:a16="http://schemas.microsoft.com/office/drawing/2014/main" id="{EDC4BDBD-4B8F-4F12-8206-602D00205E18}"/>
              </a:ext>
            </a:extLst>
          </p:cNvPr>
          <p:cNvSpPr>
            <a:spLocks noGrp="1"/>
          </p:cNvSpPr>
          <p:nvPr/>
        </p:nvSpPr>
        <p:spPr>
          <a:xfrm>
            <a:off x="1085850" y="4238625"/>
            <a:ext cx="2152650" cy="361950"/>
          </a:xfrm>
          <a:prstGeom prst="rect">
            <a:avLst/>
          </a:prstGeom>
          <a:noFill/>
          <a:ln w="0">
            <a:noFill/>
          </a:ln>
        </p:spPr>
        <p:txBody>
          <a:bodyPr wrap="square" lIns="0" tIns="0" rIns="0" bIns="0" anchor="t">
            <a:normAutofit/>
          </a:bodyPr>
          <a:lstStyle/>
          <a:p>
            <a:pPr algn="l">
              <a:defRPr sz="1125" b="0">
                <a:solidFill>
                  <a:srgbClr val="526272"/>
                </a:solidFill>
                <a:latin typeface="Arial"/>
                <a:ea typeface="Arial"/>
                <a:cs typeface="Arial"/>
              </a:defRPr>
            </a:pPr>
            <a:r>
              <a:rPr sz="1125" b="0" dirty="0">
                <a:solidFill>
                  <a:srgbClr val="526272"/>
                </a:solidFill>
                <a:latin typeface="Arial"/>
                <a:ea typeface="Arial"/>
                <a:cs typeface="Arial"/>
              </a:rPr>
              <a:t>Verified direct</a:t>
            </a:r>
            <a:r>
              <a:rPr lang="en-US" sz="1125" dirty="0">
                <a:solidFill>
                  <a:srgbClr val="526272"/>
                </a:solidFill>
                <a:latin typeface="Arial"/>
                <a:ea typeface="Arial"/>
                <a:cs typeface="Arial"/>
              </a:rPr>
              <a:t> implementation</a:t>
            </a:r>
            <a:endParaRPr sz="1125" b="0" dirty="0">
              <a:solidFill>
                <a:srgbClr val="526272"/>
              </a:solidFill>
              <a:latin typeface="Arial"/>
              <a:ea typeface="Arial"/>
              <a:cs typeface="Arial"/>
            </a:endParaRPr>
          </a:p>
        </p:txBody>
      </p:sp>
      <p:sp>
        <p:nvSpPr>
          <p:cNvPr id="33" name="Rectangle: Rounded Corners 32">
            <a:extLst>
              <a:ext uri="{FF2B5EF4-FFF2-40B4-BE49-F238E27FC236}">
                <a16:creationId xmlns:a16="http://schemas.microsoft.com/office/drawing/2014/main" id="{38E33B2A-24EB-47B6-A2A5-687253722300}"/>
              </a:ext>
            </a:extLst>
          </p:cNvPr>
          <p:cNvSpPr>
            <a:spLocks noGrp="1"/>
          </p:cNvSpPr>
          <p:nvPr/>
        </p:nvSpPr>
        <p:spPr>
          <a:xfrm>
            <a:off x="3524250" y="4029075"/>
            <a:ext cx="114300" cy="438150"/>
          </a:xfrm>
          <a:prstGeom prst="roundRect">
            <a:avLst>
              <a:gd name="adj" fmla="val 50000"/>
            </a:avLst>
          </a:prstGeom>
          <a:solidFill>
            <a:srgbClr val="E69F00"/>
          </a:solidFill>
          <a:ln w="9525">
            <a:solidFill>
              <a:srgbClr val="E69F00"/>
            </a:solidFill>
            <a:prstDash val="solid"/>
          </a:ln>
        </p:spPr>
        <p:txBody>
          <a:bodyPr/>
          <a:lstStyle/>
          <a:p>
            <a:endParaRPr lang="en-IL"/>
          </a:p>
        </p:txBody>
      </p:sp>
      <p:sp>
        <p:nvSpPr>
          <p:cNvPr id="34" name="Rectangle 33">
            <a:extLst>
              <a:ext uri="{FF2B5EF4-FFF2-40B4-BE49-F238E27FC236}">
                <a16:creationId xmlns:a16="http://schemas.microsoft.com/office/drawing/2014/main" id="{C5CAEC1B-5046-4328-817D-E8B0AB203C1C}"/>
              </a:ext>
            </a:extLst>
          </p:cNvPr>
          <p:cNvSpPr>
            <a:spLocks noGrp="1"/>
          </p:cNvSpPr>
          <p:nvPr/>
        </p:nvSpPr>
        <p:spPr>
          <a:xfrm>
            <a:off x="3752850" y="3962400"/>
            <a:ext cx="2247900" cy="266700"/>
          </a:xfrm>
          <a:prstGeom prst="rect">
            <a:avLst/>
          </a:prstGeom>
          <a:noFill/>
          <a:ln w="0">
            <a:noFill/>
          </a:ln>
        </p:spPr>
        <p:txBody>
          <a:bodyPr wrap="square" lIns="0" tIns="0" rIns="0" bIns="0" anchor="t">
            <a:normAutofit/>
          </a:bodyPr>
          <a:lstStyle/>
          <a:p>
            <a:pPr algn="l">
              <a:defRPr sz="1650" b="1">
                <a:solidFill>
                  <a:srgbClr val="E69F00"/>
                </a:solidFill>
                <a:latin typeface="Arial"/>
                <a:ea typeface="Arial"/>
                <a:cs typeface="Arial"/>
              </a:defRPr>
            </a:pPr>
            <a:r>
              <a:rPr sz="1650" b="1">
                <a:solidFill>
                  <a:srgbClr val="E69F00"/>
                </a:solidFill>
                <a:latin typeface="Arial"/>
                <a:ea typeface="Arial"/>
                <a:cs typeface="Arial"/>
              </a:rPr>
              <a:t>A2 conditional</a:t>
            </a:r>
          </a:p>
        </p:txBody>
      </p:sp>
      <p:sp>
        <p:nvSpPr>
          <p:cNvPr id="35" name="Rectangle 34">
            <a:extLst>
              <a:ext uri="{FF2B5EF4-FFF2-40B4-BE49-F238E27FC236}">
                <a16:creationId xmlns:a16="http://schemas.microsoft.com/office/drawing/2014/main" id="{BD301433-5A32-4D83-ABD4-D06EB1E39AF1}"/>
              </a:ext>
            </a:extLst>
          </p:cNvPr>
          <p:cNvSpPr>
            <a:spLocks noGrp="1"/>
          </p:cNvSpPr>
          <p:nvPr/>
        </p:nvSpPr>
        <p:spPr>
          <a:xfrm>
            <a:off x="3752850" y="4238625"/>
            <a:ext cx="2247900" cy="361950"/>
          </a:xfrm>
          <a:prstGeom prst="rect">
            <a:avLst/>
          </a:prstGeom>
          <a:noFill/>
          <a:ln w="0">
            <a:noFill/>
          </a:ln>
        </p:spPr>
        <p:txBody>
          <a:bodyPr wrap="square" lIns="0" tIns="0" rIns="0" bIns="0" anchor="t">
            <a:normAutofit/>
          </a:bodyPr>
          <a:lstStyle/>
          <a:p>
            <a:pPr algn="l">
              <a:defRPr sz="1125" b="0">
                <a:solidFill>
                  <a:srgbClr val="526272"/>
                </a:solidFill>
                <a:latin typeface="Arial"/>
                <a:ea typeface="Arial"/>
                <a:cs typeface="Arial"/>
              </a:defRPr>
            </a:pPr>
            <a:r>
              <a:rPr sz="1125" b="0" dirty="0">
                <a:solidFill>
                  <a:srgbClr val="526272"/>
                </a:solidFill>
                <a:latin typeface="Arial"/>
                <a:ea typeface="Arial"/>
                <a:cs typeface="Arial"/>
              </a:rPr>
              <a:t>Sparse storage + sparse kernels</a:t>
            </a:r>
            <a:endParaRPr lang="en-US" sz="1125" b="0" dirty="0">
              <a:solidFill>
                <a:srgbClr val="526272"/>
              </a:solidFill>
              <a:latin typeface="Arial"/>
              <a:ea typeface="Arial"/>
              <a:cs typeface="Arial"/>
            </a:endParaRPr>
          </a:p>
          <a:p>
            <a:pPr algn="l">
              <a:defRPr sz="1125" b="0">
                <a:solidFill>
                  <a:srgbClr val="526272"/>
                </a:solidFill>
                <a:latin typeface="Arial"/>
                <a:ea typeface="Arial"/>
                <a:cs typeface="Arial"/>
              </a:defRPr>
            </a:pPr>
            <a:r>
              <a:rPr lang="en-US" sz="1125" dirty="0">
                <a:solidFill>
                  <a:srgbClr val="526272"/>
                </a:solidFill>
                <a:latin typeface="Arial"/>
                <a:ea typeface="Arial"/>
                <a:cs typeface="Arial"/>
              </a:rPr>
              <a:t>(Theoretical optimal performance)</a:t>
            </a:r>
            <a:endParaRPr sz="1125" b="0" dirty="0">
              <a:solidFill>
                <a:srgbClr val="526272"/>
              </a:solidFill>
              <a:latin typeface="Arial"/>
              <a:ea typeface="Arial"/>
              <a:cs typeface="Arial"/>
            </a:endParaRPr>
          </a:p>
        </p:txBody>
      </p:sp>
      <p:sp>
        <p:nvSpPr>
          <p:cNvPr id="36" name="Rectangle: Rounded Corners 35">
            <a:extLst>
              <a:ext uri="{FF2B5EF4-FFF2-40B4-BE49-F238E27FC236}">
                <a16:creationId xmlns:a16="http://schemas.microsoft.com/office/drawing/2014/main" id="{90474A33-1366-42F6-9B1D-D19F2EEA3B25}"/>
              </a:ext>
            </a:extLst>
          </p:cNvPr>
          <p:cNvSpPr>
            <a:spLocks noGrp="1"/>
          </p:cNvSpPr>
          <p:nvPr/>
        </p:nvSpPr>
        <p:spPr>
          <a:xfrm>
            <a:off x="6286500" y="4029075"/>
            <a:ext cx="114300" cy="438150"/>
          </a:xfrm>
          <a:prstGeom prst="roundRect">
            <a:avLst>
              <a:gd name="adj" fmla="val 50000"/>
            </a:avLst>
          </a:prstGeom>
          <a:solidFill>
            <a:srgbClr val="009E73"/>
          </a:solidFill>
          <a:ln w="9525">
            <a:solidFill>
              <a:srgbClr val="009E73"/>
            </a:solidFill>
            <a:prstDash val="solid"/>
          </a:ln>
        </p:spPr>
        <p:txBody>
          <a:bodyPr/>
          <a:lstStyle/>
          <a:p>
            <a:endParaRPr lang="en-IL"/>
          </a:p>
        </p:txBody>
      </p:sp>
      <p:sp>
        <p:nvSpPr>
          <p:cNvPr id="37" name="Rectangle 36">
            <a:extLst>
              <a:ext uri="{FF2B5EF4-FFF2-40B4-BE49-F238E27FC236}">
                <a16:creationId xmlns:a16="http://schemas.microsoft.com/office/drawing/2014/main" id="{B7857449-37C8-441A-A949-C711C644C5C5}"/>
              </a:ext>
            </a:extLst>
          </p:cNvPr>
          <p:cNvSpPr>
            <a:spLocks noGrp="1"/>
          </p:cNvSpPr>
          <p:nvPr/>
        </p:nvSpPr>
        <p:spPr>
          <a:xfrm>
            <a:off x="6515100" y="3962400"/>
            <a:ext cx="1962150" cy="266700"/>
          </a:xfrm>
          <a:prstGeom prst="rect">
            <a:avLst/>
          </a:prstGeom>
          <a:noFill/>
          <a:ln w="0">
            <a:noFill/>
          </a:ln>
        </p:spPr>
        <p:txBody>
          <a:bodyPr wrap="square" lIns="0" tIns="0" rIns="0" bIns="0" anchor="t">
            <a:normAutofit/>
          </a:bodyPr>
          <a:lstStyle/>
          <a:p>
            <a:pPr algn="l">
              <a:defRPr sz="1650" b="1">
                <a:solidFill>
                  <a:srgbClr val="009E73"/>
                </a:solidFill>
                <a:latin typeface="Arial"/>
                <a:ea typeface="Arial"/>
                <a:cs typeface="Arial"/>
              </a:defRPr>
            </a:pPr>
            <a:r>
              <a:rPr sz="1650" b="1">
                <a:solidFill>
                  <a:srgbClr val="009E73"/>
                </a:solidFill>
                <a:latin typeface="Arial"/>
                <a:ea typeface="Arial"/>
                <a:cs typeface="Arial"/>
              </a:rPr>
              <a:t>B</a:t>
            </a:r>
          </a:p>
        </p:txBody>
      </p:sp>
      <p:sp>
        <p:nvSpPr>
          <p:cNvPr id="38" name="Rectangle 37">
            <a:extLst>
              <a:ext uri="{FF2B5EF4-FFF2-40B4-BE49-F238E27FC236}">
                <a16:creationId xmlns:a16="http://schemas.microsoft.com/office/drawing/2014/main" id="{DE5177FA-7354-48FA-BA67-D830FE9023FE}"/>
              </a:ext>
            </a:extLst>
          </p:cNvPr>
          <p:cNvSpPr>
            <a:spLocks noGrp="1"/>
          </p:cNvSpPr>
          <p:nvPr/>
        </p:nvSpPr>
        <p:spPr>
          <a:xfrm>
            <a:off x="6515100" y="4238625"/>
            <a:ext cx="1962150" cy="361950"/>
          </a:xfrm>
          <a:prstGeom prst="rect">
            <a:avLst/>
          </a:prstGeom>
          <a:noFill/>
          <a:ln w="0">
            <a:noFill/>
          </a:ln>
        </p:spPr>
        <p:txBody>
          <a:bodyPr wrap="square" lIns="0" tIns="0" rIns="0" bIns="0" anchor="t">
            <a:normAutofit/>
          </a:bodyPr>
          <a:lstStyle/>
          <a:p>
            <a:pPr algn="l">
              <a:defRPr sz="1125" b="0">
                <a:solidFill>
                  <a:srgbClr val="526272"/>
                </a:solidFill>
                <a:latin typeface="Arial"/>
                <a:ea typeface="Arial"/>
                <a:cs typeface="Arial"/>
              </a:defRPr>
            </a:pPr>
            <a:r>
              <a:rPr lang="en-US" sz="1125" b="0" dirty="0" err="1">
                <a:solidFill>
                  <a:srgbClr val="526272"/>
                </a:solidFill>
                <a:latin typeface="Arial"/>
                <a:ea typeface="Arial"/>
                <a:cs typeface="Arial"/>
              </a:rPr>
              <a:t>Autograd</a:t>
            </a:r>
            <a:r>
              <a:rPr sz="1125" b="0" dirty="0">
                <a:solidFill>
                  <a:srgbClr val="526272"/>
                </a:solidFill>
                <a:latin typeface="Arial"/>
                <a:ea typeface="Arial"/>
                <a:cs typeface="Arial"/>
              </a:rPr>
              <a:t> </a:t>
            </a:r>
            <a:r>
              <a:rPr lang="en-US" sz="1125" b="0" dirty="0">
                <a:solidFill>
                  <a:srgbClr val="526272"/>
                </a:solidFill>
                <a:latin typeface="Arial"/>
                <a:ea typeface="Arial"/>
                <a:cs typeface="Arial"/>
              </a:rPr>
              <a:t>implementation</a:t>
            </a:r>
            <a:endParaRPr sz="1125" b="0" dirty="0">
              <a:solidFill>
                <a:srgbClr val="526272"/>
              </a:solidFill>
              <a:latin typeface="Arial"/>
              <a:ea typeface="Arial"/>
              <a:cs typeface="Arial"/>
            </a:endParaRPr>
          </a:p>
        </p:txBody>
      </p:sp>
      <p:sp>
        <p:nvSpPr>
          <p:cNvPr id="39" name="Rectangle: Rounded Corners 38">
            <a:extLst>
              <a:ext uri="{FF2B5EF4-FFF2-40B4-BE49-F238E27FC236}">
                <a16:creationId xmlns:a16="http://schemas.microsoft.com/office/drawing/2014/main" id="{51A0A97A-F6D3-43BE-AA2D-C64338FA806A}"/>
              </a:ext>
            </a:extLst>
          </p:cNvPr>
          <p:cNvSpPr>
            <a:spLocks noGrp="1"/>
          </p:cNvSpPr>
          <p:nvPr/>
        </p:nvSpPr>
        <p:spPr>
          <a:xfrm>
            <a:off x="8858250" y="4029075"/>
            <a:ext cx="114300" cy="438150"/>
          </a:xfrm>
          <a:prstGeom prst="roundRect">
            <a:avLst>
              <a:gd name="adj" fmla="val 50000"/>
            </a:avLst>
          </a:prstGeom>
          <a:solidFill>
            <a:srgbClr val="4D4D4D"/>
          </a:solidFill>
          <a:ln w="9525">
            <a:solidFill>
              <a:srgbClr val="4D4D4D"/>
            </a:solidFill>
            <a:prstDash val="solid"/>
          </a:ln>
        </p:spPr>
        <p:txBody>
          <a:bodyPr/>
          <a:lstStyle/>
          <a:p>
            <a:endParaRPr lang="en-IL"/>
          </a:p>
        </p:txBody>
      </p:sp>
      <p:sp>
        <p:nvSpPr>
          <p:cNvPr id="40" name="Rectangle 39">
            <a:extLst>
              <a:ext uri="{FF2B5EF4-FFF2-40B4-BE49-F238E27FC236}">
                <a16:creationId xmlns:a16="http://schemas.microsoft.com/office/drawing/2014/main" id="{9DDC9778-C2F6-42A2-BAC7-DE14CEB365C4}"/>
              </a:ext>
            </a:extLst>
          </p:cNvPr>
          <p:cNvSpPr>
            <a:spLocks noGrp="1"/>
          </p:cNvSpPr>
          <p:nvPr/>
        </p:nvSpPr>
        <p:spPr>
          <a:xfrm>
            <a:off x="9086850" y="3962400"/>
            <a:ext cx="2247900" cy="266700"/>
          </a:xfrm>
          <a:prstGeom prst="rect">
            <a:avLst/>
          </a:prstGeom>
          <a:noFill/>
          <a:ln w="0">
            <a:noFill/>
          </a:ln>
        </p:spPr>
        <p:txBody>
          <a:bodyPr wrap="square" lIns="0" tIns="0" rIns="0" bIns="0" anchor="t">
            <a:normAutofit/>
          </a:bodyPr>
          <a:lstStyle/>
          <a:p>
            <a:pPr algn="l">
              <a:defRPr sz="1650" b="1">
                <a:solidFill>
                  <a:srgbClr val="4D4D4D"/>
                </a:solidFill>
                <a:latin typeface="Arial"/>
                <a:ea typeface="Arial"/>
                <a:cs typeface="Arial"/>
              </a:defRPr>
            </a:pPr>
            <a:r>
              <a:rPr sz="1650" b="1">
                <a:solidFill>
                  <a:srgbClr val="4D4D4D"/>
                </a:solidFill>
                <a:latin typeface="Arial"/>
                <a:ea typeface="Arial"/>
                <a:cs typeface="Arial"/>
              </a:rPr>
              <a:t>BP</a:t>
            </a:r>
          </a:p>
        </p:txBody>
      </p:sp>
      <p:sp>
        <p:nvSpPr>
          <p:cNvPr id="41" name="Rectangle 40">
            <a:extLst>
              <a:ext uri="{FF2B5EF4-FFF2-40B4-BE49-F238E27FC236}">
                <a16:creationId xmlns:a16="http://schemas.microsoft.com/office/drawing/2014/main" id="{CEC19F6D-DF4D-42F4-A09A-560B2859ACC5}"/>
              </a:ext>
            </a:extLst>
          </p:cNvPr>
          <p:cNvSpPr>
            <a:spLocks noGrp="1"/>
          </p:cNvSpPr>
          <p:nvPr/>
        </p:nvSpPr>
        <p:spPr>
          <a:xfrm>
            <a:off x="9086850" y="4238625"/>
            <a:ext cx="2247900" cy="361950"/>
          </a:xfrm>
          <a:prstGeom prst="rect">
            <a:avLst/>
          </a:prstGeom>
          <a:noFill/>
          <a:ln w="0">
            <a:noFill/>
          </a:ln>
        </p:spPr>
        <p:txBody>
          <a:bodyPr wrap="square" lIns="0" tIns="0" rIns="0" bIns="0" anchor="t">
            <a:normAutofit/>
          </a:bodyPr>
          <a:lstStyle/>
          <a:p>
            <a:pPr algn="l">
              <a:defRPr sz="1125" b="0">
                <a:solidFill>
                  <a:srgbClr val="526272"/>
                </a:solidFill>
                <a:latin typeface="Arial"/>
                <a:ea typeface="Arial"/>
                <a:cs typeface="Arial"/>
              </a:defRPr>
            </a:pPr>
            <a:r>
              <a:rPr sz="1125" b="0">
                <a:solidFill>
                  <a:srgbClr val="526272"/>
                </a:solidFill>
                <a:latin typeface="Arial"/>
                <a:ea typeface="Arial"/>
                <a:cs typeface="Arial"/>
              </a:rPr>
              <a:t>Equal-architecture reference</a:t>
            </a:r>
          </a:p>
        </p:txBody>
      </p:sp>
      <p:sp>
        <p:nvSpPr>
          <p:cNvPr id="42" name="Straight Connector 41">
            <a:extLst>
              <a:ext uri="{FF2B5EF4-FFF2-40B4-BE49-F238E27FC236}">
                <a16:creationId xmlns:a16="http://schemas.microsoft.com/office/drawing/2014/main" id="{13713FFE-79B3-47A8-9E6D-B886EFB80742}"/>
              </a:ext>
            </a:extLst>
          </p:cNvPr>
          <p:cNvSpPr>
            <a:spLocks noGrp="1"/>
          </p:cNvSpPr>
          <p:nvPr/>
        </p:nvSpPr>
        <p:spPr>
          <a:xfrm>
            <a:off x="857250" y="4953000"/>
            <a:ext cx="10477500" cy="9525"/>
          </a:xfrm>
          <a:prstGeom prst="line">
            <a:avLst/>
          </a:prstGeom>
          <a:noFill/>
          <a:ln w="9525">
            <a:solidFill>
              <a:srgbClr val="D9E0E5"/>
            </a:solidFill>
            <a:prstDash val="solid"/>
          </a:ln>
        </p:spPr>
        <p:txBody>
          <a:bodyPr/>
          <a:lstStyle/>
          <a:p>
            <a:endParaRPr lang="en-IL"/>
          </a:p>
        </p:txBody>
      </p:sp>
      <p:sp>
        <p:nvSpPr>
          <p:cNvPr id="43" name="Rectangle 42">
            <a:extLst>
              <a:ext uri="{FF2B5EF4-FFF2-40B4-BE49-F238E27FC236}">
                <a16:creationId xmlns:a16="http://schemas.microsoft.com/office/drawing/2014/main" id="{3AB7647D-ADFB-44D2-B600-04C93141DEAE}"/>
              </a:ext>
            </a:extLst>
          </p:cNvPr>
          <p:cNvSpPr>
            <a:spLocks noGrp="1"/>
          </p:cNvSpPr>
          <p:nvPr/>
        </p:nvSpPr>
        <p:spPr>
          <a:xfrm>
            <a:off x="1219200" y="5295900"/>
            <a:ext cx="9753600" cy="552450"/>
          </a:xfrm>
          <a:prstGeom prst="rect">
            <a:avLst/>
          </a:prstGeom>
          <a:noFill/>
          <a:ln w="0">
            <a:noFill/>
          </a:ln>
        </p:spPr>
        <p:txBody>
          <a:bodyPr wrap="square" lIns="0" tIns="0" rIns="0" bIns="0" anchor="t">
            <a:normAutofit/>
          </a:bodyPr>
          <a:lstStyle/>
          <a:p>
            <a:pPr algn="ctr">
              <a:defRPr sz="1650" b="1">
                <a:solidFill>
                  <a:srgbClr val="A33A3A"/>
                </a:solidFill>
                <a:latin typeface="Arial"/>
                <a:ea typeface="Arial"/>
                <a:cs typeface="Arial"/>
              </a:defRPr>
            </a:pPr>
            <a:r>
              <a:rPr sz="1650" b="1" dirty="0">
                <a:solidFill>
                  <a:srgbClr val="A33A3A"/>
                </a:solidFill>
                <a:latin typeface="Arial"/>
                <a:ea typeface="Arial"/>
                <a:cs typeface="Arial"/>
              </a:rPr>
              <a:t>A2 conditional is an analytical opportunity estimate. The current </a:t>
            </a:r>
            <a:r>
              <a:rPr sz="1650" b="1" dirty="0" err="1">
                <a:solidFill>
                  <a:srgbClr val="A33A3A"/>
                </a:solidFill>
                <a:latin typeface="Arial"/>
                <a:ea typeface="Arial"/>
                <a:cs typeface="Arial"/>
              </a:rPr>
              <a:t>PyTorch</a:t>
            </a:r>
            <a:r>
              <a:rPr sz="1650" b="1" dirty="0">
                <a:solidFill>
                  <a:srgbClr val="A33A3A"/>
                </a:solidFill>
                <a:latin typeface="Arial"/>
                <a:ea typeface="Arial"/>
                <a:cs typeface="Arial"/>
              </a:rPr>
              <a:t> notebook executes dense operations.</a:t>
            </a:r>
          </a:p>
        </p:txBody>
      </p:sp>
      <p:sp>
        <p:nvSpPr>
          <p:cNvPr id="46" name="TextBox 45">
            <a:extLst>
              <a:ext uri="{FF2B5EF4-FFF2-40B4-BE49-F238E27FC236}">
                <a16:creationId xmlns:a16="http://schemas.microsoft.com/office/drawing/2014/main" id="{35E94430-1712-6783-F08E-945C4E3499B6}"/>
              </a:ext>
            </a:extLst>
          </p:cNvPr>
          <p:cNvSpPr txBox="1"/>
          <p:nvPr/>
        </p:nvSpPr>
        <p:spPr>
          <a:xfrm>
            <a:off x="169265" y="6259168"/>
            <a:ext cx="10596170" cy="265457"/>
          </a:xfrm>
          <a:prstGeom prst="rect">
            <a:avLst/>
          </a:prstGeom>
          <a:noFill/>
        </p:spPr>
        <p:txBody>
          <a:bodyPr wrap="none" rtlCol="0">
            <a:spAutoFit/>
          </a:bodyPr>
          <a:lstStyle/>
          <a:p>
            <a:r>
              <a:rPr lang="en-IL" sz="1125" dirty="0">
                <a:solidFill>
                  <a:srgbClr val="526272"/>
                </a:solidFill>
                <a:latin typeface="Arial"/>
                <a:cs typeface="Arial"/>
              </a:rPr>
              <a:t>Miconi, T. (2021). Hebbian learning with gradients: Hebbian convolutional neural networks with modern deep learning frameworks. </a:t>
            </a:r>
            <a:r>
              <a:rPr lang="en-IL" sz="1125" dirty="0" err="1">
                <a:solidFill>
                  <a:srgbClr val="526272"/>
                </a:solidFill>
                <a:latin typeface="Arial"/>
                <a:cs typeface="Arial"/>
              </a:rPr>
              <a:t>arXiv</a:t>
            </a:r>
            <a:r>
              <a:rPr lang="en-IL" sz="1125" dirty="0">
                <a:solidFill>
                  <a:srgbClr val="526272"/>
                </a:solidFill>
                <a:latin typeface="Arial"/>
                <a:cs typeface="Arial"/>
              </a:rPr>
              <a:t> preprint arXiv:2107.01729.</a:t>
            </a:r>
          </a:p>
        </p:txBody>
      </p:sp>
    </p:spTree>
    <p:extLst>
      <p:ext uri="{BB962C8B-B14F-4D97-AF65-F5344CB8AC3E}">
        <p14:creationId xmlns:p14="http://schemas.microsoft.com/office/powerpoint/2010/main" val="1296877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38F071-9BB2-46E6-92D3-F5FF390D29EA}"/>
              </a:ext>
            </a:extLst>
          </p:cNvPr>
          <p:cNvSpPr>
            <a:spLocks noGrp="1"/>
          </p:cNvSpPr>
          <p:nvPr/>
        </p:nvSpPr>
        <p:spPr>
          <a:xfrm>
            <a:off x="609600" y="333375"/>
            <a:ext cx="9715500" cy="514350"/>
          </a:xfrm>
          <a:prstGeom prst="rect">
            <a:avLst/>
          </a:prstGeom>
          <a:noFill/>
          <a:ln w="0">
            <a:noFill/>
          </a:ln>
        </p:spPr>
        <p:txBody>
          <a:bodyPr wrap="square" lIns="0" tIns="0" rIns="0" bIns="0" anchor="t">
            <a:normAutofit/>
          </a:bodyPr>
          <a:lstStyle/>
          <a:p>
            <a:pPr algn="l">
              <a:defRPr sz="2550" b="1">
                <a:solidFill>
                  <a:srgbClr val="17222F"/>
                </a:solidFill>
                <a:latin typeface="Arial"/>
                <a:ea typeface="Arial"/>
                <a:cs typeface="Arial"/>
              </a:defRPr>
            </a:pPr>
            <a:r>
              <a:rPr sz="2550" b="1">
                <a:solidFill>
                  <a:srgbClr val="17222F"/>
                </a:solidFill>
                <a:latin typeface="Arial"/>
                <a:ea typeface="Arial"/>
                <a:cs typeface="Arial"/>
              </a:rPr>
              <a:t>Matched-work compute: one batch of 100</a:t>
            </a:r>
          </a:p>
        </p:txBody>
      </p:sp>
      <p:sp>
        <p:nvSpPr>
          <p:cNvPr id="2" name="Straight Connector 1">
            <a:extLst>
              <a:ext uri="{FF2B5EF4-FFF2-40B4-BE49-F238E27FC236}">
                <a16:creationId xmlns:a16="http://schemas.microsoft.com/office/drawing/2014/main" id="{FF0A6E38-2A6C-4151-AA08-9B78923969F7}"/>
              </a:ext>
            </a:extLst>
          </p:cNvPr>
          <p:cNvSpPr>
            <a:spLocks noGrp="1"/>
          </p:cNvSpPr>
          <p:nvPr/>
        </p:nvSpPr>
        <p:spPr>
          <a:xfrm>
            <a:off x="609600" y="942975"/>
            <a:ext cx="10972800" cy="9525"/>
          </a:xfrm>
          <a:prstGeom prst="line">
            <a:avLst/>
          </a:prstGeom>
          <a:noFill/>
          <a:ln w="9525">
            <a:solidFill>
              <a:srgbClr val="D9E0E5"/>
            </a:solidFill>
            <a:prstDash val="solid"/>
          </a:ln>
        </p:spPr>
        <p:txBody>
          <a:bodyPr/>
          <a:lstStyle/>
          <a:p>
            <a:endParaRPr lang="en-IL"/>
          </a:p>
        </p:txBody>
      </p:sp>
      <p:sp>
        <p:nvSpPr>
          <p:cNvPr id="3" name="Rectangle 2">
            <a:extLst>
              <a:ext uri="{FF2B5EF4-FFF2-40B4-BE49-F238E27FC236}">
                <a16:creationId xmlns:a16="http://schemas.microsoft.com/office/drawing/2014/main" id="{66C88E67-835D-46F6-B48B-C12C35C51528}"/>
              </a:ext>
            </a:extLst>
          </p:cNvPr>
          <p:cNvSpPr>
            <a:spLocks noGrp="1"/>
          </p:cNvSpPr>
          <p:nvPr/>
        </p:nvSpPr>
        <p:spPr>
          <a:xfrm>
            <a:off x="11144250" y="381000"/>
            <a:ext cx="438150" cy="285750"/>
          </a:xfrm>
          <a:prstGeom prst="rect">
            <a:avLst/>
          </a:prstGeom>
          <a:noFill/>
          <a:ln w="0">
            <a:noFill/>
          </a:ln>
        </p:spPr>
        <p:txBody>
          <a:bodyPr wrap="square" lIns="0" tIns="0" rIns="0" bIns="0" anchor="t">
            <a:normAutofit/>
          </a:bodyPr>
          <a:lstStyle/>
          <a:p>
            <a:pPr algn="r">
              <a:defRPr sz="1125" b="1">
                <a:solidFill>
                  <a:srgbClr val="526272"/>
                </a:solidFill>
                <a:latin typeface="Arial"/>
                <a:ea typeface="Arial"/>
                <a:cs typeface="Arial"/>
              </a:defRPr>
            </a:pPr>
            <a:r>
              <a:rPr sz="1125" b="1">
                <a:solidFill>
                  <a:srgbClr val="526272"/>
                </a:solidFill>
                <a:latin typeface="Arial"/>
                <a:ea typeface="Arial"/>
                <a:cs typeface="Arial"/>
              </a:rPr>
              <a:t>04</a:t>
            </a:r>
          </a:p>
        </p:txBody>
      </p:sp>
      <p:graphicFrame>
        <p:nvGraphicFramePr>
          <p:cNvPr id="18" name="Chart"/>
          <p:cNvGraphicFramePr/>
          <p:nvPr/>
        </p:nvGraphicFramePr>
        <p:xfrm>
          <a:off x="685800" y="1285875"/>
          <a:ext cx="7239000" cy="404812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BE7C3294-A02F-493F-B3F8-4786476D333D}"/>
              </a:ext>
            </a:extLst>
          </p:cNvPr>
          <p:cNvSpPr>
            <a:spLocks noGrp="1"/>
          </p:cNvSpPr>
          <p:nvPr/>
        </p:nvSpPr>
        <p:spPr>
          <a:xfrm>
            <a:off x="8620125" y="1428750"/>
            <a:ext cx="2381250" cy="266700"/>
          </a:xfrm>
          <a:prstGeom prst="rect">
            <a:avLst/>
          </a:prstGeom>
          <a:noFill/>
          <a:ln w="0">
            <a:noFill/>
          </a:ln>
        </p:spPr>
        <p:txBody>
          <a:bodyPr wrap="square" lIns="0" tIns="0" rIns="0" bIns="0" anchor="t">
            <a:normAutofit/>
          </a:bodyPr>
          <a:lstStyle/>
          <a:p>
            <a:pPr algn="l">
              <a:defRPr sz="1350" b="1">
                <a:solidFill>
                  <a:srgbClr val="526272"/>
                </a:solidFill>
                <a:latin typeface="Arial"/>
                <a:ea typeface="Arial"/>
                <a:cs typeface="Arial"/>
              </a:defRPr>
            </a:pPr>
            <a:r>
              <a:rPr sz="1350" b="1">
                <a:solidFill>
                  <a:srgbClr val="526272"/>
                </a:solidFill>
                <a:latin typeface="Arial"/>
                <a:ea typeface="Arial"/>
                <a:cs typeface="Arial"/>
              </a:rPr>
              <a:t>BP relative to</a:t>
            </a:r>
          </a:p>
        </p:txBody>
      </p:sp>
      <p:sp>
        <p:nvSpPr>
          <p:cNvPr id="6" name="Rectangle 5">
            <a:extLst>
              <a:ext uri="{FF2B5EF4-FFF2-40B4-BE49-F238E27FC236}">
                <a16:creationId xmlns:a16="http://schemas.microsoft.com/office/drawing/2014/main" id="{E68BD72C-63C5-4B42-9644-D4993E0B5F2B}"/>
              </a:ext>
            </a:extLst>
          </p:cNvPr>
          <p:cNvSpPr>
            <a:spLocks noGrp="1"/>
          </p:cNvSpPr>
          <p:nvPr/>
        </p:nvSpPr>
        <p:spPr>
          <a:xfrm>
            <a:off x="8620125" y="1819275"/>
            <a:ext cx="2381250" cy="514350"/>
          </a:xfrm>
          <a:prstGeom prst="rect">
            <a:avLst/>
          </a:prstGeom>
          <a:noFill/>
          <a:ln w="0">
            <a:noFill/>
          </a:ln>
        </p:spPr>
        <p:txBody>
          <a:bodyPr wrap="square" lIns="0" tIns="0" rIns="0" bIns="0" anchor="t">
            <a:normAutofit/>
          </a:bodyPr>
          <a:lstStyle/>
          <a:p>
            <a:pPr algn="l">
              <a:defRPr sz="2700" b="1">
                <a:solidFill>
                  <a:srgbClr val="0072B2"/>
                </a:solidFill>
                <a:latin typeface="Arial"/>
                <a:ea typeface="Arial"/>
                <a:cs typeface="Arial"/>
              </a:defRPr>
            </a:pPr>
            <a:r>
              <a:rPr sz="2700" b="1">
                <a:solidFill>
                  <a:srgbClr val="0072B2"/>
                </a:solidFill>
                <a:latin typeface="Arial"/>
                <a:ea typeface="Arial"/>
                <a:cs typeface="Arial"/>
              </a:rPr>
              <a:t>2.819×</a:t>
            </a:r>
          </a:p>
        </p:txBody>
      </p:sp>
      <p:sp>
        <p:nvSpPr>
          <p:cNvPr id="7" name="Rectangle 6">
            <a:extLst>
              <a:ext uri="{FF2B5EF4-FFF2-40B4-BE49-F238E27FC236}">
                <a16:creationId xmlns:a16="http://schemas.microsoft.com/office/drawing/2014/main" id="{D8F5429E-2669-4859-B4C4-7A8A840FB97B}"/>
              </a:ext>
            </a:extLst>
          </p:cNvPr>
          <p:cNvSpPr>
            <a:spLocks noGrp="1"/>
          </p:cNvSpPr>
          <p:nvPr/>
        </p:nvSpPr>
        <p:spPr>
          <a:xfrm>
            <a:off x="8620125" y="2276475"/>
            <a:ext cx="2381250" cy="266700"/>
          </a:xfrm>
          <a:prstGeom prst="rect">
            <a:avLst/>
          </a:prstGeom>
          <a:noFill/>
          <a:ln w="0">
            <a:noFill/>
          </a:ln>
        </p:spPr>
        <p:txBody>
          <a:bodyPr wrap="square" lIns="0" tIns="0" rIns="0" bIns="0" anchor="t">
            <a:normAutofit/>
          </a:bodyPr>
          <a:lstStyle/>
          <a:p>
            <a:pPr algn="l">
              <a:defRPr sz="1350" b="0">
                <a:solidFill>
                  <a:srgbClr val="526272"/>
                </a:solidFill>
                <a:latin typeface="Arial"/>
                <a:ea typeface="Arial"/>
                <a:cs typeface="Arial"/>
              </a:defRPr>
            </a:pPr>
            <a:r>
              <a:rPr sz="1350" b="0">
                <a:solidFill>
                  <a:srgbClr val="526272"/>
                </a:solidFill>
                <a:latin typeface="Arial"/>
                <a:ea typeface="Arial"/>
                <a:cs typeface="Arial"/>
              </a:rPr>
              <a:t>A1 direct dense</a:t>
            </a:r>
          </a:p>
        </p:txBody>
      </p:sp>
      <p:sp>
        <p:nvSpPr>
          <p:cNvPr id="8" name="Rectangle 7">
            <a:extLst>
              <a:ext uri="{FF2B5EF4-FFF2-40B4-BE49-F238E27FC236}">
                <a16:creationId xmlns:a16="http://schemas.microsoft.com/office/drawing/2014/main" id="{67BD3718-10BC-4E9D-946B-C153F4FA963A}"/>
              </a:ext>
            </a:extLst>
          </p:cNvPr>
          <p:cNvSpPr>
            <a:spLocks noGrp="1"/>
          </p:cNvSpPr>
          <p:nvPr/>
        </p:nvSpPr>
        <p:spPr>
          <a:xfrm>
            <a:off x="8620125" y="2876550"/>
            <a:ext cx="2381250" cy="514350"/>
          </a:xfrm>
          <a:prstGeom prst="rect">
            <a:avLst/>
          </a:prstGeom>
          <a:noFill/>
          <a:ln w="0">
            <a:noFill/>
          </a:ln>
        </p:spPr>
        <p:txBody>
          <a:bodyPr wrap="square" lIns="0" tIns="0" rIns="0" bIns="0" anchor="t">
            <a:normAutofit/>
          </a:bodyPr>
          <a:lstStyle/>
          <a:p>
            <a:pPr algn="l">
              <a:defRPr sz="2700" b="1">
                <a:solidFill>
                  <a:srgbClr val="E69F00"/>
                </a:solidFill>
                <a:latin typeface="Arial"/>
                <a:ea typeface="Arial"/>
                <a:cs typeface="Arial"/>
              </a:defRPr>
            </a:pPr>
            <a:r>
              <a:rPr sz="2700" b="1">
                <a:solidFill>
                  <a:srgbClr val="E69F00"/>
                </a:solidFill>
                <a:latin typeface="Arial"/>
                <a:ea typeface="Arial"/>
                <a:cs typeface="Arial"/>
              </a:rPr>
              <a:t>17.699×</a:t>
            </a:r>
          </a:p>
        </p:txBody>
      </p:sp>
      <p:sp>
        <p:nvSpPr>
          <p:cNvPr id="9" name="Rectangle 8">
            <a:extLst>
              <a:ext uri="{FF2B5EF4-FFF2-40B4-BE49-F238E27FC236}">
                <a16:creationId xmlns:a16="http://schemas.microsoft.com/office/drawing/2014/main" id="{57177514-1015-41E3-ABC4-2AAAC5E008DA}"/>
              </a:ext>
            </a:extLst>
          </p:cNvPr>
          <p:cNvSpPr>
            <a:spLocks noGrp="1"/>
          </p:cNvSpPr>
          <p:nvPr/>
        </p:nvSpPr>
        <p:spPr>
          <a:xfrm>
            <a:off x="8620125" y="3333750"/>
            <a:ext cx="2381250" cy="266700"/>
          </a:xfrm>
          <a:prstGeom prst="rect">
            <a:avLst/>
          </a:prstGeom>
          <a:noFill/>
          <a:ln w="0">
            <a:noFill/>
          </a:ln>
        </p:spPr>
        <p:txBody>
          <a:bodyPr wrap="square" lIns="0" tIns="0" rIns="0" bIns="0" anchor="t">
            <a:normAutofit/>
          </a:bodyPr>
          <a:lstStyle/>
          <a:p>
            <a:pPr algn="l">
              <a:defRPr sz="1350" b="0">
                <a:solidFill>
                  <a:srgbClr val="526272"/>
                </a:solidFill>
                <a:latin typeface="Arial"/>
                <a:ea typeface="Arial"/>
                <a:cs typeface="Arial"/>
              </a:defRPr>
            </a:pPr>
            <a:r>
              <a:rPr sz="1350" b="0">
                <a:solidFill>
                  <a:srgbClr val="526272"/>
                </a:solidFill>
                <a:latin typeface="Arial"/>
                <a:ea typeface="Arial"/>
                <a:cs typeface="Arial"/>
              </a:rPr>
              <a:t>A2 conditional</a:t>
            </a:r>
          </a:p>
        </p:txBody>
      </p:sp>
      <p:sp>
        <p:nvSpPr>
          <p:cNvPr id="10" name="Rectangle 9">
            <a:extLst>
              <a:ext uri="{FF2B5EF4-FFF2-40B4-BE49-F238E27FC236}">
                <a16:creationId xmlns:a16="http://schemas.microsoft.com/office/drawing/2014/main" id="{8ACB5380-FC90-49B1-A13E-827AC884B79D}"/>
              </a:ext>
            </a:extLst>
          </p:cNvPr>
          <p:cNvSpPr>
            <a:spLocks noGrp="1"/>
          </p:cNvSpPr>
          <p:nvPr/>
        </p:nvSpPr>
        <p:spPr>
          <a:xfrm>
            <a:off x="8620125" y="3933825"/>
            <a:ext cx="2381250" cy="514350"/>
          </a:xfrm>
          <a:prstGeom prst="rect">
            <a:avLst/>
          </a:prstGeom>
          <a:noFill/>
          <a:ln w="0">
            <a:noFill/>
          </a:ln>
        </p:spPr>
        <p:txBody>
          <a:bodyPr wrap="square" lIns="0" tIns="0" rIns="0" bIns="0" anchor="t">
            <a:normAutofit/>
          </a:bodyPr>
          <a:lstStyle/>
          <a:p>
            <a:pPr algn="l">
              <a:defRPr sz="2700" b="1">
                <a:solidFill>
                  <a:srgbClr val="009E73"/>
                </a:solidFill>
                <a:latin typeface="Arial"/>
                <a:ea typeface="Arial"/>
                <a:cs typeface="Arial"/>
              </a:defRPr>
            </a:pPr>
            <a:r>
              <a:rPr sz="2700" b="1">
                <a:solidFill>
                  <a:srgbClr val="009E73"/>
                </a:solidFill>
                <a:latin typeface="Arial"/>
                <a:ea typeface="Arial"/>
                <a:cs typeface="Arial"/>
              </a:rPr>
              <a:t>1.415×</a:t>
            </a:r>
          </a:p>
        </p:txBody>
      </p:sp>
      <p:sp>
        <p:nvSpPr>
          <p:cNvPr id="11" name="Rectangle 10">
            <a:extLst>
              <a:ext uri="{FF2B5EF4-FFF2-40B4-BE49-F238E27FC236}">
                <a16:creationId xmlns:a16="http://schemas.microsoft.com/office/drawing/2014/main" id="{70941D0D-53BA-445B-9DD4-A67B806CA57B}"/>
              </a:ext>
            </a:extLst>
          </p:cNvPr>
          <p:cNvSpPr>
            <a:spLocks noGrp="1"/>
          </p:cNvSpPr>
          <p:nvPr/>
        </p:nvSpPr>
        <p:spPr>
          <a:xfrm>
            <a:off x="8620125" y="4391025"/>
            <a:ext cx="2381250" cy="266700"/>
          </a:xfrm>
          <a:prstGeom prst="rect">
            <a:avLst/>
          </a:prstGeom>
          <a:noFill/>
          <a:ln w="0">
            <a:noFill/>
          </a:ln>
        </p:spPr>
        <p:txBody>
          <a:bodyPr wrap="square" lIns="0" tIns="0" rIns="0" bIns="0" anchor="t">
            <a:normAutofit/>
          </a:bodyPr>
          <a:lstStyle/>
          <a:p>
            <a:pPr algn="l">
              <a:defRPr sz="1350" b="0">
                <a:solidFill>
                  <a:srgbClr val="526272"/>
                </a:solidFill>
                <a:latin typeface="Arial"/>
                <a:ea typeface="Arial"/>
                <a:cs typeface="Arial"/>
              </a:defRPr>
            </a:pPr>
            <a:r>
              <a:rPr sz="1350" b="0">
                <a:solidFill>
                  <a:srgbClr val="526272"/>
                </a:solidFill>
                <a:latin typeface="Arial"/>
                <a:ea typeface="Arial"/>
                <a:cs typeface="Arial"/>
              </a:rPr>
              <a:t>B surrogate/autograd</a:t>
            </a:r>
          </a:p>
        </p:txBody>
      </p:sp>
      <p:sp>
        <p:nvSpPr>
          <p:cNvPr id="12" name="Straight Connector 11">
            <a:extLst>
              <a:ext uri="{FF2B5EF4-FFF2-40B4-BE49-F238E27FC236}">
                <a16:creationId xmlns:a16="http://schemas.microsoft.com/office/drawing/2014/main" id="{00886280-4EA7-4E32-9248-2981F658CAA1}"/>
              </a:ext>
            </a:extLst>
          </p:cNvPr>
          <p:cNvSpPr>
            <a:spLocks noGrp="1"/>
          </p:cNvSpPr>
          <p:nvPr/>
        </p:nvSpPr>
        <p:spPr>
          <a:xfrm>
            <a:off x="8239125" y="1352550"/>
            <a:ext cx="9525" cy="3476625"/>
          </a:xfrm>
          <a:prstGeom prst="line">
            <a:avLst/>
          </a:prstGeom>
          <a:noFill/>
          <a:ln w="9525">
            <a:solidFill>
              <a:srgbClr val="D9E0E5"/>
            </a:solidFill>
            <a:prstDash val="solid"/>
          </a:ln>
        </p:spPr>
        <p:txBody>
          <a:bodyPr/>
          <a:lstStyle/>
          <a:p>
            <a:endParaRPr lang="en-IL"/>
          </a:p>
        </p:txBody>
      </p:sp>
      <p:sp>
        <p:nvSpPr>
          <p:cNvPr id="13" name="Rectangle: Rounded Corners 12">
            <a:extLst>
              <a:ext uri="{FF2B5EF4-FFF2-40B4-BE49-F238E27FC236}">
                <a16:creationId xmlns:a16="http://schemas.microsoft.com/office/drawing/2014/main" id="{EA08A13D-397E-4FFA-8DE0-9F45D305BE69}"/>
              </a:ext>
            </a:extLst>
          </p:cNvPr>
          <p:cNvSpPr>
            <a:spLocks noGrp="1"/>
          </p:cNvSpPr>
          <p:nvPr/>
        </p:nvSpPr>
        <p:spPr>
          <a:xfrm>
            <a:off x="790575" y="5724525"/>
            <a:ext cx="10344150" cy="552450"/>
          </a:xfrm>
          <a:prstGeom prst="roundRect">
            <a:avLst>
              <a:gd name="adj" fmla="val 17241"/>
            </a:avLst>
          </a:prstGeom>
          <a:solidFill>
            <a:srgbClr val="DCEFF8"/>
          </a:solidFill>
          <a:ln w="9525">
            <a:solidFill>
              <a:srgbClr val="0072B2"/>
            </a:solidFill>
            <a:prstDash val="solid"/>
          </a:ln>
        </p:spPr>
        <p:txBody>
          <a:bodyPr/>
          <a:lstStyle/>
          <a:p>
            <a:endParaRPr lang="en-IL"/>
          </a:p>
        </p:txBody>
      </p:sp>
      <p:sp>
        <p:nvSpPr>
          <p:cNvPr id="14" name="Rectangle 13">
            <a:extLst>
              <a:ext uri="{FF2B5EF4-FFF2-40B4-BE49-F238E27FC236}">
                <a16:creationId xmlns:a16="http://schemas.microsoft.com/office/drawing/2014/main" id="{0162BED3-37BC-47F1-84F1-6EC60E07CE61}"/>
              </a:ext>
            </a:extLst>
          </p:cNvPr>
          <p:cNvSpPr>
            <a:spLocks noGrp="1"/>
          </p:cNvSpPr>
          <p:nvPr/>
        </p:nvSpPr>
        <p:spPr>
          <a:xfrm>
            <a:off x="1000125" y="5867400"/>
            <a:ext cx="9925050" cy="266700"/>
          </a:xfrm>
          <a:prstGeom prst="rect">
            <a:avLst/>
          </a:prstGeom>
          <a:noFill/>
          <a:ln w="0">
            <a:noFill/>
          </a:ln>
        </p:spPr>
        <p:txBody>
          <a:bodyPr wrap="square" lIns="0" tIns="0" rIns="0" bIns="0" anchor="t">
            <a:normAutofit/>
          </a:bodyPr>
          <a:lstStyle/>
          <a:p>
            <a:pPr algn="ctr">
              <a:defRPr sz="1575" b="1">
                <a:solidFill>
                  <a:srgbClr val="17222F"/>
                </a:solidFill>
                <a:latin typeface="Arial"/>
                <a:ea typeface="Arial"/>
                <a:cs typeface="Arial"/>
              </a:defRPr>
            </a:pPr>
            <a:r>
              <a:rPr sz="1575" b="1">
                <a:solidFill>
                  <a:srgbClr val="17222F"/>
                </a:solidFill>
                <a:latin typeface="Arial"/>
                <a:ea typeface="Arial"/>
                <a:cs typeface="Arial"/>
              </a:rPr>
              <a:t>Direct A1 removes the global backward path. A2 conditional also skips masked higher-layer work.</a:t>
            </a:r>
          </a:p>
        </p:txBody>
      </p:sp>
    </p:spTree>
    <p:extLst>
      <p:ext uri="{BB962C8B-B14F-4D97-AF65-F5344CB8AC3E}">
        <p14:creationId xmlns:p14="http://schemas.microsoft.com/office/powerpoint/2010/main" val="148254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E5CDE9-ED29-4F0E-95D4-1088CF3AF2A2}"/>
              </a:ext>
            </a:extLst>
          </p:cNvPr>
          <p:cNvSpPr>
            <a:spLocks noGrp="1"/>
          </p:cNvSpPr>
          <p:nvPr/>
        </p:nvSpPr>
        <p:spPr>
          <a:xfrm>
            <a:off x="609600" y="333375"/>
            <a:ext cx="9715500" cy="514350"/>
          </a:xfrm>
          <a:prstGeom prst="rect">
            <a:avLst/>
          </a:prstGeom>
          <a:noFill/>
          <a:ln w="0">
            <a:noFill/>
          </a:ln>
        </p:spPr>
        <p:txBody>
          <a:bodyPr wrap="square" lIns="0" tIns="0" rIns="0" bIns="0" anchor="t">
            <a:normAutofit/>
          </a:bodyPr>
          <a:lstStyle/>
          <a:p>
            <a:pPr algn="l">
              <a:defRPr sz="2550" b="1">
                <a:solidFill>
                  <a:srgbClr val="17222F"/>
                </a:solidFill>
                <a:latin typeface="Arial"/>
                <a:ea typeface="Arial"/>
                <a:cs typeface="Arial"/>
              </a:defRPr>
            </a:pPr>
            <a:r>
              <a:rPr sz="2550" b="1" dirty="0">
                <a:solidFill>
                  <a:srgbClr val="17222F"/>
                </a:solidFill>
                <a:latin typeface="Arial"/>
                <a:ea typeface="Arial"/>
                <a:cs typeface="Arial"/>
              </a:rPr>
              <a:t>Full pipeline and persistent state</a:t>
            </a:r>
          </a:p>
        </p:txBody>
      </p:sp>
      <p:sp>
        <p:nvSpPr>
          <p:cNvPr id="2" name="Straight Connector 1">
            <a:extLst>
              <a:ext uri="{FF2B5EF4-FFF2-40B4-BE49-F238E27FC236}">
                <a16:creationId xmlns:a16="http://schemas.microsoft.com/office/drawing/2014/main" id="{95119557-B0EE-4AA8-A6BF-96A9AF1AD39F}"/>
              </a:ext>
            </a:extLst>
          </p:cNvPr>
          <p:cNvSpPr>
            <a:spLocks noGrp="1"/>
          </p:cNvSpPr>
          <p:nvPr/>
        </p:nvSpPr>
        <p:spPr>
          <a:xfrm>
            <a:off x="609600" y="942975"/>
            <a:ext cx="10972800" cy="9525"/>
          </a:xfrm>
          <a:prstGeom prst="line">
            <a:avLst/>
          </a:prstGeom>
          <a:noFill/>
          <a:ln w="9525">
            <a:solidFill>
              <a:srgbClr val="D9E0E5"/>
            </a:solidFill>
            <a:prstDash val="solid"/>
          </a:ln>
        </p:spPr>
        <p:txBody>
          <a:bodyPr/>
          <a:lstStyle/>
          <a:p>
            <a:endParaRPr lang="en-IL"/>
          </a:p>
        </p:txBody>
      </p:sp>
      <p:sp>
        <p:nvSpPr>
          <p:cNvPr id="3" name="Rectangle 2">
            <a:extLst>
              <a:ext uri="{FF2B5EF4-FFF2-40B4-BE49-F238E27FC236}">
                <a16:creationId xmlns:a16="http://schemas.microsoft.com/office/drawing/2014/main" id="{CDF23615-ED29-4FEC-8ED7-3CE51426C969}"/>
              </a:ext>
            </a:extLst>
          </p:cNvPr>
          <p:cNvSpPr>
            <a:spLocks noGrp="1"/>
          </p:cNvSpPr>
          <p:nvPr/>
        </p:nvSpPr>
        <p:spPr>
          <a:xfrm>
            <a:off x="11144250" y="381000"/>
            <a:ext cx="438150" cy="285750"/>
          </a:xfrm>
          <a:prstGeom prst="rect">
            <a:avLst/>
          </a:prstGeom>
          <a:noFill/>
          <a:ln w="0">
            <a:noFill/>
          </a:ln>
        </p:spPr>
        <p:txBody>
          <a:bodyPr wrap="square" lIns="0" tIns="0" rIns="0" bIns="0" anchor="t">
            <a:normAutofit/>
          </a:bodyPr>
          <a:lstStyle/>
          <a:p>
            <a:pPr algn="r">
              <a:defRPr sz="1125" b="1">
                <a:solidFill>
                  <a:srgbClr val="526272"/>
                </a:solidFill>
                <a:latin typeface="Arial"/>
                <a:ea typeface="Arial"/>
                <a:cs typeface="Arial"/>
              </a:defRPr>
            </a:pPr>
            <a:r>
              <a:rPr sz="1125" b="1">
                <a:solidFill>
                  <a:srgbClr val="526272"/>
                </a:solidFill>
                <a:latin typeface="Arial"/>
                <a:ea typeface="Arial"/>
                <a:cs typeface="Arial"/>
              </a:rPr>
              <a:t>05</a:t>
            </a:r>
          </a:p>
        </p:txBody>
      </p:sp>
      <p:sp>
        <p:nvSpPr>
          <p:cNvPr id="4" name="Rectangle 3">
            <a:extLst>
              <a:ext uri="{FF2B5EF4-FFF2-40B4-BE49-F238E27FC236}">
                <a16:creationId xmlns:a16="http://schemas.microsoft.com/office/drawing/2014/main" id="{185AB82B-4565-44C9-AB01-92DCFEA98DAF}"/>
              </a:ext>
            </a:extLst>
          </p:cNvPr>
          <p:cNvSpPr>
            <a:spLocks noGrp="1"/>
          </p:cNvSpPr>
          <p:nvPr/>
        </p:nvSpPr>
        <p:spPr>
          <a:xfrm>
            <a:off x="647700" y="1162050"/>
            <a:ext cx="5810250" cy="323850"/>
          </a:xfrm>
          <a:prstGeom prst="rect">
            <a:avLst/>
          </a:prstGeom>
          <a:noFill/>
          <a:ln w="0">
            <a:noFill/>
          </a:ln>
        </p:spPr>
        <p:txBody>
          <a:bodyPr wrap="square" lIns="0" tIns="0" rIns="0" bIns="0" anchor="t">
            <a:normAutofit/>
          </a:bodyPr>
          <a:lstStyle/>
          <a:p>
            <a:pPr algn="l">
              <a:defRPr sz="1725" b="1">
                <a:solidFill>
                  <a:srgbClr val="17222F"/>
                </a:solidFill>
                <a:latin typeface="Arial"/>
                <a:ea typeface="Arial"/>
                <a:cs typeface="Arial"/>
              </a:defRPr>
            </a:pPr>
            <a:r>
              <a:rPr sz="1725" b="1" dirty="0">
                <a:solidFill>
                  <a:srgbClr val="17222F"/>
                </a:solidFill>
                <a:latin typeface="Arial"/>
                <a:ea typeface="Arial"/>
                <a:cs typeface="Arial"/>
              </a:rPr>
              <a:t>Method-level compute · 20 epochs</a:t>
            </a:r>
          </a:p>
        </p:txBody>
      </p:sp>
      <p:graphicFrame>
        <p:nvGraphicFramePr>
          <p:cNvPr id="19" name="Chart"/>
          <p:cNvGraphicFramePr/>
          <p:nvPr/>
        </p:nvGraphicFramePr>
        <p:xfrm>
          <a:off x="590550" y="1504950"/>
          <a:ext cx="5905500" cy="3143250"/>
        </p:xfrm>
        <a:graphic>
          <a:graphicData uri="http://schemas.openxmlformats.org/drawingml/2006/chart">
            <c:chart xmlns:c="http://schemas.openxmlformats.org/drawingml/2006/chart" xmlns:r="http://schemas.openxmlformats.org/officeDocument/2006/relationships" r:id="rId3"/>
          </a:graphicData>
        </a:graphic>
      </p:graphicFrame>
      <p:sp>
        <p:nvSpPr>
          <p:cNvPr id="6" name="Straight Connector 5">
            <a:extLst>
              <a:ext uri="{FF2B5EF4-FFF2-40B4-BE49-F238E27FC236}">
                <a16:creationId xmlns:a16="http://schemas.microsoft.com/office/drawing/2014/main" id="{61520EDC-0655-4C1F-8AD7-B265FF0864D8}"/>
              </a:ext>
            </a:extLst>
          </p:cNvPr>
          <p:cNvSpPr>
            <a:spLocks noGrp="1"/>
          </p:cNvSpPr>
          <p:nvPr/>
        </p:nvSpPr>
        <p:spPr>
          <a:xfrm>
            <a:off x="6619875" y="1162050"/>
            <a:ext cx="9525" cy="4619625"/>
          </a:xfrm>
          <a:prstGeom prst="line">
            <a:avLst/>
          </a:prstGeom>
          <a:noFill/>
          <a:ln w="9525">
            <a:solidFill>
              <a:srgbClr val="D9E0E5"/>
            </a:solidFill>
            <a:prstDash val="solid"/>
          </a:ln>
        </p:spPr>
        <p:txBody>
          <a:bodyPr/>
          <a:lstStyle/>
          <a:p>
            <a:endParaRPr lang="en-IL"/>
          </a:p>
        </p:txBody>
      </p:sp>
      <p:sp>
        <p:nvSpPr>
          <p:cNvPr id="7" name="Rectangle 6">
            <a:extLst>
              <a:ext uri="{FF2B5EF4-FFF2-40B4-BE49-F238E27FC236}">
                <a16:creationId xmlns:a16="http://schemas.microsoft.com/office/drawing/2014/main" id="{594A2E2E-BCDB-413B-8E7C-4E41517BD088}"/>
              </a:ext>
            </a:extLst>
          </p:cNvPr>
          <p:cNvSpPr>
            <a:spLocks noGrp="1"/>
          </p:cNvSpPr>
          <p:nvPr/>
        </p:nvSpPr>
        <p:spPr>
          <a:xfrm>
            <a:off x="7000875" y="1162050"/>
            <a:ext cx="4286250" cy="323850"/>
          </a:xfrm>
          <a:prstGeom prst="rect">
            <a:avLst/>
          </a:prstGeom>
          <a:noFill/>
          <a:ln w="0">
            <a:noFill/>
          </a:ln>
        </p:spPr>
        <p:txBody>
          <a:bodyPr wrap="square" lIns="0" tIns="0" rIns="0" bIns="0" anchor="t">
            <a:normAutofit/>
          </a:bodyPr>
          <a:lstStyle/>
          <a:p>
            <a:pPr algn="l">
              <a:defRPr sz="1725" b="1">
                <a:solidFill>
                  <a:srgbClr val="17222F"/>
                </a:solidFill>
                <a:latin typeface="Arial"/>
                <a:ea typeface="Arial"/>
                <a:cs typeface="Arial"/>
              </a:defRPr>
            </a:pPr>
            <a:r>
              <a:rPr sz="1725" b="1">
                <a:solidFill>
                  <a:srgbClr val="17222F"/>
                </a:solidFill>
                <a:latin typeface="Arial"/>
                <a:ea typeface="Arial"/>
                <a:cs typeface="Arial"/>
              </a:rPr>
              <a:t>Persistent tensor state</a:t>
            </a:r>
          </a:p>
        </p:txBody>
      </p:sp>
      <p:graphicFrame>
        <p:nvGraphicFramePr>
          <p:cNvPr id="22" name="Chart"/>
          <p:cNvGraphicFramePr/>
          <p:nvPr/>
        </p:nvGraphicFramePr>
        <p:xfrm>
          <a:off x="6896100" y="1504950"/>
          <a:ext cx="4572000" cy="3143250"/>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a:extLst>
              <a:ext uri="{FF2B5EF4-FFF2-40B4-BE49-F238E27FC236}">
                <a16:creationId xmlns:a16="http://schemas.microsoft.com/office/drawing/2014/main" id="{972E0540-C97C-45C3-B138-7BEA76E210E8}"/>
              </a:ext>
            </a:extLst>
          </p:cNvPr>
          <p:cNvSpPr>
            <a:spLocks noGrp="1"/>
          </p:cNvSpPr>
          <p:nvPr/>
        </p:nvSpPr>
        <p:spPr>
          <a:xfrm>
            <a:off x="6896100" y="4333875"/>
            <a:ext cx="4572000" cy="419100"/>
          </a:xfrm>
          <a:prstGeom prst="rect">
            <a:avLst/>
          </a:prstGeom>
          <a:solidFill>
            <a:srgbClr val="F7F8F4"/>
          </a:solidFill>
          <a:ln w="9525">
            <a:solidFill>
              <a:srgbClr val="F7F8F4"/>
            </a:solidFill>
            <a:prstDash val="solid"/>
          </a:ln>
        </p:spPr>
        <p:txBody>
          <a:bodyPr/>
          <a:lstStyle/>
          <a:p>
            <a:endParaRPr lang="en-IL"/>
          </a:p>
        </p:txBody>
      </p:sp>
      <p:sp>
        <p:nvSpPr>
          <p:cNvPr id="10" name="Rectangle: Rounded Corners 9">
            <a:extLst>
              <a:ext uri="{FF2B5EF4-FFF2-40B4-BE49-F238E27FC236}">
                <a16:creationId xmlns:a16="http://schemas.microsoft.com/office/drawing/2014/main" id="{9D4C150B-D09F-45D0-A115-FA60E82D8AEE}"/>
              </a:ext>
            </a:extLst>
          </p:cNvPr>
          <p:cNvSpPr>
            <a:spLocks noGrp="1"/>
          </p:cNvSpPr>
          <p:nvPr/>
        </p:nvSpPr>
        <p:spPr>
          <a:xfrm>
            <a:off x="781050" y="4953000"/>
            <a:ext cx="5334000" cy="838200"/>
          </a:xfrm>
          <a:prstGeom prst="roundRect">
            <a:avLst>
              <a:gd name="adj" fmla="val 11364"/>
            </a:avLst>
          </a:prstGeom>
          <a:solidFill>
            <a:srgbClr val="E6E6E6"/>
          </a:solidFill>
          <a:ln w="9525">
            <a:solidFill>
              <a:srgbClr val="4D4D4D"/>
            </a:solidFill>
            <a:prstDash val="solid"/>
          </a:ln>
        </p:spPr>
        <p:txBody>
          <a:bodyPr/>
          <a:lstStyle/>
          <a:p>
            <a:endParaRPr lang="en-IL"/>
          </a:p>
        </p:txBody>
      </p:sp>
      <p:sp>
        <p:nvSpPr>
          <p:cNvPr id="11" name="Rectangle 10">
            <a:extLst>
              <a:ext uri="{FF2B5EF4-FFF2-40B4-BE49-F238E27FC236}">
                <a16:creationId xmlns:a16="http://schemas.microsoft.com/office/drawing/2014/main" id="{72079ACF-94E6-4D05-B348-2DE7D1858DA1}"/>
              </a:ext>
            </a:extLst>
          </p:cNvPr>
          <p:cNvSpPr>
            <a:spLocks noGrp="1"/>
          </p:cNvSpPr>
          <p:nvPr/>
        </p:nvSpPr>
        <p:spPr>
          <a:xfrm>
            <a:off x="981075" y="5124450"/>
            <a:ext cx="2190750" cy="228600"/>
          </a:xfrm>
          <a:prstGeom prst="rect">
            <a:avLst/>
          </a:prstGeom>
          <a:noFill/>
          <a:ln w="0">
            <a:noFill/>
          </a:ln>
        </p:spPr>
        <p:txBody>
          <a:bodyPr wrap="square" lIns="0" tIns="0" rIns="0" bIns="0" anchor="t">
            <a:normAutofit/>
          </a:bodyPr>
          <a:lstStyle/>
          <a:p>
            <a:pPr algn="l">
              <a:defRPr sz="1275" b="1">
                <a:solidFill>
                  <a:srgbClr val="4D4D4D"/>
                </a:solidFill>
                <a:latin typeface="Arial"/>
                <a:ea typeface="Arial"/>
                <a:cs typeface="Arial"/>
              </a:defRPr>
            </a:pPr>
            <a:r>
              <a:rPr sz="1275" b="1">
                <a:solidFill>
                  <a:srgbClr val="4D4D4D"/>
                </a:solidFill>
                <a:latin typeface="Arial"/>
                <a:ea typeface="Arial"/>
                <a:cs typeface="Arial"/>
              </a:rPr>
              <a:t>BP · 100 epochs</a:t>
            </a:r>
          </a:p>
        </p:txBody>
      </p:sp>
      <p:sp>
        <p:nvSpPr>
          <p:cNvPr id="12" name="Rectangle 11">
            <a:extLst>
              <a:ext uri="{FF2B5EF4-FFF2-40B4-BE49-F238E27FC236}">
                <a16:creationId xmlns:a16="http://schemas.microsoft.com/office/drawing/2014/main" id="{9FE0C3E7-3CA6-470D-A072-736FF9AF828F}"/>
              </a:ext>
            </a:extLst>
          </p:cNvPr>
          <p:cNvSpPr>
            <a:spLocks noGrp="1"/>
          </p:cNvSpPr>
          <p:nvPr/>
        </p:nvSpPr>
        <p:spPr>
          <a:xfrm>
            <a:off x="981075" y="5372100"/>
            <a:ext cx="4762500" cy="323850"/>
          </a:xfrm>
          <a:prstGeom prst="rect">
            <a:avLst/>
          </a:prstGeom>
          <a:noFill/>
          <a:ln w="0">
            <a:noFill/>
          </a:ln>
        </p:spPr>
        <p:txBody>
          <a:bodyPr wrap="square" lIns="0" tIns="0" rIns="0" bIns="0" anchor="t">
            <a:normAutofit/>
          </a:bodyPr>
          <a:lstStyle/>
          <a:p>
            <a:pPr algn="l">
              <a:defRPr sz="2025" b="1">
                <a:solidFill>
                  <a:srgbClr val="4D4D4D"/>
                </a:solidFill>
                <a:latin typeface="Arial"/>
                <a:ea typeface="Arial"/>
                <a:cs typeface="Arial"/>
              </a:defRPr>
            </a:pPr>
            <a:r>
              <a:rPr sz="2025" b="1">
                <a:solidFill>
                  <a:srgbClr val="4D4D4D"/>
                </a:solidFill>
                <a:latin typeface="Arial"/>
                <a:ea typeface="Arial"/>
                <a:cs typeface="Arial"/>
              </a:rPr>
              <a:t>1,222.377 T operations</a:t>
            </a:r>
          </a:p>
        </p:txBody>
      </p:sp>
      <p:sp>
        <p:nvSpPr>
          <p:cNvPr id="13" name="Rectangle 12">
            <a:extLst>
              <a:ext uri="{FF2B5EF4-FFF2-40B4-BE49-F238E27FC236}">
                <a16:creationId xmlns:a16="http://schemas.microsoft.com/office/drawing/2014/main" id="{F923E173-A99B-4AEE-A2E8-0E66E4BD2292}"/>
              </a:ext>
            </a:extLst>
          </p:cNvPr>
          <p:cNvSpPr>
            <a:spLocks noGrp="1"/>
          </p:cNvSpPr>
          <p:nvPr/>
        </p:nvSpPr>
        <p:spPr>
          <a:xfrm>
            <a:off x="7000875" y="5000625"/>
            <a:ext cx="4191000" cy="723900"/>
          </a:xfrm>
          <a:prstGeom prst="rect">
            <a:avLst/>
          </a:prstGeom>
          <a:noFill/>
          <a:ln w="0">
            <a:noFill/>
          </a:ln>
        </p:spPr>
        <p:txBody>
          <a:bodyPr wrap="square" lIns="0" tIns="0" rIns="0" bIns="0" anchor="t">
            <a:normAutofit/>
          </a:bodyPr>
          <a:lstStyle/>
          <a:p>
            <a:pPr algn="l">
              <a:defRPr sz="1275" b="0">
                <a:solidFill>
                  <a:srgbClr val="526272"/>
                </a:solidFill>
                <a:latin typeface="Arial"/>
                <a:ea typeface="Arial"/>
                <a:cs typeface="Arial"/>
              </a:defRPr>
            </a:pPr>
            <a:r>
              <a:rPr sz="1275" b="0">
                <a:solidFill>
                  <a:srgbClr val="526272"/>
                </a:solidFill>
                <a:latin typeface="Arial"/>
                <a:ea typeface="Arial"/>
                <a:cs typeface="Arial"/>
              </a:rPr>
              <a:t>Includes source-appropriate preprocessing and evaluation. ZCA eigendecomposition remains a separate estimate.</a:t>
            </a:r>
          </a:p>
        </p:txBody>
      </p:sp>
      <p:sp>
        <p:nvSpPr>
          <p:cNvPr id="14" name="Rectangle 13">
            <a:extLst>
              <a:ext uri="{FF2B5EF4-FFF2-40B4-BE49-F238E27FC236}">
                <a16:creationId xmlns:a16="http://schemas.microsoft.com/office/drawing/2014/main" id="{6093641A-0F0B-433A-A83F-70541279C9C1}"/>
              </a:ext>
            </a:extLst>
          </p:cNvPr>
          <p:cNvSpPr>
            <a:spLocks noGrp="1"/>
          </p:cNvSpPr>
          <p:nvPr/>
        </p:nvSpPr>
        <p:spPr>
          <a:xfrm>
            <a:off x="7000875" y="5905500"/>
            <a:ext cx="4191000" cy="285750"/>
          </a:xfrm>
          <a:prstGeom prst="rect">
            <a:avLst/>
          </a:prstGeom>
          <a:noFill/>
          <a:ln w="0">
            <a:noFill/>
          </a:ln>
        </p:spPr>
        <p:txBody>
          <a:bodyPr wrap="square" lIns="0" tIns="0" rIns="0" bIns="0" anchor="t">
            <a:normAutofit fontScale="85103"/>
          </a:bodyPr>
          <a:lstStyle/>
          <a:p>
            <a:pPr algn="l">
              <a:defRPr sz="1275" b="1">
                <a:solidFill>
                  <a:srgbClr val="A33A3A"/>
                </a:solidFill>
                <a:latin typeface="Arial"/>
                <a:ea typeface="Arial"/>
                <a:cs typeface="Arial"/>
              </a:defRPr>
            </a:pPr>
            <a:r>
              <a:rPr sz="1275" b="1">
                <a:solidFill>
                  <a:srgbClr val="A33A3A"/>
                </a:solidFill>
                <a:latin typeface="Arial"/>
                <a:ea typeface="Arial"/>
                <a:cs typeface="Arial"/>
              </a:rPr>
              <a:t>Analytical payloads only. No measured GPU peak memory.</a:t>
            </a:r>
          </a:p>
        </p:txBody>
      </p:sp>
    </p:spTree>
    <p:extLst>
      <p:ext uri="{BB962C8B-B14F-4D97-AF65-F5344CB8AC3E}">
        <p14:creationId xmlns:p14="http://schemas.microsoft.com/office/powerpoint/2010/main" val="1951462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26453FB-2BBD-44D2-8AA7-F80EAB6CA376}"/>
              </a:ext>
            </a:extLst>
          </p:cNvPr>
          <p:cNvSpPr>
            <a:spLocks noGrp="1"/>
          </p:cNvSpPr>
          <p:nvPr/>
        </p:nvSpPr>
        <p:spPr>
          <a:xfrm>
            <a:off x="609600" y="333375"/>
            <a:ext cx="9715500" cy="514350"/>
          </a:xfrm>
          <a:prstGeom prst="rect">
            <a:avLst/>
          </a:prstGeom>
          <a:noFill/>
          <a:ln w="0">
            <a:noFill/>
          </a:ln>
        </p:spPr>
        <p:txBody>
          <a:bodyPr wrap="square" lIns="0" tIns="0" rIns="0" bIns="0" anchor="t">
            <a:normAutofit/>
          </a:bodyPr>
          <a:lstStyle/>
          <a:p>
            <a:pPr algn="l">
              <a:defRPr sz="2550" b="1">
                <a:solidFill>
                  <a:srgbClr val="17222F"/>
                </a:solidFill>
                <a:latin typeface="Arial"/>
                <a:ea typeface="Arial"/>
                <a:cs typeface="Arial"/>
              </a:defRPr>
            </a:pPr>
            <a:r>
              <a:rPr sz="2550" b="1">
                <a:solidFill>
                  <a:srgbClr val="17222F"/>
                </a:solidFill>
                <a:latin typeface="Arial"/>
                <a:ea typeface="Arial"/>
                <a:cs typeface="Arial"/>
              </a:rPr>
              <a:t>Accuracy and convergence context</a:t>
            </a:r>
          </a:p>
        </p:txBody>
      </p:sp>
      <p:sp>
        <p:nvSpPr>
          <p:cNvPr id="2" name="Straight Connector 1">
            <a:extLst>
              <a:ext uri="{FF2B5EF4-FFF2-40B4-BE49-F238E27FC236}">
                <a16:creationId xmlns:a16="http://schemas.microsoft.com/office/drawing/2014/main" id="{C82AE16A-C99A-476D-AF55-A11869322A50}"/>
              </a:ext>
            </a:extLst>
          </p:cNvPr>
          <p:cNvSpPr>
            <a:spLocks noGrp="1"/>
          </p:cNvSpPr>
          <p:nvPr/>
        </p:nvSpPr>
        <p:spPr>
          <a:xfrm>
            <a:off x="609600" y="942975"/>
            <a:ext cx="10972800" cy="9525"/>
          </a:xfrm>
          <a:prstGeom prst="line">
            <a:avLst/>
          </a:prstGeom>
          <a:noFill/>
          <a:ln w="9525">
            <a:solidFill>
              <a:srgbClr val="D9E0E5"/>
            </a:solidFill>
            <a:prstDash val="solid"/>
          </a:ln>
        </p:spPr>
        <p:txBody>
          <a:bodyPr/>
          <a:lstStyle/>
          <a:p>
            <a:endParaRPr lang="en-IL"/>
          </a:p>
        </p:txBody>
      </p:sp>
      <p:sp>
        <p:nvSpPr>
          <p:cNvPr id="3" name="Rectangle 2">
            <a:extLst>
              <a:ext uri="{FF2B5EF4-FFF2-40B4-BE49-F238E27FC236}">
                <a16:creationId xmlns:a16="http://schemas.microsoft.com/office/drawing/2014/main" id="{50EE7012-6034-440D-BD67-876873A27322}"/>
              </a:ext>
            </a:extLst>
          </p:cNvPr>
          <p:cNvSpPr>
            <a:spLocks noGrp="1"/>
          </p:cNvSpPr>
          <p:nvPr/>
        </p:nvSpPr>
        <p:spPr>
          <a:xfrm>
            <a:off x="11144250" y="381000"/>
            <a:ext cx="438150" cy="285750"/>
          </a:xfrm>
          <a:prstGeom prst="rect">
            <a:avLst/>
          </a:prstGeom>
          <a:noFill/>
          <a:ln w="0">
            <a:noFill/>
          </a:ln>
        </p:spPr>
        <p:txBody>
          <a:bodyPr wrap="square" lIns="0" tIns="0" rIns="0" bIns="0" anchor="t">
            <a:normAutofit/>
          </a:bodyPr>
          <a:lstStyle/>
          <a:p>
            <a:pPr algn="r">
              <a:defRPr sz="1125" b="1">
                <a:solidFill>
                  <a:srgbClr val="526272"/>
                </a:solidFill>
                <a:latin typeface="Arial"/>
                <a:ea typeface="Arial"/>
                <a:cs typeface="Arial"/>
              </a:defRPr>
            </a:pPr>
            <a:r>
              <a:rPr sz="1125" b="1">
                <a:solidFill>
                  <a:srgbClr val="526272"/>
                </a:solidFill>
                <a:latin typeface="Arial"/>
                <a:ea typeface="Arial"/>
                <a:cs typeface="Arial"/>
              </a:rPr>
              <a:t>06</a:t>
            </a:r>
          </a:p>
        </p:txBody>
      </p:sp>
      <p:sp>
        <p:nvSpPr>
          <p:cNvPr id="4" name="Rectangle 3">
            <a:extLst>
              <a:ext uri="{FF2B5EF4-FFF2-40B4-BE49-F238E27FC236}">
                <a16:creationId xmlns:a16="http://schemas.microsoft.com/office/drawing/2014/main" id="{751DD64E-A50B-4B88-9B00-419A5D5EF0E6}"/>
              </a:ext>
            </a:extLst>
          </p:cNvPr>
          <p:cNvSpPr>
            <a:spLocks noGrp="1"/>
          </p:cNvSpPr>
          <p:nvPr/>
        </p:nvSpPr>
        <p:spPr>
          <a:xfrm>
            <a:off x="695325" y="1200150"/>
            <a:ext cx="4191000" cy="323850"/>
          </a:xfrm>
          <a:prstGeom prst="rect">
            <a:avLst/>
          </a:prstGeom>
          <a:noFill/>
          <a:ln w="0">
            <a:noFill/>
          </a:ln>
        </p:spPr>
        <p:txBody>
          <a:bodyPr wrap="square" lIns="0" tIns="0" rIns="0" bIns="0" anchor="t">
            <a:normAutofit/>
          </a:bodyPr>
          <a:lstStyle/>
          <a:p>
            <a:pPr algn="l">
              <a:defRPr sz="1725" b="1">
                <a:solidFill>
                  <a:srgbClr val="17222F"/>
                </a:solidFill>
                <a:latin typeface="Arial"/>
                <a:ea typeface="Arial"/>
                <a:cs typeface="Arial"/>
              </a:defRPr>
            </a:pPr>
            <a:r>
              <a:rPr sz="1725" b="1">
                <a:solidFill>
                  <a:srgbClr val="17222F"/>
                </a:solidFill>
                <a:latin typeface="Arial"/>
                <a:ea typeface="Arial"/>
                <a:cs typeface="Arial"/>
              </a:rPr>
              <a:t>Exact reported observations</a:t>
            </a:r>
          </a:p>
        </p:txBody>
      </p:sp>
      <p:sp>
        <p:nvSpPr>
          <p:cNvPr id="5" name="Rectangle 4">
            <a:extLst>
              <a:ext uri="{FF2B5EF4-FFF2-40B4-BE49-F238E27FC236}">
                <a16:creationId xmlns:a16="http://schemas.microsoft.com/office/drawing/2014/main" id="{DF6828A0-6539-4738-82A1-7D30AB566D9E}"/>
              </a:ext>
            </a:extLst>
          </p:cNvPr>
          <p:cNvSpPr>
            <a:spLocks noGrp="1"/>
          </p:cNvSpPr>
          <p:nvPr/>
        </p:nvSpPr>
        <p:spPr>
          <a:xfrm>
            <a:off x="790575" y="1752600"/>
            <a:ext cx="2476500" cy="628650"/>
          </a:xfrm>
          <a:prstGeom prst="rect">
            <a:avLst/>
          </a:prstGeom>
          <a:noFill/>
          <a:ln w="0">
            <a:noFill/>
          </a:ln>
        </p:spPr>
        <p:txBody>
          <a:bodyPr wrap="square" lIns="0" tIns="0" rIns="0" bIns="0" anchor="t">
            <a:normAutofit/>
          </a:bodyPr>
          <a:lstStyle/>
          <a:p>
            <a:pPr algn="l">
              <a:defRPr sz="3300" b="1">
                <a:solidFill>
                  <a:srgbClr val="0072B2"/>
                </a:solidFill>
                <a:latin typeface="Arial"/>
                <a:ea typeface="Arial"/>
                <a:cs typeface="Arial"/>
              </a:defRPr>
            </a:pPr>
            <a:r>
              <a:rPr sz="3300" b="1">
                <a:solidFill>
                  <a:srgbClr val="0072B2"/>
                </a:solidFill>
                <a:latin typeface="Arial"/>
                <a:ea typeface="Arial"/>
                <a:cs typeface="Arial"/>
              </a:rPr>
              <a:t>64.55%</a:t>
            </a:r>
          </a:p>
        </p:txBody>
      </p:sp>
      <p:sp>
        <p:nvSpPr>
          <p:cNvPr id="6" name="Rectangle 5">
            <a:extLst>
              <a:ext uri="{FF2B5EF4-FFF2-40B4-BE49-F238E27FC236}">
                <a16:creationId xmlns:a16="http://schemas.microsoft.com/office/drawing/2014/main" id="{A7C707DF-42E2-4757-8BAE-A8E66807D09C}"/>
              </a:ext>
            </a:extLst>
          </p:cNvPr>
          <p:cNvSpPr>
            <a:spLocks noGrp="1"/>
          </p:cNvSpPr>
          <p:nvPr/>
        </p:nvSpPr>
        <p:spPr>
          <a:xfrm>
            <a:off x="800100" y="2381250"/>
            <a:ext cx="2476500" cy="285750"/>
          </a:xfrm>
          <a:prstGeom prst="rect">
            <a:avLst/>
          </a:prstGeom>
          <a:noFill/>
          <a:ln w="0">
            <a:noFill/>
          </a:ln>
        </p:spPr>
        <p:txBody>
          <a:bodyPr wrap="square" lIns="0" tIns="0" rIns="0" bIns="0" anchor="t">
            <a:normAutofit/>
          </a:bodyPr>
          <a:lstStyle/>
          <a:p>
            <a:pPr algn="l">
              <a:defRPr sz="1350" b="0">
                <a:solidFill>
                  <a:srgbClr val="526272"/>
                </a:solidFill>
                <a:latin typeface="Arial"/>
                <a:ea typeface="Arial"/>
                <a:cs typeface="Arial"/>
              </a:defRPr>
            </a:pPr>
            <a:r>
              <a:rPr sz="1350" b="0">
                <a:solidFill>
                  <a:srgbClr val="526272"/>
                </a:solidFill>
                <a:latin typeface="Arial"/>
                <a:ea typeface="Arial"/>
                <a:cs typeface="Arial"/>
              </a:rPr>
              <a:t>± 0.4 · 10 runs</a:t>
            </a:r>
          </a:p>
        </p:txBody>
      </p:sp>
      <p:sp>
        <p:nvSpPr>
          <p:cNvPr id="7" name="Rectangle 6">
            <a:extLst>
              <a:ext uri="{FF2B5EF4-FFF2-40B4-BE49-F238E27FC236}">
                <a16:creationId xmlns:a16="http://schemas.microsoft.com/office/drawing/2014/main" id="{823DB13B-D66D-408D-AD0C-98ED75866337}"/>
              </a:ext>
            </a:extLst>
          </p:cNvPr>
          <p:cNvSpPr>
            <a:spLocks noGrp="1"/>
          </p:cNvSpPr>
          <p:nvPr/>
        </p:nvSpPr>
        <p:spPr>
          <a:xfrm>
            <a:off x="800100" y="2743200"/>
            <a:ext cx="3238500" cy="285750"/>
          </a:xfrm>
          <a:prstGeom prst="rect">
            <a:avLst/>
          </a:prstGeom>
          <a:noFill/>
          <a:ln w="0">
            <a:noFill/>
          </a:ln>
        </p:spPr>
        <p:txBody>
          <a:bodyPr wrap="square" lIns="0" tIns="0" rIns="0" bIns="0" anchor="t">
            <a:normAutofit/>
          </a:bodyPr>
          <a:lstStyle/>
          <a:p>
            <a:pPr algn="l">
              <a:defRPr sz="1500" b="1">
                <a:solidFill>
                  <a:srgbClr val="17222F"/>
                </a:solidFill>
                <a:latin typeface="Arial"/>
                <a:ea typeface="Arial"/>
                <a:cs typeface="Arial"/>
              </a:defRPr>
            </a:pPr>
            <a:r>
              <a:rPr sz="1500" b="1">
                <a:solidFill>
                  <a:srgbClr val="17222F"/>
                </a:solidFill>
                <a:latin typeface="Arial"/>
                <a:ea typeface="Arial"/>
                <a:cs typeface="Arial"/>
              </a:rPr>
              <a:t>Original Hebbian paper</a:t>
            </a:r>
          </a:p>
        </p:txBody>
      </p:sp>
      <p:sp>
        <p:nvSpPr>
          <p:cNvPr id="8" name="Straight Connector 7">
            <a:extLst>
              <a:ext uri="{FF2B5EF4-FFF2-40B4-BE49-F238E27FC236}">
                <a16:creationId xmlns:a16="http://schemas.microsoft.com/office/drawing/2014/main" id="{A6090A0E-4FDE-4A2F-B92D-C64B3D2BED48}"/>
              </a:ext>
            </a:extLst>
          </p:cNvPr>
          <p:cNvSpPr>
            <a:spLocks noGrp="1"/>
          </p:cNvSpPr>
          <p:nvPr/>
        </p:nvSpPr>
        <p:spPr>
          <a:xfrm>
            <a:off x="781050" y="3248025"/>
            <a:ext cx="3381375" cy="9525"/>
          </a:xfrm>
          <a:prstGeom prst="line">
            <a:avLst/>
          </a:prstGeom>
          <a:noFill/>
          <a:ln w="9525">
            <a:solidFill>
              <a:srgbClr val="D9E0E5"/>
            </a:solidFill>
            <a:prstDash val="solid"/>
          </a:ln>
        </p:spPr>
        <p:txBody>
          <a:bodyPr/>
          <a:lstStyle/>
          <a:p>
            <a:endParaRPr lang="en-IL"/>
          </a:p>
        </p:txBody>
      </p:sp>
      <p:sp>
        <p:nvSpPr>
          <p:cNvPr id="9" name="Rectangle 8">
            <a:extLst>
              <a:ext uri="{FF2B5EF4-FFF2-40B4-BE49-F238E27FC236}">
                <a16:creationId xmlns:a16="http://schemas.microsoft.com/office/drawing/2014/main" id="{DC078C44-CF2E-4FB2-906D-9109938CDB15}"/>
              </a:ext>
            </a:extLst>
          </p:cNvPr>
          <p:cNvSpPr>
            <a:spLocks noGrp="1"/>
          </p:cNvSpPr>
          <p:nvPr/>
        </p:nvSpPr>
        <p:spPr>
          <a:xfrm>
            <a:off x="790575" y="3524250"/>
            <a:ext cx="2476500" cy="628650"/>
          </a:xfrm>
          <a:prstGeom prst="rect">
            <a:avLst/>
          </a:prstGeom>
          <a:noFill/>
          <a:ln w="0">
            <a:noFill/>
          </a:ln>
        </p:spPr>
        <p:txBody>
          <a:bodyPr wrap="square" lIns="0" tIns="0" rIns="0" bIns="0" anchor="t">
            <a:normAutofit/>
          </a:bodyPr>
          <a:lstStyle/>
          <a:p>
            <a:pPr algn="l">
              <a:defRPr sz="3300" b="1">
                <a:solidFill>
                  <a:srgbClr val="009E73"/>
                </a:solidFill>
                <a:latin typeface="Arial"/>
                <a:ea typeface="Arial"/>
                <a:cs typeface="Arial"/>
              </a:defRPr>
            </a:pPr>
            <a:r>
              <a:rPr sz="3300" b="1">
                <a:solidFill>
                  <a:srgbClr val="009E73"/>
                </a:solidFill>
                <a:latin typeface="Arial"/>
                <a:ea typeface="Arial"/>
                <a:cs typeface="Arial"/>
              </a:rPr>
              <a:t>64.65%</a:t>
            </a:r>
          </a:p>
        </p:txBody>
      </p:sp>
      <p:sp>
        <p:nvSpPr>
          <p:cNvPr id="10" name="Rectangle 9">
            <a:extLst>
              <a:ext uri="{FF2B5EF4-FFF2-40B4-BE49-F238E27FC236}">
                <a16:creationId xmlns:a16="http://schemas.microsoft.com/office/drawing/2014/main" id="{3B8030BF-1A70-4C6F-98A5-B9020BFC3F5A}"/>
              </a:ext>
            </a:extLst>
          </p:cNvPr>
          <p:cNvSpPr>
            <a:spLocks noGrp="1"/>
          </p:cNvSpPr>
          <p:nvPr/>
        </p:nvSpPr>
        <p:spPr>
          <a:xfrm>
            <a:off x="800100" y="4152900"/>
            <a:ext cx="2476500" cy="285750"/>
          </a:xfrm>
          <a:prstGeom prst="rect">
            <a:avLst/>
          </a:prstGeom>
          <a:noFill/>
          <a:ln w="0">
            <a:noFill/>
          </a:ln>
        </p:spPr>
        <p:txBody>
          <a:bodyPr wrap="square" lIns="0" tIns="0" rIns="0" bIns="0" anchor="t">
            <a:normAutofit/>
          </a:bodyPr>
          <a:lstStyle/>
          <a:p>
            <a:pPr algn="l">
              <a:defRPr sz="1350" b="0">
                <a:solidFill>
                  <a:srgbClr val="526272"/>
                </a:solidFill>
                <a:latin typeface="Arial"/>
                <a:ea typeface="Arial"/>
                <a:cs typeface="Arial"/>
              </a:defRPr>
            </a:pPr>
            <a:r>
              <a:rPr sz="1350" b="0">
                <a:solidFill>
                  <a:srgbClr val="526272"/>
                </a:solidFill>
                <a:latin typeface="Arial"/>
                <a:ea typeface="Arial"/>
                <a:cs typeface="Arial"/>
              </a:rPr>
              <a:t>1 saved run</a:t>
            </a:r>
          </a:p>
        </p:txBody>
      </p:sp>
      <p:sp>
        <p:nvSpPr>
          <p:cNvPr id="11" name="Rectangle 10">
            <a:extLst>
              <a:ext uri="{FF2B5EF4-FFF2-40B4-BE49-F238E27FC236}">
                <a16:creationId xmlns:a16="http://schemas.microsoft.com/office/drawing/2014/main" id="{C8883CBA-6490-4B06-BA8A-1EACD4A6E947}"/>
              </a:ext>
            </a:extLst>
          </p:cNvPr>
          <p:cNvSpPr>
            <a:spLocks noGrp="1"/>
          </p:cNvSpPr>
          <p:nvPr/>
        </p:nvSpPr>
        <p:spPr>
          <a:xfrm>
            <a:off x="800100" y="4514850"/>
            <a:ext cx="3238500" cy="285750"/>
          </a:xfrm>
          <a:prstGeom prst="rect">
            <a:avLst/>
          </a:prstGeom>
          <a:noFill/>
          <a:ln w="0">
            <a:noFill/>
          </a:ln>
        </p:spPr>
        <p:txBody>
          <a:bodyPr wrap="square" lIns="0" tIns="0" rIns="0" bIns="0" anchor="t">
            <a:normAutofit/>
          </a:bodyPr>
          <a:lstStyle/>
          <a:p>
            <a:pPr algn="l">
              <a:defRPr sz="1500" b="1">
                <a:solidFill>
                  <a:srgbClr val="17222F"/>
                </a:solidFill>
                <a:latin typeface="Arial"/>
                <a:ea typeface="Arial"/>
                <a:cs typeface="Arial"/>
              </a:defRPr>
            </a:pPr>
            <a:r>
              <a:rPr sz="1500" b="1">
                <a:solidFill>
                  <a:srgbClr val="17222F"/>
                </a:solidFill>
                <a:latin typeface="Arial"/>
                <a:ea typeface="Arial"/>
                <a:cs typeface="Arial"/>
              </a:rPr>
              <a:t>Repository notebook</a:t>
            </a:r>
          </a:p>
        </p:txBody>
      </p:sp>
      <p:sp>
        <p:nvSpPr>
          <p:cNvPr id="12" name="Straight Connector 11">
            <a:extLst>
              <a:ext uri="{FF2B5EF4-FFF2-40B4-BE49-F238E27FC236}">
                <a16:creationId xmlns:a16="http://schemas.microsoft.com/office/drawing/2014/main" id="{4AA34C34-EDBE-48B0-ADF7-ABC67B2806BE}"/>
              </a:ext>
            </a:extLst>
          </p:cNvPr>
          <p:cNvSpPr>
            <a:spLocks noGrp="1"/>
          </p:cNvSpPr>
          <p:nvPr/>
        </p:nvSpPr>
        <p:spPr>
          <a:xfrm>
            <a:off x="4762500" y="1171575"/>
            <a:ext cx="9525" cy="4191000"/>
          </a:xfrm>
          <a:prstGeom prst="line">
            <a:avLst/>
          </a:prstGeom>
          <a:noFill/>
          <a:ln w="9525">
            <a:solidFill>
              <a:srgbClr val="D9E0E5"/>
            </a:solidFill>
            <a:prstDash val="solid"/>
          </a:ln>
        </p:spPr>
        <p:txBody>
          <a:bodyPr/>
          <a:lstStyle/>
          <a:p>
            <a:endParaRPr lang="en-IL"/>
          </a:p>
        </p:txBody>
      </p:sp>
      <p:sp>
        <p:nvSpPr>
          <p:cNvPr id="13" name="Rectangle 12">
            <a:extLst>
              <a:ext uri="{FF2B5EF4-FFF2-40B4-BE49-F238E27FC236}">
                <a16:creationId xmlns:a16="http://schemas.microsoft.com/office/drawing/2014/main" id="{5EDA96D4-B036-48B4-905D-941740CEBF03}"/>
              </a:ext>
            </a:extLst>
          </p:cNvPr>
          <p:cNvSpPr>
            <a:spLocks noGrp="1"/>
          </p:cNvSpPr>
          <p:nvPr/>
        </p:nvSpPr>
        <p:spPr>
          <a:xfrm>
            <a:off x="5219700" y="1200150"/>
            <a:ext cx="6191250" cy="323850"/>
          </a:xfrm>
          <a:prstGeom prst="rect">
            <a:avLst/>
          </a:prstGeom>
          <a:noFill/>
          <a:ln w="0">
            <a:noFill/>
          </a:ln>
        </p:spPr>
        <p:txBody>
          <a:bodyPr wrap="square" lIns="0" tIns="0" rIns="0" bIns="0" anchor="t">
            <a:normAutofit/>
          </a:bodyPr>
          <a:lstStyle/>
          <a:p>
            <a:pPr algn="l">
              <a:defRPr sz="1725" b="1">
                <a:solidFill>
                  <a:srgbClr val="17222F"/>
                </a:solidFill>
                <a:latin typeface="Arial"/>
                <a:ea typeface="Arial"/>
                <a:cs typeface="Arial"/>
              </a:defRPr>
            </a:pPr>
            <a:r>
              <a:rPr sz="1725" b="1">
                <a:solidFill>
                  <a:srgbClr val="17222F"/>
                </a:solidFill>
                <a:latin typeface="Arial"/>
                <a:ea typeface="Arial"/>
                <a:cs typeface="Arial"/>
              </a:rPr>
              <a:t>Approximate comparison-paper graph reads</a:t>
            </a:r>
          </a:p>
        </p:txBody>
      </p:sp>
      <p:graphicFrame>
        <p:nvGraphicFramePr>
          <p:cNvPr id="30" name="Chart"/>
          <p:cNvGraphicFramePr/>
          <p:nvPr/>
        </p:nvGraphicFramePr>
        <p:xfrm>
          <a:off x="5095875" y="1647825"/>
          <a:ext cx="6191250"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tangle: Rounded Corners 14">
            <a:extLst>
              <a:ext uri="{FF2B5EF4-FFF2-40B4-BE49-F238E27FC236}">
                <a16:creationId xmlns:a16="http://schemas.microsoft.com/office/drawing/2014/main" id="{1890414E-05DA-41A4-8F25-4F25F3DE4D26}"/>
              </a:ext>
            </a:extLst>
          </p:cNvPr>
          <p:cNvSpPr>
            <a:spLocks noGrp="1"/>
          </p:cNvSpPr>
          <p:nvPr/>
        </p:nvSpPr>
        <p:spPr>
          <a:xfrm>
            <a:off x="800100" y="5610225"/>
            <a:ext cx="10477500" cy="685800"/>
          </a:xfrm>
          <a:prstGeom prst="roundRect">
            <a:avLst>
              <a:gd name="adj" fmla="val 13889"/>
            </a:avLst>
          </a:prstGeom>
          <a:solidFill>
            <a:srgbClr val="F7E5E5"/>
          </a:solidFill>
          <a:ln w="9525">
            <a:solidFill>
              <a:srgbClr val="A33A3A"/>
            </a:solidFill>
            <a:prstDash val="solid"/>
          </a:ln>
        </p:spPr>
        <p:txBody>
          <a:bodyPr/>
          <a:lstStyle/>
          <a:p>
            <a:endParaRPr lang="en-IL"/>
          </a:p>
        </p:txBody>
      </p:sp>
      <p:sp>
        <p:nvSpPr>
          <p:cNvPr id="16" name="Rectangle 15">
            <a:extLst>
              <a:ext uri="{FF2B5EF4-FFF2-40B4-BE49-F238E27FC236}">
                <a16:creationId xmlns:a16="http://schemas.microsoft.com/office/drawing/2014/main" id="{2A548157-13BF-4986-8FBB-2011B8B00341}"/>
              </a:ext>
            </a:extLst>
          </p:cNvPr>
          <p:cNvSpPr>
            <a:spLocks noGrp="1"/>
          </p:cNvSpPr>
          <p:nvPr/>
        </p:nvSpPr>
        <p:spPr>
          <a:xfrm>
            <a:off x="1028700" y="5772150"/>
            <a:ext cx="10020300" cy="400050"/>
          </a:xfrm>
          <a:prstGeom prst="rect">
            <a:avLst/>
          </a:prstGeom>
          <a:noFill/>
          <a:ln w="0">
            <a:noFill/>
          </a:ln>
        </p:spPr>
        <p:txBody>
          <a:bodyPr wrap="square" lIns="0" tIns="0" rIns="0" bIns="0" anchor="t">
            <a:normAutofit/>
          </a:bodyPr>
          <a:lstStyle/>
          <a:p>
            <a:pPr algn="ctr">
              <a:defRPr sz="1575" b="1">
                <a:solidFill>
                  <a:srgbClr val="A33A3A"/>
                </a:solidFill>
                <a:latin typeface="Arial"/>
                <a:ea typeface="Arial"/>
                <a:cs typeface="Arial"/>
              </a:defRPr>
            </a:pPr>
            <a:r>
              <a:rPr sz="1575" b="1">
                <a:solidFill>
                  <a:srgbClr val="A33A3A"/>
                </a:solidFill>
                <a:latin typeface="Arial"/>
                <a:ea typeface="Arial"/>
                <a:cs typeface="Arial"/>
              </a:rPr>
              <a:t>Earlier Hebbian stabilization does not mean 5 Hebbian epochs equal 100 BP epochs in accuracy.</a:t>
            </a:r>
          </a:p>
        </p:txBody>
      </p:sp>
    </p:spTree>
    <p:extLst>
      <p:ext uri="{BB962C8B-B14F-4D97-AF65-F5344CB8AC3E}">
        <p14:creationId xmlns:p14="http://schemas.microsoft.com/office/powerpoint/2010/main" val="1873192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93BB34A-AA26-4102-A18C-EE57597BE82C}"/>
              </a:ext>
            </a:extLst>
          </p:cNvPr>
          <p:cNvSpPr>
            <a:spLocks noGrp="1"/>
          </p:cNvSpPr>
          <p:nvPr/>
        </p:nvSpPr>
        <p:spPr>
          <a:xfrm>
            <a:off x="609600" y="333375"/>
            <a:ext cx="9715500" cy="514350"/>
          </a:xfrm>
          <a:prstGeom prst="rect">
            <a:avLst/>
          </a:prstGeom>
          <a:noFill/>
          <a:ln w="0">
            <a:noFill/>
          </a:ln>
        </p:spPr>
        <p:txBody>
          <a:bodyPr wrap="square" lIns="0" tIns="0" rIns="0" bIns="0" anchor="t">
            <a:normAutofit/>
          </a:bodyPr>
          <a:lstStyle/>
          <a:p>
            <a:pPr algn="l">
              <a:defRPr sz="2550" b="1">
                <a:solidFill>
                  <a:srgbClr val="17222F"/>
                </a:solidFill>
                <a:latin typeface="Arial"/>
                <a:ea typeface="Arial"/>
                <a:cs typeface="Arial"/>
              </a:defRPr>
            </a:pPr>
            <a:r>
              <a:rPr sz="2550" b="1">
                <a:solidFill>
                  <a:srgbClr val="17222F"/>
                </a:solidFill>
                <a:latin typeface="Arial"/>
                <a:ea typeface="Arial"/>
                <a:cs typeface="Arial"/>
              </a:rPr>
              <a:t>Supported findings and limits</a:t>
            </a:r>
          </a:p>
        </p:txBody>
      </p:sp>
      <p:sp>
        <p:nvSpPr>
          <p:cNvPr id="2" name="Straight Connector 1">
            <a:extLst>
              <a:ext uri="{FF2B5EF4-FFF2-40B4-BE49-F238E27FC236}">
                <a16:creationId xmlns:a16="http://schemas.microsoft.com/office/drawing/2014/main" id="{DA96C287-56EF-45C6-BC71-A0D82A7977EE}"/>
              </a:ext>
            </a:extLst>
          </p:cNvPr>
          <p:cNvSpPr>
            <a:spLocks noGrp="1"/>
          </p:cNvSpPr>
          <p:nvPr/>
        </p:nvSpPr>
        <p:spPr>
          <a:xfrm>
            <a:off x="609600" y="942975"/>
            <a:ext cx="10972800" cy="9525"/>
          </a:xfrm>
          <a:prstGeom prst="line">
            <a:avLst/>
          </a:prstGeom>
          <a:noFill/>
          <a:ln w="9525">
            <a:solidFill>
              <a:srgbClr val="D9E0E5"/>
            </a:solidFill>
            <a:prstDash val="solid"/>
          </a:ln>
        </p:spPr>
        <p:txBody>
          <a:bodyPr/>
          <a:lstStyle/>
          <a:p>
            <a:endParaRPr lang="en-IL"/>
          </a:p>
        </p:txBody>
      </p:sp>
      <p:sp>
        <p:nvSpPr>
          <p:cNvPr id="3" name="Rectangle 2">
            <a:extLst>
              <a:ext uri="{FF2B5EF4-FFF2-40B4-BE49-F238E27FC236}">
                <a16:creationId xmlns:a16="http://schemas.microsoft.com/office/drawing/2014/main" id="{B1739E15-345B-4C24-BAEA-4EEBEB0F9911}"/>
              </a:ext>
            </a:extLst>
          </p:cNvPr>
          <p:cNvSpPr>
            <a:spLocks noGrp="1"/>
          </p:cNvSpPr>
          <p:nvPr/>
        </p:nvSpPr>
        <p:spPr>
          <a:xfrm>
            <a:off x="11144250" y="381000"/>
            <a:ext cx="438150" cy="285750"/>
          </a:xfrm>
          <a:prstGeom prst="rect">
            <a:avLst/>
          </a:prstGeom>
          <a:noFill/>
          <a:ln w="0">
            <a:noFill/>
          </a:ln>
        </p:spPr>
        <p:txBody>
          <a:bodyPr wrap="square" lIns="0" tIns="0" rIns="0" bIns="0" anchor="t">
            <a:normAutofit/>
          </a:bodyPr>
          <a:lstStyle/>
          <a:p>
            <a:pPr algn="r">
              <a:defRPr sz="1125" b="1">
                <a:solidFill>
                  <a:srgbClr val="526272"/>
                </a:solidFill>
                <a:latin typeface="Arial"/>
                <a:ea typeface="Arial"/>
                <a:cs typeface="Arial"/>
              </a:defRPr>
            </a:pPr>
            <a:r>
              <a:rPr sz="1125" b="1">
                <a:solidFill>
                  <a:srgbClr val="526272"/>
                </a:solidFill>
                <a:latin typeface="Arial"/>
                <a:ea typeface="Arial"/>
                <a:cs typeface="Arial"/>
              </a:rPr>
              <a:t>07</a:t>
            </a:r>
          </a:p>
        </p:txBody>
      </p:sp>
      <p:sp>
        <p:nvSpPr>
          <p:cNvPr id="4" name="Rectangle 3">
            <a:extLst>
              <a:ext uri="{FF2B5EF4-FFF2-40B4-BE49-F238E27FC236}">
                <a16:creationId xmlns:a16="http://schemas.microsoft.com/office/drawing/2014/main" id="{BF279E19-E96D-4E91-B583-1693A473B52C}"/>
              </a:ext>
            </a:extLst>
          </p:cNvPr>
          <p:cNvSpPr>
            <a:spLocks noGrp="1"/>
          </p:cNvSpPr>
          <p:nvPr/>
        </p:nvSpPr>
        <p:spPr>
          <a:xfrm>
            <a:off x="723900" y="1238250"/>
            <a:ext cx="4857750" cy="342900"/>
          </a:xfrm>
          <a:prstGeom prst="rect">
            <a:avLst/>
          </a:prstGeom>
          <a:noFill/>
          <a:ln w="0">
            <a:noFill/>
          </a:ln>
        </p:spPr>
        <p:txBody>
          <a:bodyPr wrap="square" lIns="0" tIns="0" rIns="0" bIns="0" anchor="t">
            <a:normAutofit/>
          </a:bodyPr>
          <a:lstStyle/>
          <a:p>
            <a:pPr algn="l">
              <a:defRPr sz="1875" b="1">
                <a:solidFill>
                  <a:srgbClr val="0072B2"/>
                </a:solidFill>
                <a:latin typeface="Arial"/>
                <a:ea typeface="Arial"/>
                <a:cs typeface="Arial"/>
              </a:defRPr>
            </a:pPr>
            <a:r>
              <a:rPr sz="1875" b="1">
                <a:solidFill>
                  <a:srgbClr val="0072B2"/>
                </a:solidFill>
                <a:latin typeface="Arial"/>
                <a:ea typeface="Arial"/>
                <a:cs typeface="Arial"/>
              </a:rPr>
              <a:t>What the model establishes</a:t>
            </a:r>
          </a:p>
        </p:txBody>
      </p:sp>
      <p:sp>
        <p:nvSpPr>
          <p:cNvPr id="5" name="Rectangle 4">
            <a:extLst>
              <a:ext uri="{FF2B5EF4-FFF2-40B4-BE49-F238E27FC236}">
                <a16:creationId xmlns:a16="http://schemas.microsoft.com/office/drawing/2014/main" id="{C2AEBB0E-733E-47F6-AB7E-A870CDC0CADA}"/>
              </a:ext>
            </a:extLst>
          </p:cNvPr>
          <p:cNvSpPr>
            <a:spLocks noGrp="1"/>
          </p:cNvSpPr>
          <p:nvPr/>
        </p:nvSpPr>
        <p:spPr>
          <a:xfrm>
            <a:off x="762000" y="1933575"/>
            <a:ext cx="666750" cy="361950"/>
          </a:xfrm>
          <a:prstGeom prst="rect">
            <a:avLst/>
          </a:prstGeom>
          <a:noFill/>
          <a:ln w="0">
            <a:noFill/>
          </a:ln>
        </p:spPr>
        <p:txBody>
          <a:bodyPr wrap="square" lIns="0" tIns="0" rIns="0" bIns="0" anchor="t">
            <a:normAutofit/>
          </a:bodyPr>
          <a:lstStyle/>
          <a:p>
            <a:pPr algn="l">
              <a:defRPr sz="1800" b="1">
                <a:solidFill>
                  <a:srgbClr val="0072B2"/>
                </a:solidFill>
                <a:latin typeface="Arial"/>
                <a:ea typeface="Arial"/>
                <a:cs typeface="Arial"/>
              </a:defRPr>
            </a:pPr>
            <a:r>
              <a:rPr sz="1800" b="1">
                <a:solidFill>
                  <a:srgbClr val="0072B2"/>
                </a:solidFill>
                <a:latin typeface="Arial"/>
                <a:ea typeface="Arial"/>
                <a:cs typeface="Arial"/>
              </a:rPr>
              <a:t>A1</a:t>
            </a:r>
          </a:p>
        </p:txBody>
      </p:sp>
      <p:sp>
        <p:nvSpPr>
          <p:cNvPr id="6" name="Rectangle 5">
            <a:extLst>
              <a:ext uri="{FF2B5EF4-FFF2-40B4-BE49-F238E27FC236}">
                <a16:creationId xmlns:a16="http://schemas.microsoft.com/office/drawing/2014/main" id="{EE1BA3B4-6BCF-4B1D-9496-89739B0ED018}"/>
              </a:ext>
            </a:extLst>
          </p:cNvPr>
          <p:cNvSpPr>
            <a:spLocks noGrp="1"/>
          </p:cNvSpPr>
          <p:nvPr/>
        </p:nvSpPr>
        <p:spPr>
          <a:xfrm>
            <a:off x="1524000" y="1895475"/>
            <a:ext cx="4095750" cy="571500"/>
          </a:xfrm>
          <a:prstGeom prst="rect">
            <a:avLst/>
          </a:prstGeom>
          <a:noFill/>
          <a:ln w="0">
            <a:noFill/>
          </a:ln>
        </p:spPr>
        <p:txBody>
          <a:bodyPr wrap="square" lIns="0" tIns="0" rIns="0" bIns="0" anchor="t">
            <a:normAutofit/>
          </a:bodyPr>
          <a:lstStyle/>
          <a:p>
            <a:pPr algn="l">
              <a:defRPr sz="1575" b="1">
                <a:solidFill>
                  <a:srgbClr val="17222F"/>
                </a:solidFill>
                <a:latin typeface="Arial"/>
                <a:ea typeface="Arial"/>
                <a:cs typeface="Arial"/>
              </a:defRPr>
            </a:pPr>
            <a:r>
              <a:rPr sz="1575" b="1">
                <a:solidFill>
                  <a:srgbClr val="17222F"/>
                </a:solidFill>
                <a:latin typeface="Arial"/>
                <a:ea typeface="Arial"/>
                <a:cs typeface="Arial"/>
              </a:rPr>
              <a:t>Direct local Instar uses less modeled arithmetic than BP</a:t>
            </a:r>
          </a:p>
        </p:txBody>
      </p:sp>
      <p:sp>
        <p:nvSpPr>
          <p:cNvPr id="7" name="Rectangle 6">
            <a:extLst>
              <a:ext uri="{FF2B5EF4-FFF2-40B4-BE49-F238E27FC236}">
                <a16:creationId xmlns:a16="http://schemas.microsoft.com/office/drawing/2014/main" id="{707B77A4-54F4-4DB0-AF25-080DF7BAAC32}"/>
              </a:ext>
            </a:extLst>
          </p:cNvPr>
          <p:cNvSpPr>
            <a:spLocks noGrp="1"/>
          </p:cNvSpPr>
          <p:nvPr/>
        </p:nvSpPr>
        <p:spPr>
          <a:xfrm>
            <a:off x="762000" y="2886075"/>
            <a:ext cx="666750" cy="361950"/>
          </a:xfrm>
          <a:prstGeom prst="rect">
            <a:avLst/>
          </a:prstGeom>
          <a:noFill/>
          <a:ln w="0">
            <a:noFill/>
          </a:ln>
        </p:spPr>
        <p:txBody>
          <a:bodyPr wrap="square" lIns="0" tIns="0" rIns="0" bIns="0" anchor="t">
            <a:normAutofit/>
          </a:bodyPr>
          <a:lstStyle/>
          <a:p>
            <a:pPr algn="l">
              <a:defRPr sz="1800" b="1">
                <a:solidFill>
                  <a:srgbClr val="009E73"/>
                </a:solidFill>
                <a:latin typeface="Arial"/>
                <a:ea typeface="Arial"/>
                <a:cs typeface="Arial"/>
              </a:defRPr>
            </a:pPr>
            <a:r>
              <a:rPr sz="1800" b="1" dirty="0">
                <a:solidFill>
                  <a:srgbClr val="009E73"/>
                </a:solidFill>
                <a:latin typeface="Arial"/>
                <a:ea typeface="Arial"/>
                <a:cs typeface="Arial"/>
              </a:rPr>
              <a:t>B</a:t>
            </a:r>
          </a:p>
        </p:txBody>
      </p:sp>
      <p:sp>
        <p:nvSpPr>
          <p:cNvPr id="8" name="Rectangle 7">
            <a:extLst>
              <a:ext uri="{FF2B5EF4-FFF2-40B4-BE49-F238E27FC236}">
                <a16:creationId xmlns:a16="http://schemas.microsoft.com/office/drawing/2014/main" id="{0F8DB0D3-B79E-4AC5-813E-8ECBD294CE7C}"/>
              </a:ext>
            </a:extLst>
          </p:cNvPr>
          <p:cNvSpPr>
            <a:spLocks noGrp="1"/>
          </p:cNvSpPr>
          <p:nvPr/>
        </p:nvSpPr>
        <p:spPr>
          <a:xfrm>
            <a:off x="1524000" y="2847975"/>
            <a:ext cx="4095750" cy="571500"/>
          </a:xfrm>
          <a:prstGeom prst="rect">
            <a:avLst/>
          </a:prstGeom>
          <a:noFill/>
          <a:ln w="0">
            <a:noFill/>
          </a:ln>
        </p:spPr>
        <p:txBody>
          <a:bodyPr wrap="square" lIns="0" tIns="0" rIns="0" bIns="0" anchor="t">
            <a:normAutofit/>
          </a:bodyPr>
          <a:lstStyle/>
          <a:p>
            <a:pPr algn="l">
              <a:defRPr sz="1575" b="1">
                <a:solidFill>
                  <a:srgbClr val="17222F"/>
                </a:solidFill>
                <a:latin typeface="Arial"/>
                <a:ea typeface="Arial"/>
                <a:cs typeface="Arial"/>
              </a:defRPr>
            </a:pPr>
            <a:r>
              <a:rPr sz="1575" b="1">
                <a:solidFill>
                  <a:srgbClr val="17222F"/>
                </a:solidFill>
                <a:latin typeface="Arial"/>
                <a:ea typeface="Arial"/>
                <a:cs typeface="Arial"/>
              </a:rPr>
              <a:t>Dense autograd captures only part of the potential saving</a:t>
            </a:r>
          </a:p>
        </p:txBody>
      </p:sp>
      <p:sp>
        <p:nvSpPr>
          <p:cNvPr id="9" name="Rectangle 8">
            <a:extLst>
              <a:ext uri="{FF2B5EF4-FFF2-40B4-BE49-F238E27FC236}">
                <a16:creationId xmlns:a16="http://schemas.microsoft.com/office/drawing/2014/main" id="{C138C73F-5FE4-4B42-8ACE-CD8978DB04B9}"/>
              </a:ext>
            </a:extLst>
          </p:cNvPr>
          <p:cNvSpPr>
            <a:spLocks noGrp="1"/>
          </p:cNvSpPr>
          <p:nvPr/>
        </p:nvSpPr>
        <p:spPr>
          <a:xfrm>
            <a:off x="761999" y="3838575"/>
            <a:ext cx="800099" cy="619125"/>
          </a:xfrm>
          <a:prstGeom prst="rect">
            <a:avLst/>
          </a:prstGeom>
          <a:noFill/>
          <a:ln w="0">
            <a:noFill/>
          </a:ln>
        </p:spPr>
        <p:txBody>
          <a:bodyPr wrap="square" lIns="0" tIns="0" rIns="0" bIns="0" anchor="t">
            <a:normAutofit/>
          </a:bodyPr>
          <a:lstStyle/>
          <a:p>
            <a:pPr algn="l">
              <a:defRPr sz="1350" b="1">
                <a:solidFill>
                  <a:srgbClr val="E69F00"/>
                </a:solidFill>
                <a:latin typeface="Arial"/>
                <a:ea typeface="Arial"/>
                <a:cs typeface="Arial"/>
              </a:defRPr>
            </a:pPr>
            <a:r>
              <a:rPr b="1" dirty="0">
                <a:solidFill>
                  <a:srgbClr val="E69F00"/>
                </a:solidFill>
                <a:latin typeface="Arial"/>
                <a:ea typeface="Arial"/>
                <a:cs typeface="Arial"/>
              </a:rPr>
              <a:t>A2</a:t>
            </a:r>
          </a:p>
        </p:txBody>
      </p:sp>
      <p:sp>
        <p:nvSpPr>
          <p:cNvPr id="10" name="Rectangle 9">
            <a:extLst>
              <a:ext uri="{FF2B5EF4-FFF2-40B4-BE49-F238E27FC236}">
                <a16:creationId xmlns:a16="http://schemas.microsoft.com/office/drawing/2014/main" id="{8B5AAEEA-9477-4579-B8B0-16AEF4CBF275}"/>
              </a:ext>
            </a:extLst>
          </p:cNvPr>
          <p:cNvSpPr>
            <a:spLocks noGrp="1"/>
          </p:cNvSpPr>
          <p:nvPr/>
        </p:nvSpPr>
        <p:spPr>
          <a:xfrm>
            <a:off x="1514475" y="3795713"/>
            <a:ext cx="3524250" cy="571500"/>
          </a:xfrm>
          <a:prstGeom prst="rect">
            <a:avLst/>
          </a:prstGeom>
          <a:noFill/>
          <a:ln w="0">
            <a:noFill/>
          </a:ln>
        </p:spPr>
        <p:txBody>
          <a:bodyPr wrap="square" lIns="0" tIns="0" rIns="0" bIns="0" anchor="t">
            <a:normAutofit/>
          </a:bodyPr>
          <a:lstStyle/>
          <a:p>
            <a:pPr algn="l">
              <a:defRPr sz="1575" b="1">
                <a:solidFill>
                  <a:srgbClr val="17222F"/>
                </a:solidFill>
                <a:latin typeface="Arial"/>
                <a:ea typeface="Arial"/>
                <a:cs typeface="Arial"/>
              </a:defRPr>
            </a:pPr>
            <a:r>
              <a:rPr sz="1575" b="1" dirty="0">
                <a:solidFill>
                  <a:srgbClr val="17222F"/>
                </a:solidFill>
                <a:latin typeface="Arial"/>
                <a:ea typeface="Arial"/>
                <a:cs typeface="Arial"/>
              </a:rPr>
              <a:t>Largest saving, conditional on real sparse execution</a:t>
            </a:r>
          </a:p>
        </p:txBody>
      </p:sp>
      <p:sp>
        <p:nvSpPr>
          <p:cNvPr id="11" name="Rectangle 10">
            <a:extLst>
              <a:ext uri="{FF2B5EF4-FFF2-40B4-BE49-F238E27FC236}">
                <a16:creationId xmlns:a16="http://schemas.microsoft.com/office/drawing/2014/main" id="{79753018-51F8-4FF7-8282-22318A13D69B}"/>
              </a:ext>
            </a:extLst>
          </p:cNvPr>
          <p:cNvSpPr>
            <a:spLocks noGrp="1"/>
          </p:cNvSpPr>
          <p:nvPr/>
        </p:nvSpPr>
        <p:spPr>
          <a:xfrm>
            <a:off x="762000" y="4791075"/>
            <a:ext cx="857250" cy="361950"/>
          </a:xfrm>
          <a:prstGeom prst="rect">
            <a:avLst/>
          </a:prstGeom>
          <a:noFill/>
          <a:ln w="0">
            <a:noFill/>
          </a:ln>
        </p:spPr>
        <p:txBody>
          <a:bodyPr wrap="square" lIns="0" tIns="0" rIns="0" bIns="0" anchor="t">
            <a:normAutofit/>
          </a:bodyPr>
          <a:lstStyle/>
          <a:p>
            <a:pPr algn="l">
              <a:defRPr sz="1425" b="1">
                <a:solidFill>
                  <a:srgbClr val="4D4D4D"/>
                </a:solidFill>
                <a:latin typeface="Arial"/>
                <a:ea typeface="Arial"/>
                <a:cs typeface="Arial"/>
              </a:defRPr>
            </a:pPr>
            <a:r>
              <a:rPr sz="1425" b="1">
                <a:solidFill>
                  <a:srgbClr val="4D4D4D"/>
                </a:solidFill>
                <a:latin typeface="Arial"/>
                <a:ea typeface="Arial"/>
                <a:cs typeface="Arial"/>
              </a:rPr>
              <a:t>STATE</a:t>
            </a:r>
          </a:p>
        </p:txBody>
      </p:sp>
      <p:sp>
        <p:nvSpPr>
          <p:cNvPr id="12" name="Rectangle 11">
            <a:extLst>
              <a:ext uri="{FF2B5EF4-FFF2-40B4-BE49-F238E27FC236}">
                <a16:creationId xmlns:a16="http://schemas.microsoft.com/office/drawing/2014/main" id="{4DB78220-9FB7-4D10-B8DD-D3532BB65EDB}"/>
              </a:ext>
            </a:extLst>
          </p:cNvPr>
          <p:cNvSpPr>
            <a:spLocks noGrp="1"/>
          </p:cNvSpPr>
          <p:nvPr/>
        </p:nvSpPr>
        <p:spPr>
          <a:xfrm>
            <a:off x="1514475" y="4743451"/>
            <a:ext cx="3905250" cy="704850"/>
          </a:xfrm>
          <a:prstGeom prst="rect">
            <a:avLst/>
          </a:prstGeom>
          <a:noFill/>
          <a:ln w="0">
            <a:noFill/>
          </a:ln>
        </p:spPr>
        <p:txBody>
          <a:bodyPr wrap="square" lIns="0" tIns="0" rIns="0" bIns="0" anchor="t">
            <a:normAutofit/>
          </a:bodyPr>
          <a:lstStyle/>
          <a:p>
            <a:pPr algn="l">
              <a:defRPr sz="1575" b="1">
                <a:solidFill>
                  <a:srgbClr val="17222F"/>
                </a:solidFill>
                <a:latin typeface="Arial"/>
                <a:ea typeface="Arial"/>
                <a:cs typeface="Arial"/>
              </a:defRPr>
            </a:pPr>
            <a:r>
              <a:rPr sz="1575" b="1" dirty="0">
                <a:solidFill>
                  <a:srgbClr val="17222F"/>
                </a:solidFill>
                <a:latin typeface="Arial"/>
                <a:ea typeface="Arial"/>
                <a:cs typeface="Arial"/>
              </a:rPr>
              <a:t>Locality can reduce persistent state and global-gradient traffic</a:t>
            </a:r>
          </a:p>
        </p:txBody>
      </p:sp>
      <p:sp>
        <p:nvSpPr>
          <p:cNvPr id="13" name="Straight Connector 12">
            <a:extLst>
              <a:ext uri="{FF2B5EF4-FFF2-40B4-BE49-F238E27FC236}">
                <a16:creationId xmlns:a16="http://schemas.microsoft.com/office/drawing/2014/main" id="{B41E9B2B-C133-404F-AE0B-6DE9FBABFCFA}"/>
              </a:ext>
            </a:extLst>
          </p:cNvPr>
          <p:cNvSpPr>
            <a:spLocks noGrp="1"/>
          </p:cNvSpPr>
          <p:nvPr/>
        </p:nvSpPr>
        <p:spPr>
          <a:xfrm>
            <a:off x="6096000" y="1257300"/>
            <a:ext cx="9525" cy="4286250"/>
          </a:xfrm>
          <a:prstGeom prst="line">
            <a:avLst/>
          </a:prstGeom>
          <a:noFill/>
          <a:ln w="9525">
            <a:solidFill>
              <a:srgbClr val="D9E0E5"/>
            </a:solidFill>
            <a:prstDash val="solid"/>
          </a:ln>
        </p:spPr>
        <p:txBody>
          <a:bodyPr/>
          <a:lstStyle/>
          <a:p>
            <a:endParaRPr lang="en-IL"/>
          </a:p>
        </p:txBody>
      </p:sp>
      <p:sp>
        <p:nvSpPr>
          <p:cNvPr id="14" name="Rectangle 13">
            <a:extLst>
              <a:ext uri="{FF2B5EF4-FFF2-40B4-BE49-F238E27FC236}">
                <a16:creationId xmlns:a16="http://schemas.microsoft.com/office/drawing/2014/main" id="{710EBE0C-4D5B-4105-8E6F-D4D32C6725D8}"/>
              </a:ext>
            </a:extLst>
          </p:cNvPr>
          <p:cNvSpPr>
            <a:spLocks noGrp="1"/>
          </p:cNvSpPr>
          <p:nvPr/>
        </p:nvSpPr>
        <p:spPr>
          <a:xfrm>
            <a:off x="6629400" y="1238250"/>
            <a:ext cx="4762500" cy="342900"/>
          </a:xfrm>
          <a:prstGeom prst="rect">
            <a:avLst/>
          </a:prstGeom>
          <a:noFill/>
          <a:ln w="0">
            <a:noFill/>
          </a:ln>
        </p:spPr>
        <p:txBody>
          <a:bodyPr wrap="square" lIns="0" tIns="0" rIns="0" bIns="0" anchor="t">
            <a:normAutofit/>
          </a:bodyPr>
          <a:lstStyle/>
          <a:p>
            <a:pPr algn="l">
              <a:defRPr sz="1875" b="1">
                <a:solidFill>
                  <a:srgbClr val="A33A3A"/>
                </a:solidFill>
                <a:latin typeface="Arial"/>
                <a:ea typeface="Arial"/>
                <a:cs typeface="Arial"/>
              </a:defRPr>
            </a:pPr>
            <a:r>
              <a:rPr sz="1875" b="1">
                <a:solidFill>
                  <a:srgbClr val="A33A3A"/>
                </a:solidFill>
                <a:latin typeface="Arial"/>
                <a:ea typeface="Arial"/>
                <a:cs typeface="Arial"/>
              </a:rPr>
              <a:t>What the model does not establish</a:t>
            </a:r>
          </a:p>
        </p:txBody>
      </p:sp>
      <p:sp>
        <p:nvSpPr>
          <p:cNvPr id="15" name="Rectangle 14">
            <a:extLst>
              <a:ext uri="{FF2B5EF4-FFF2-40B4-BE49-F238E27FC236}">
                <a16:creationId xmlns:a16="http://schemas.microsoft.com/office/drawing/2014/main" id="{BA1F71B7-1CE5-43E9-AE15-3ABC89E6E532}"/>
              </a:ext>
            </a:extLst>
          </p:cNvPr>
          <p:cNvSpPr>
            <a:spLocks noGrp="1"/>
          </p:cNvSpPr>
          <p:nvPr/>
        </p:nvSpPr>
        <p:spPr>
          <a:xfrm>
            <a:off x="6686550" y="1933575"/>
            <a:ext cx="342900" cy="342900"/>
          </a:xfrm>
          <a:prstGeom prst="rect">
            <a:avLst/>
          </a:prstGeom>
          <a:noFill/>
          <a:ln w="0">
            <a:noFill/>
          </a:ln>
        </p:spPr>
        <p:txBody>
          <a:bodyPr wrap="square" lIns="0" tIns="0" rIns="0" bIns="0" anchor="t">
            <a:normAutofit/>
          </a:bodyPr>
          <a:lstStyle/>
          <a:p>
            <a:pPr algn="ctr">
              <a:defRPr sz="1425" b="1">
                <a:solidFill>
                  <a:srgbClr val="A33A3A"/>
                </a:solidFill>
                <a:latin typeface="Arial"/>
                <a:ea typeface="Arial"/>
                <a:cs typeface="Arial"/>
              </a:defRPr>
            </a:pPr>
            <a:r>
              <a:rPr sz="1425" b="1">
                <a:solidFill>
                  <a:srgbClr val="A33A3A"/>
                </a:solidFill>
                <a:latin typeface="Arial"/>
                <a:ea typeface="Arial"/>
                <a:cs typeface="Arial"/>
              </a:rPr>
              <a:t>1</a:t>
            </a:r>
          </a:p>
        </p:txBody>
      </p:sp>
      <p:sp>
        <p:nvSpPr>
          <p:cNvPr id="16" name="Rectangle 15">
            <a:extLst>
              <a:ext uri="{FF2B5EF4-FFF2-40B4-BE49-F238E27FC236}">
                <a16:creationId xmlns:a16="http://schemas.microsoft.com/office/drawing/2014/main" id="{7F7E73A1-ED72-43CB-BC07-381C1258D8E3}"/>
              </a:ext>
            </a:extLst>
          </p:cNvPr>
          <p:cNvSpPr>
            <a:spLocks noGrp="1"/>
          </p:cNvSpPr>
          <p:nvPr/>
        </p:nvSpPr>
        <p:spPr>
          <a:xfrm>
            <a:off x="7162800" y="1885950"/>
            <a:ext cx="4000500" cy="552450"/>
          </a:xfrm>
          <a:prstGeom prst="rect">
            <a:avLst/>
          </a:prstGeom>
          <a:noFill/>
          <a:ln w="0">
            <a:noFill/>
          </a:ln>
        </p:spPr>
        <p:txBody>
          <a:bodyPr wrap="square" lIns="0" tIns="0" rIns="0" bIns="0" anchor="t">
            <a:normAutofit/>
          </a:bodyPr>
          <a:lstStyle/>
          <a:p>
            <a:pPr algn="l">
              <a:defRPr sz="1500" b="1">
                <a:solidFill>
                  <a:srgbClr val="17222F"/>
                </a:solidFill>
                <a:latin typeface="Arial"/>
                <a:ea typeface="Arial"/>
                <a:cs typeface="Arial"/>
              </a:defRPr>
            </a:pPr>
            <a:r>
              <a:rPr sz="1500" b="1">
                <a:solidFill>
                  <a:srgbClr val="17222F"/>
                </a:solidFill>
                <a:latin typeface="Arial"/>
                <a:ea typeface="Arial"/>
                <a:cs typeface="Arial"/>
              </a:rPr>
              <a:t>No measured energy, runtime, or GPU peak memory</a:t>
            </a:r>
          </a:p>
        </p:txBody>
      </p:sp>
      <p:sp>
        <p:nvSpPr>
          <p:cNvPr id="17" name="Rectangle 16">
            <a:extLst>
              <a:ext uri="{FF2B5EF4-FFF2-40B4-BE49-F238E27FC236}">
                <a16:creationId xmlns:a16="http://schemas.microsoft.com/office/drawing/2014/main" id="{3881EF6B-D378-461E-92C4-6764BF70BE39}"/>
              </a:ext>
            </a:extLst>
          </p:cNvPr>
          <p:cNvSpPr>
            <a:spLocks noGrp="1"/>
          </p:cNvSpPr>
          <p:nvPr/>
        </p:nvSpPr>
        <p:spPr>
          <a:xfrm>
            <a:off x="6686550" y="2809875"/>
            <a:ext cx="342900" cy="342900"/>
          </a:xfrm>
          <a:prstGeom prst="rect">
            <a:avLst/>
          </a:prstGeom>
          <a:noFill/>
          <a:ln w="0">
            <a:noFill/>
          </a:ln>
        </p:spPr>
        <p:txBody>
          <a:bodyPr wrap="square" lIns="0" tIns="0" rIns="0" bIns="0" anchor="t">
            <a:normAutofit/>
          </a:bodyPr>
          <a:lstStyle/>
          <a:p>
            <a:pPr algn="ctr">
              <a:defRPr sz="1425" b="1">
                <a:solidFill>
                  <a:srgbClr val="A33A3A"/>
                </a:solidFill>
                <a:latin typeface="Arial"/>
                <a:ea typeface="Arial"/>
                <a:cs typeface="Arial"/>
              </a:defRPr>
            </a:pPr>
            <a:r>
              <a:rPr sz="1425" b="1">
                <a:solidFill>
                  <a:srgbClr val="A33A3A"/>
                </a:solidFill>
                <a:latin typeface="Arial"/>
                <a:ea typeface="Arial"/>
                <a:cs typeface="Arial"/>
              </a:rPr>
              <a:t>2</a:t>
            </a:r>
          </a:p>
        </p:txBody>
      </p:sp>
      <p:sp>
        <p:nvSpPr>
          <p:cNvPr id="18" name="Rectangle 17">
            <a:extLst>
              <a:ext uri="{FF2B5EF4-FFF2-40B4-BE49-F238E27FC236}">
                <a16:creationId xmlns:a16="http://schemas.microsoft.com/office/drawing/2014/main" id="{B6D82895-F262-46F6-BEB0-82230867E4C8}"/>
              </a:ext>
            </a:extLst>
          </p:cNvPr>
          <p:cNvSpPr>
            <a:spLocks noGrp="1"/>
          </p:cNvSpPr>
          <p:nvPr/>
        </p:nvSpPr>
        <p:spPr>
          <a:xfrm>
            <a:off x="7162800" y="2762250"/>
            <a:ext cx="4000500" cy="552450"/>
          </a:xfrm>
          <a:prstGeom prst="rect">
            <a:avLst/>
          </a:prstGeom>
          <a:noFill/>
          <a:ln w="0">
            <a:noFill/>
          </a:ln>
        </p:spPr>
        <p:txBody>
          <a:bodyPr wrap="square" lIns="0" tIns="0" rIns="0" bIns="0" anchor="t">
            <a:normAutofit/>
          </a:bodyPr>
          <a:lstStyle/>
          <a:p>
            <a:pPr algn="l">
              <a:defRPr sz="1500" b="1">
                <a:solidFill>
                  <a:srgbClr val="17222F"/>
                </a:solidFill>
                <a:latin typeface="Arial"/>
                <a:ea typeface="Arial"/>
                <a:cs typeface="Arial"/>
              </a:defRPr>
            </a:pPr>
            <a:r>
              <a:rPr sz="1500" b="1">
                <a:solidFill>
                  <a:srgbClr val="17222F"/>
                </a:solidFill>
                <a:latin typeface="Arial"/>
                <a:ea typeface="Arial"/>
                <a:cs typeface="Arial"/>
              </a:rPr>
              <a:t>BP includes documented assumptions where sources are incomplete</a:t>
            </a:r>
          </a:p>
        </p:txBody>
      </p:sp>
      <p:sp>
        <p:nvSpPr>
          <p:cNvPr id="19" name="Rectangle 18">
            <a:extLst>
              <a:ext uri="{FF2B5EF4-FFF2-40B4-BE49-F238E27FC236}">
                <a16:creationId xmlns:a16="http://schemas.microsoft.com/office/drawing/2014/main" id="{C6AA9758-4A49-43C4-9E2C-8C664BDF1F07}"/>
              </a:ext>
            </a:extLst>
          </p:cNvPr>
          <p:cNvSpPr>
            <a:spLocks noGrp="1"/>
          </p:cNvSpPr>
          <p:nvPr/>
        </p:nvSpPr>
        <p:spPr>
          <a:xfrm>
            <a:off x="6686550" y="3686175"/>
            <a:ext cx="342900" cy="342900"/>
          </a:xfrm>
          <a:prstGeom prst="rect">
            <a:avLst/>
          </a:prstGeom>
          <a:noFill/>
          <a:ln w="0">
            <a:noFill/>
          </a:ln>
        </p:spPr>
        <p:txBody>
          <a:bodyPr wrap="square" lIns="0" tIns="0" rIns="0" bIns="0" anchor="t">
            <a:normAutofit/>
          </a:bodyPr>
          <a:lstStyle/>
          <a:p>
            <a:pPr algn="ctr">
              <a:defRPr sz="1425" b="1">
                <a:solidFill>
                  <a:srgbClr val="A33A3A"/>
                </a:solidFill>
                <a:latin typeface="Arial"/>
                <a:ea typeface="Arial"/>
                <a:cs typeface="Arial"/>
              </a:defRPr>
            </a:pPr>
            <a:r>
              <a:rPr sz="1425" b="1">
                <a:solidFill>
                  <a:srgbClr val="A33A3A"/>
                </a:solidFill>
                <a:latin typeface="Arial"/>
                <a:ea typeface="Arial"/>
                <a:cs typeface="Arial"/>
              </a:rPr>
              <a:t>3</a:t>
            </a:r>
          </a:p>
        </p:txBody>
      </p:sp>
      <p:sp>
        <p:nvSpPr>
          <p:cNvPr id="20" name="Rectangle 19">
            <a:extLst>
              <a:ext uri="{FF2B5EF4-FFF2-40B4-BE49-F238E27FC236}">
                <a16:creationId xmlns:a16="http://schemas.microsoft.com/office/drawing/2014/main" id="{9043F2B9-7107-4944-8245-127E72EFD4B8}"/>
              </a:ext>
            </a:extLst>
          </p:cNvPr>
          <p:cNvSpPr>
            <a:spLocks noGrp="1"/>
          </p:cNvSpPr>
          <p:nvPr/>
        </p:nvSpPr>
        <p:spPr>
          <a:xfrm>
            <a:off x="7162800" y="3638550"/>
            <a:ext cx="4000500" cy="552450"/>
          </a:xfrm>
          <a:prstGeom prst="rect">
            <a:avLst/>
          </a:prstGeom>
          <a:noFill/>
          <a:ln w="0">
            <a:noFill/>
          </a:ln>
        </p:spPr>
        <p:txBody>
          <a:bodyPr wrap="square" lIns="0" tIns="0" rIns="0" bIns="0" anchor="t">
            <a:normAutofit/>
          </a:bodyPr>
          <a:lstStyle/>
          <a:p>
            <a:pPr algn="l">
              <a:defRPr sz="1500" b="1">
                <a:solidFill>
                  <a:srgbClr val="17222F"/>
                </a:solidFill>
                <a:latin typeface="Arial"/>
                <a:ea typeface="Arial"/>
                <a:cs typeface="Arial"/>
              </a:defRPr>
            </a:pPr>
            <a:r>
              <a:rPr sz="1500" b="1">
                <a:solidFill>
                  <a:srgbClr val="17222F"/>
                </a:solidFill>
                <a:latin typeface="Arial"/>
                <a:ea typeface="Arial"/>
                <a:cs typeface="Arial"/>
              </a:rPr>
              <a:t>A2 conditional is not the current PyTorch execution</a:t>
            </a:r>
          </a:p>
        </p:txBody>
      </p:sp>
      <p:sp>
        <p:nvSpPr>
          <p:cNvPr id="21" name="Rectangle 20">
            <a:extLst>
              <a:ext uri="{FF2B5EF4-FFF2-40B4-BE49-F238E27FC236}">
                <a16:creationId xmlns:a16="http://schemas.microsoft.com/office/drawing/2014/main" id="{308552AC-FFB1-4A9D-B0C8-F4DEE470A631}"/>
              </a:ext>
            </a:extLst>
          </p:cNvPr>
          <p:cNvSpPr>
            <a:spLocks noGrp="1"/>
          </p:cNvSpPr>
          <p:nvPr/>
        </p:nvSpPr>
        <p:spPr>
          <a:xfrm>
            <a:off x="6686550" y="4562475"/>
            <a:ext cx="342900" cy="342900"/>
          </a:xfrm>
          <a:prstGeom prst="rect">
            <a:avLst/>
          </a:prstGeom>
          <a:noFill/>
          <a:ln w="0">
            <a:noFill/>
          </a:ln>
        </p:spPr>
        <p:txBody>
          <a:bodyPr wrap="square" lIns="0" tIns="0" rIns="0" bIns="0" anchor="t">
            <a:normAutofit/>
          </a:bodyPr>
          <a:lstStyle/>
          <a:p>
            <a:pPr algn="ctr">
              <a:defRPr sz="1425" b="1">
                <a:solidFill>
                  <a:srgbClr val="A33A3A"/>
                </a:solidFill>
                <a:latin typeface="Arial"/>
                <a:ea typeface="Arial"/>
                <a:cs typeface="Arial"/>
              </a:defRPr>
            </a:pPr>
            <a:r>
              <a:rPr sz="1425" b="1">
                <a:solidFill>
                  <a:srgbClr val="A33A3A"/>
                </a:solidFill>
                <a:latin typeface="Arial"/>
                <a:ea typeface="Arial"/>
                <a:cs typeface="Arial"/>
              </a:rPr>
              <a:t>4</a:t>
            </a:r>
          </a:p>
        </p:txBody>
      </p:sp>
      <p:sp>
        <p:nvSpPr>
          <p:cNvPr id="22" name="Rectangle 21">
            <a:extLst>
              <a:ext uri="{FF2B5EF4-FFF2-40B4-BE49-F238E27FC236}">
                <a16:creationId xmlns:a16="http://schemas.microsoft.com/office/drawing/2014/main" id="{46BEFD21-8F36-4A99-B136-149F1DCB516F}"/>
              </a:ext>
            </a:extLst>
          </p:cNvPr>
          <p:cNvSpPr>
            <a:spLocks noGrp="1"/>
          </p:cNvSpPr>
          <p:nvPr/>
        </p:nvSpPr>
        <p:spPr>
          <a:xfrm>
            <a:off x="7162800" y="4514850"/>
            <a:ext cx="4000500" cy="552450"/>
          </a:xfrm>
          <a:prstGeom prst="rect">
            <a:avLst/>
          </a:prstGeom>
          <a:noFill/>
          <a:ln w="0">
            <a:noFill/>
          </a:ln>
        </p:spPr>
        <p:txBody>
          <a:bodyPr wrap="square" lIns="0" tIns="0" rIns="0" bIns="0" anchor="t">
            <a:normAutofit/>
          </a:bodyPr>
          <a:lstStyle/>
          <a:p>
            <a:pPr algn="l">
              <a:defRPr sz="1500" b="1">
                <a:solidFill>
                  <a:srgbClr val="17222F"/>
                </a:solidFill>
                <a:latin typeface="Arial"/>
                <a:ea typeface="Arial"/>
                <a:cs typeface="Arial"/>
              </a:defRPr>
            </a:pPr>
            <a:r>
              <a:rPr sz="1500" b="1">
                <a:solidFill>
                  <a:srgbClr val="17222F"/>
                </a:solidFill>
                <a:latin typeface="Arial"/>
                <a:ea typeface="Arial"/>
                <a:cs typeface="Arial"/>
              </a:rPr>
              <a:t>Accuracy protocols and classifiers are not identical</a:t>
            </a:r>
          </a:p>
        </p:txBody>
      </p:sp>
      <p:sp>
        <p:nvSpPr>
          <p:cNvPr id="23" name="Rectangle: Rounded Corners 22">
            <a:extLst>
              <a:ext uri="{FF2B5EF4-FFF2-40B4-BE49-F238E27FC236}">
                <a16:creationId xmlns:a16="http://schemas.microsoft.com/office/drawing/2014/main" id="{CCD19499-9BBE-475C-BE87-A2EF250A1169}"/>
              </a:ext>
            </a:extLst>
          </p:cNvPr>
          <p:cNvSpPr>
            <a:spLocks noGrp="1"/>
          </p:cNvSpPr>
          <p:nvPr/>
        </p:nvSpPr>
        <p:spPr>
          <a:xfrm>
            <a:off x="1047750" y="5886450"/>
            <a:ext cx="10096500" cy="466725"/>
          </a:xfrm>
          <a:prstGeom prst="roundRect">
            <a:avLst>
              <a:gd name="adj" fmla="val 16327"/>
            </a:avLst>
          </a:prstGeom>
          <a:solidFill>
            <a:srgbClr val="FFFFFF"/>
          </a:solidFill>
          <a:ln w="9525">
            <a:solidFill>
              <a:srgbClr val="D9E0E5"/>
            </a:solidFill>
            <a:prstDash val="solid"/>
          </a:ln>
        </p:spPr>
        <p:txBody>
          <a:bodyPr/>
          <a:lstStyle/>
          <a:p>
            <a:endParaRPr lang="en-IL"/>
          </a:p>
        </p:txBody>
      </p:sp>
      <p:sp>
        <p:nvSpPr>
          <p:cNvPr id="24" name="Rectangle 23">
            <a:extLst>
              <a:ext uri="{FF2B5EF4-FFF2-40B4-BE49-F238E27FC236}">
                <a16:creationId xmlns:a16="http://schemas.microsoft.com/office/drawing/2014/main" id="{B9E8F2ED-78FB-44A3-A043-26E3B8620ED6}"/>
              </a:ext>
            </a:extLst>
          </p:cNvPr>
          <p:cNvSpPr>
            <a:spLocks noGrp="1"/>
          </p:cNvSpPr>
          <p:nvPr/>
        </p:nvSpPr>
        <p:spPr>
          <a:xfrm>
            <a:off x="1276350" y="5991225"/>
            <a:ext cx="9639300" cy="247650"/>
          </a:xfrm>
          <a:prstGeom prst="rect">
            <a:avLst/>
          </a:prstGeom>
          <a:noFill/>
          <a:ln w="0">
            <a:noFill/>
          </a:ln>
        </p:spPr>
        <p:txBody>
          <a:bodyPr wrap="square" lIns="0" tIns="0" rIns="0" bIns="0" anchor="t">
            <a:normAutofit/>
          </a:bodyPr>
          <a:lstStyle/>
          <a:p>
            <a:pPr algn="ctr">
              <a:defRPr sz="1350" b="0">
                <a:solidFill>
                  <a:srgbClr val="526272"/>
                </a:solidFill>
                <a:latin typeface="Arial"/>
                <a:ea typeface="Arial"/>
                <a:cs typeface="Arial"/>
              </a:defRPr>
            </a:pPr>
            <a:r>
              <a:rPr sz="1350" b="0">
                <a:solidFill>
                  <a:srgbClr val="526272"/>
                </a:solidFill>
                <a:latin typeface="Arial"/>
                <a:ea typeface="Arial"/>
                <a:cs typeface="Arial"/>
              </a:rPr>
              <a:t>Hardware outcomes still depend on kernels, fusion, memory hierarchy, and sparse-access overhead.</a:t>
            </a:r>
          </a:p>
        </p:txBody>
      </p:sp>
    </p:spTree>
    <p:extLst>
      <p:ext uri="{BB962C8B-B14F-4D97-AF65-F5344CB8AC3E}">
        <p14:creationId xmlns:p14="http://schemas.microsoft.com/office/powerpoint/2010/main" val="1887901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222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2448650-0AE0-4070-B207-52DBE6C8E608}"/>
              </a:ext>
            </a:extLst>
          </p:cNvPr>
          <p:cNvSpPr>
            <a:spLocks noGrp="1"/>
          </p:cNvSpPr>
          <p:nvPr/>
        </p:nvSpPr>
        <p:spPr>
          <a:xfrm>
            <a:off x="742950" y="590550"/>
            <a:ext cx="5238750" cy="552450"/>
          </a:xfrm>
          <a:prstGeom prst="rect">
            <a:avLst/>
          </a:prstGeom>
          <a:noFill/>
          <a:ln w="0">
            <a:noFill/>
          </a:ln>
        </p:spPr>
        <p:txBody>
          <a:bodyPr wrap="square" lIns="0" tIns="0" rIns="0" bIns="0" anchor="t">
            <a:normAutofit/>
          </a:bodyPr>
          <a:lstStyle/>
          <a:p>
            <a:pPr algn="l">
              <a:defRPr sz="2850" b="1">
                <a:solidFill>
                  <a:srgbClr val="FFFFFF"/>
                </a:solidFill>
                <a:latin typeface="Arial"/>
                <a:ea typeface="Arial"/>
                <a:cs typeface="Arial"/>
              </a:defRPr>
            </a:pPr>
            <a:r>
              <a:rPr sz="2850" b="1">
                <a:solidFill>
                  <a:srgbClr val="FFFFFF"/>
                </a:solidFill>
                <a:latin typeface="Arial"/>
                <a:ea typeface="Arial"/>
                <a:cs typeface="Arial"/>
              </a:rPr>
              <a:t>Conclusion</a:t>
            </a:r>
          </a:p>
        </p:txBody>
      </p:sp>
      <p:sp>
        <p:nvSpPr>
          <p:cNvPr id="2" name="Rectangle 1">
            <a:extLst>
              <a:ext uri="{FF2B5EF4-FFF2-40B4-BE49-F238E27FC236}">
                <a16:creationId xmlns:a16="http://schemas.microsoft.com/office/drawing/2014/main" id="{37813D1B-1C7E-4A62-8A9B-6FD322A341F9}"/>
              </a:ext>
            </a:extLst>
          </p:cNvPr>
          <p:cNvSpPr>
            <a:spLocks noGrp="1"/>
          </p:cNvSpPr>
          <p:nvPr/>
        </p:nvSpPr>
        <p:spPr>
          <a:xfrm>
            <a:off x="819150" y="1619250"/>
            <a:ext cx="571500" cy="400050"/>
          </a:xfrm>
          <a:prstGeom prst="rect">
            <a:avLst/>
          </a:prstGeom>
          <a:noFill/>
          <a:ln w="0">
            <a:noFill/>
          </a:ln>
        </p:spPr>
        <p:txBody>
          <a:bodyPr wrap="square" lIns="0" tIns="0" rIns="0" bIns="0" anchor="t">
            <a:normAutofit/>
          </a:bodyPr>
          <a:lstStyle/>
          <a:p>
            <a:pPr algn="l">
              <a:defRPr sz="1650" b="1">
                <a:solidFill>
                  <a:srgbClr val="0072B2"/>
                </a:solidFill>
                <a:latin typeface="Arial"/>
                <a:ea typeface="Arial"/>
                <a:cs typeface="Arial"/>
              </a:defRPr>
            </a:pPr>
            <a:r>
              <a:rPr sz="1650" b="1">
                <a:solidFill>
                  <a:srgbClr val="0072B2"/>
                </a:solidFill>
                <a:latin typeface="Arial"/>
                <a:ea typeface="Arial"/>
                <a:cs typeface="Arial"/>
              </a:rPr>
              <a:t>01</a:t>
            </a:r>
          </a:p>
        </p:txBody>
      </p:sp>
      <p:sp>
        <p:nvSpPr>
          <p:cNvPr id="3" name="Rectangle 2">
            <a:extLst>
              <a:ext uri="{FF2B5EF4-FFF2-40B4-BE49-F238E27FC236}">
                <a16:creationId xmlns:a16="http://schemas.microsoft.com/office/drawing/2014/main" id="{7A378FB4-E76B-48C8-8EC9-2D4133E3FDCA}"/>
              </a:ext>
            </a:extLst>
          </p:cNvPr>
          <p:cNvSpPr>
            <a:spLocks noGrp="1"/>
          </p:cNvSpPr>
          <p:nvPr/>
        </p:nvSpPr>
        <p:spPr>
          <a:xfrm>
            <a:off x="1619250" y="1571625"/>
            <a:ext cx="8620125" cy="838200"/>
          </a:xfrm>
          <a:prstGeom prst="rect">
            <a:avLst/>
          </a:prstGeom>
          <a:noFill/>
          <a:ln w="0">
            <a:noFill/>
          </a:ln>
        </p:spPr>
        <p:txBody>
          <a:bodyPr wrap="square" lIns="0" tIns="0" rIns="0" bIns="0" anchor="t">
            <a:norm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Direct local Hebbian learning has a clear modeled resource advantage for this network.</a:t>
            </a:r>
          </a:p>
        </p:txBody>
      </p:sp>
      <p:sp>
        <p:nvSpPr>
          <p:cNvPr id="4" name="Straight Connector 3">
            <a:extLst>
              <a:ext uri="{FF2B5EF4-FFF2-40B4-BE49-F238E27FC236}">
                <a16:creationId xmlns:a16="http://schemas.microsoft.com/office/drawing/2014/main" id="{C2D3A316-D0E9-4373-B238-0BC8CB8A658D}"/>
              </a:ext>
            </a:extLst>
          </p:cNvPr>
          <p:cNvSpPr>
            <a:spLocks noGrp="1"/>
          </p:cNvSpPr>
          <p:nvPr/>
        </p:nvSpPr>
        <p:spPr>
          <a:xfrm>
            <a:off x="1619250" y="2552700"/>
            <a:ext cx="8572500" cy="9525"/>
          </a:xfrm>
          <a:prstGeom prst="line">
            <a:avLst/>
          </a:prstGeom>
          <a:noFill/>
          <a:ln w="9525">
            <a:solidFill>
              <a:srgbClr val="40505F"/>
            </a:solidFill>
            <a:prstDash val="solid"/>
          </a:ln>
        </p:spPr>
        <p:txBody>
          <a:bodyPr/>
          <a:lstStyle/>
          <a:p>
            <a:endParaRPr lang="en-IL"/>
          </a:p>
        </p:txBody>
      </p:sp>
      <p:sp>
        <p:nvSpPr>
          <p:cNvPr id="5" name="Rectangle 4">
            <a:extLst>
              <a:ext uri="{FF2B5EF4-FFF2-40B4-BE49-F238E27FC236}">
                <a16:creationId xmlns:a16="http://schemas.microsoft.com/office/drawing/2014/main" id="{44B03493-9405-400D-8F74-2E16979D8077}"/>
              </a:ext>
            </a:extLst>
          </p:cNvPr>
          <p:cNvSpPr>
            <a:spLocks noGrp="1"/>
          </p:cNvSpPr>
          <p:nvPr/>
        </p:nvSpPr>
        <p:spPr>
          <a:xfrm>
            <a:off x="819150" y="2876550"/>
            <a:ext cx="571500" cy="400050"/>
          </a:xfrm>
          <a:prstGeom prst="rect">
            <a:avLst/>
          </a:prstGeom>
          <a:noFill/>
          <a:ln w="0">
            <a:noFill/>
          </a:ln>
        </p:spPr>
        <p:txBody>
          <a:bodyPr wrap="square" lIns="0" tIns="0" rIns="0" bIns="0" anchor="t">
            <a:normAutofit/>
          </a:bodyPr>
          <a:lstStyle/>
          <a:p>
            <a:pPr algn="l">
              <a:defRPr sz="1650" b="1">
                <a:solidFill>
                  <a:srgbClr val="E69F00"/>
                </a:solidFill>
                <a:latin typeface="Arial"/>
                <a:ea typeface="Arial"/>
                <a:cs typeface="Arial"/>
              </a:defRPr>
            </a:pPr>
            <a:r>
              <a:rPr sz="1650" b="1">
                <a:solidFill>
                  <a:srgbClr val="E69F00"/>
                </a:solidFill>
                <a:latin typeface="Arial"/>
                <a:ea typeface="Arial"/>
                <a:cs typeface="Arial"/>
              </a:rPr>
              <a:t>02</a:t>
            </a:r>
          </a:p>
        </p:txBody>
      </p:sp>
      <p:sp>
        <p:nvSpPr>
          <p:cNvPr id="6" name="Rectangle 5">
            <a:extLst>
              <a:ext uri="{FF2B5EF4-FFF2-40B4-BE49-F238E27FC236}">
                <a16:creationId xmlns:a16="http://schemas.microsoft.com/office/drawing/2014/main" id="{CBC1AAAA-9BBD-4F9F-9A7C-D51A3B8ECACA}"/>
              </a:ext>
            </a:extLst>
          </p:cNvPr>
          <p:cNvSpPr>
            <a:spLocks noGrp="1"/>
          </p:cNvSpPr>
          <p:nvPr/>
        </p:nvSpPr>
        <p:spPr>
          <a:xfrm>
            <a:off x="1619250" y="2828925"/>
            <a:ext cx="8620125" cy="838200"/>
          </a:xfrm>
          <a:prstGeom prst="rect">
            <a:avLst/>
          </a:prstGeom>
          <a:noFill/>
          <a:ln w="0">
            <a:noFill/>
          </a:ln>
        </p:spPr>
        <p:txBody>
          <a:bodyPr wrap="square" lIns="0" tIns="0" rIns="0" bIns="0" anchor="t">
            <a:norm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Implementation matters: A1 improves on B, while A2 conditional needs genuine sparse execution.</a:t>
            </a:r>
          </a:p>
        </p:txBody>
      </p:sp>
      <p:sp>
        <p:nvSpPr>
          <p:cNvPr id="7" name="Straight Connector 6">
            <a:extLst>
              <a:ext uri="{FF2B5EF4-FFF2-40B4-BE49-F238E27FC236}">
                <a16:creationId xmlns:a16="http://schemas.microsoft.com/office/drawing/2014/main" id="{1D59C801-D4FE-4307-89F8-B1354037D098}"/>
              </a:ext>
            </a:extLst>
          </p:cNvPr>
          <p:cNvSpPr>
            <a:spLocks noGrp="1"/>
          </p:cNvSpPr>
          <p:nvPr/>
        </p:nvSpPr>
        <p:spPr>
          <a:xfrm>
            <a:off x="1619250" y="3810000"/>
            <a:ext cx="8572500" cy="9525"/>
          </a:xfrm>
          <a:prstGeom prst="line">
            <a:avLst/>
          </a:prstGeom>
          <a:noFill/>
          <a:ln w="9525">
            <a:solidFill>
              <a:srgbClr val="40505F"/>
            </a:solidFill>
            <a:prstDash val="solid"/>
          </a:ln>
        </p:spPr>
        <p:txBody>
          <a:bodyPr/>
          <a:lstStyle/>
          <a:p>
            <a:endParaRPr lang="en-IL"/>
          </a:p>
        </p:txBody>
      </p:sp>
      <p:sp>
        <p:nvSpPr>
          <p:cNvPr id="8" name="Rectangle 7">
            <a:extLst>
              <a:ext uri="{FF2B5EF4-FFF2-40B4-BE49-F238E27FC236}">
                <a16:creationId xmlns:a16="http://schemas.microsoft.com/office/drawing/2014/main" id="{25E04AA1-BE60-44F3-9607-969E3E454C68}"/>
              </a:ext>
            </a:extLst>
          </p:cNvPr>
          <p:cNvSpPr>
            <a:spLocks noGrp="1"/>
          </p:cNvSpPr>
          <p:nvPr/>
        </p:nvSpPr>
        <p:spPr>
          <a:xfrm>
            <a:off x="819150" y="4133850"/>
            <a:ext cx="571500" cy="400050"/>
          </a:xfrm>
          <a:prstGeom prst="rect">
            <a:avLst/>
          </a:prstGeom>
          <a:noFill/>
          <a:ln w="0">
            <a:noFill/>
          </a:ln>
        </p:spPr>
        <p:txBody>
          <a:bodyPr wrap="square" lIns="0" tIns="0" rIns="0" bIns="0" anchor="t">
            <a:normAutofit/>
          </a:bodyPr>
          <a:lstStyle/>
          <a:p>
            <a:pPr algn="l">
              <a:defRPr sz="1650" b="1">
                <a:solidFill>
                  <a:srgbClr val="0072B2"/>
                </a:solidFill>
                <a:latin typeface="Arial"/>
                <a:ea typeface="Arial"/>
                <a:cs typeface="Arial"/>
              </a:defRPr>
            </a:pPr>
            <a:r>
              <a:rPr sz="1650" b="1">
                <a:solidFill>
                  <a:srgbClr val="0072B2"/>
                </a:solidFill>
                <a:latin typeface="Arial"/>
                <a:ea typeface="Arial"/>
                <a:cs typeface="Arial"/>
              </a:rPr>
              <a:t>03</a:t>
            </a:r>
          </a:p>
        </p:txBody>
      </p:sp>
      <p:sp>
        <p:nvSpPr>
          <p:cNvPr id="9" name="Rectangle 8">
            <a:extLst>
              <a:ext uri="{FF2B5EF4-FFF2-40B4-BE49-F238E27FC236}">
                <a16:creationId xmlns:a16="http://schemas.microsoft.com/office/drawing/2014/main" id="{7FDA3F57-FE61-46C3-B7DA-0430477A523F}"/>
              </a:ext>
            </a:extLst>
          </p:cNvPr>
          <p:cNvSpPr>
            <a:spLocks noGrp="1"/>
          </p:cNvSpPr>
          <p:nvPr/>
        </p:nvSpPr>
        <p:spPr>
          <a:xfrm>
            <a:off x="1619250" y="4086225"/>
            <a:ext cx="8620125" cy="838200"/>
          </a:xfrm>
          <a:prstGeom prst="rect">
            <a:avLst/>
          </a:prstGeom>
          <a:noFill/>
          <a:ln w="0">
            <a:noFill/>
          </a:ln>
        </p:spPr>
        <p:txBody>
          <a:bodyPr wrap="square" lIns="0" tIns="0" rIns="0" bIns="0" anchor="t">
            <a:norm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The result concerns resource efficiency, not equal accuracy, measured energy, or universal superiority.</a:t>
            </a:r>
          </a:p>
        </p:txBody>
      </p:sp>
      <p:sp>
        <p:nvSpPr>
          <p:cNvPr id="10" name="Rectangle 9">
            <a:extLst>
              <a:ext uri="{FF2B5EF4-FFF2-40B4-BE49-F238E27FC236}">
                <a16:creationId xmlns:a16="http://schemas.microsoft.com/office/drawing/2014/main" id="{A646C935-EB01-4A44-87C0-51AEA73063BC}"/>
              </a:ext>
            </a:extLst>
          </p:cNvPr>
          <p:cNvSpPr>
            <a:spLocks noGrp="1"/>
          </p:cNvSpPr>
          <p:nvPr/>
        </p:nvSpPr>
        <p:spPr>
          <a:xfrm>
            <a:off x="8839200" y="5476875"/>
            <a:ext cx="2476500" cy="647700"/>
          </a:xfrm>
          <a:prstGeom prst="rect">
            <a:avLst/>
          </a:prstGeom>
          <a:noFill/>
          <a:ln w="0">
            <a:noFill/>
          </a:ln>
        </p:spPr>
        <p:txBody>
          <a:bodyPr wrap="square" lIns="0" tIns="0" rIns="0" bIns="0" anchor="t">
            <a:normAutofit/>
          </a:bodyPr>
          <a:lstStyle/>
          <a:p>
            <a:pPr algn="r">
              <a:defRPr sz="3600" b="1">
                <a:solidFill>
                  <a:srgbClr val="0072B2"/>
                </a:solidFill>
                <a:latin typeface="Arial"/>
                <a:ea typeface="Arial"/>
                <a:cs typeface="Arial"/>
              </a:defRPr>
            </a:pPr>
            <a:r>
              <a:rPr sz="3600" b="1">
                <a:solidFill>
                  <a:srgbClr val="0072B2"/>
                </a:solidFill>
                <a:latin typeface="Arial"/>
                <a:ea typeface="Arial"/>
                <a:cs typeface="Arial"/>
              </a:rPr>
              <a:t>Q&amp;A</a:t>
            </a:r>
          </a:p>
        </p:txBody>
      </p:sp>
      <p:sp>
        <p:nvSpPr>
          <p:cNvPr id="11" name="Rectangle 10">
            <a:extLst>
              <a:ext uri="{FF2B5EF4-FFF2-40B4-BE49-F238E27FC236}">
                <a16:creationId xmlns:a16="http://schemas.microsoft.com/office/drawing/2014/main" id="{67F17D88-2855-49D6-8D0E-CE5E1D888634}"/>
              </a:ext>
            </a:extLst>
          </p:cNvPr>
          <p:cNvSpPr>
            <a:spLocks noGrp="1"/>
          </p:cNvSpPr>
          <p:nvPr/>
        </p:nvSpPr>
        <p:spPr>
          <a:xfrm>
            <a:off x="781050" y="6029325"/>
            <a:ext cx="3619500" cy="285750"/>
          </a:xfrm>
          <a:prstGeom prst="rect">
            <a:avLst/>
          </a:prstGeom>
          <a:noFill/>
          <a:ln w="0">
            <a:noFill/>
          </a:ln>
        </p:spPr>
        <p:txBody>
          <a:bodyPr wrap="square" lIns="0" tIns="0" rIns="0" bIns="0" anchor="t">
            <a:normAutofit/>
          </a:bodyPr>
          <a:lstStyle/>
          <a:p>
            <a:pPr algn="l">
              <a:defRPr sz="1350" b="0">
                <a:solidFill>
                  <a:srgbClr val="C6D0D8"/>
                </a:solidFill>
                <a:latin typeface="Arial"/>
                <a:ea typeface="Arial"/>
                <a:cs typeface="Arial"/>
              </a:defRPr>
            </a:pPr>
            <a:r>
              <a:rPr sz="1350" b="0">
                <a:solidFill>
                  <a:srgbClr val="C6D0D8"/>
                </a:solidFill>
                <a:latin typeface="Arial"/>
                <a:ea typeface="Arial"/>
                <a:cs typeface="Arial"/>
              </a:rPr>
              <a:t>Bayan &amp; Shay</a:t>
            </a:r>
          </a:p>
        </p:txBody>
      </p:sp>
    </p:spTree>
    <p:extLst>
      <p:ext uri="{BB962C8B-B14F-4D97-AF65-F5344CB8AC3E}">
        <p14:creationId xmlns:p14="http://schemas.microsoft.com/office/powerpoint/2010/main" val="76094781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1871</Words>
  <Application>Microsoft Office PowerPoint</Application>
  <DocSecurity>0</DocSecurity>
  <PresentationFormat>Widescreen</PresentationFormat>
  <Paragraphs>177</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shay lavi</cp:lastModifiedBy>
  <cp:revision>2</cp:revision>
  <dcterms:created xsi:type="dcterms:W3CDTF">2026-09-21T11:10:29Z</dcterms:created>
  <dcterms:modified xsi:type="dcterms:W3CDTF">2026-09-23T18:21:01Z</dcterms:modified>
</cp:coreProperties>
</file>