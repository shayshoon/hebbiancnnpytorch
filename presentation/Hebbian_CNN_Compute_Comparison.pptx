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4.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95508f9b4de4f18" /><Relationship Type="http://schemas.openxmlformats.org/officeDocument/2006/relationships/extended-properties" Target="/docProps/app.xml" Id="R935e673421fe4a50" /><Relationship Type="http://schemas.openxmlformats.org/officeDocument/2006/relationships/officeDocument" Target="/ppt/presentation.xml" Id="R00f189791e204c10" /></Relationships>
</file>

<file path=ppt/presentation.xml><?xml version="1.0" encoding="utf-8"?>
<p:presentation xmlns:p="http://schemas.openxmlformats.org/presentationml/2006/main">
  <p:sldMasterIdLst>
    <p:sldMasterId xmlns:r="http://schemas.openxmlformats.org/officeDocument/2006/relationships" id="2147483648" r:id="Ra04e587de66c4f04"/>
  </p:sldMasterIdLst>
  <p:notesMasterIdLst>
    <p:notesMasterId xmlns:r="http://schemas.openxmlformats.org/officeDocument/2006/relationships" r:id="R3cd8f27345624b92"/>
  </p:notesMasterIdLst>
  <p:sldIdLst>
    <p:sldId xmlns:r="http://schemas.openxmlformats.org/officeDocument/2006/relationships" id="256" r:id="R25c041c8c5064a9c"/>
    <p:sldId xmlns:r="http://schemas.openxmlformats.org/officeDocument/2006/relationships" id="257" r:id="R640a95d7313b419e"/>
    <p:sldId xmlns:r="http://schemas.openxmlformats.org/officeDocument/2006/relationships" id="258" r:id="R5c6f8b7c24dc47ac"/>
    <p:sldId xmlns:r="http://schemas.openxmlformats.org/officeDocument/2006/relationships" id="259" r:id="R1ab72f212d1b416d"/>
    <p:sldId xmlns:r="http://schemas.openxmlformats.org/officeDocument/2006/relationships" id="260" r:id="R57fcb4923bb74753"/>
    <p:sldId xmlns:r="http://schemas.openxmlformats.org/officeDocument/2006/relationships" id="261" r:id="Rafe19e5ccc0541d2"/>
    <p:sldId xmlns:r="http://schemas.openxmlformats.org/officeDocument/2006/relationships" id="262" r:id="Rbff10d2ddb1241c0"/>
    <p:sldId xmlns:r="http://schemas.openxmlformats.org/officeDocument/2006/relationships" id="263" r:id="Redb8d6e6a53d467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b69b405e64444e9" /><Relationship Type="http://schemas.openxmlformats.org/officeDocument/2006/relationships/slideMaster" Target="/ppt/slideMasters/slideMaster1.xml" Id="Ra04e587de66c4f04" /><Relationship Type="http://schemas.openxmlformats.org/officeDocument/2006/relationships/notesMaster" Target="/ppt/notesMasters/notesMaster1.xml" Id="R3cd8f27345624b92" /><Relationship Type="http://schemas.openxmlformats.org/officeDocument/2006/relationships/presProps" Target="/ppt/presProps.xml" Id="R3483c78f088e487e" /><Relationship Type="http://schemas.openxmlformats.org/officeDocument/2006/relationships/tableStyles" Target="/ppt/tableStyles.xml" Id="R6c2b804e0ea34cf2" /><Relationship Type="http://schemas.openxmlformats.org/officeDocument/2006/relationships/slide" Target="/ppt/slides/slide1.xml" Id="R25c041c8c5064a9c" /><Relationship Type="http://schemas.openxmlformats.org/officeDocument/2006/relationships/slide" Target="/ppt/slides/slide2.xml" Id="R640a95d7313b419e" /><Relationship Type="http://schemas.openxmlformats.org/officeDocument/2006/relationships/slide" Target="/ppt/slides/slide3.xml" Id="R5c6f8b7c24dc47ac" /><Relationship Type="http://schemas.openxmlformats.org/officeDocument/2006/relationships/slide" Target="/ppt/slides/slide4.xml" Id="R1ab72f212d1b416d" /><Relationship Type="http://schemas.openxmlformats.org/officeDocument/2006/relationships/slide" Target="/ppt/slides/slide5.xml" Id="R57fcb4923bb74753" /><Relationship Type="http://schemas.openxmlformats.org/officeDocument/2006/relationships/slide" Target="/ppt/slides/slide6.xml" Id="Rafe19e5ccc0541d2" /><Relationship Type="http://schemas.openxmlformats.org/officeDocument/2006/relationships/slide" Target="/ppt/slides/slide7.xml" Id="Rbff10d2ddb1241c0" /><Relationship Type="http://schemas.openxmlformats.org/officeDocument/2006/relationships/slide" Target="/ppt/slides/slide8.xml" Id="Redb8d6e6a53d467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36bc7bb8787482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7c36b420f12469a" /><Relationship Type="http://schemas.openxmlformats.org/officeDocument/2006/relationships/notesMaster" Target="/ppt/notesMasters/notesMaster1.xml" Id="R0fb4d50ce6e3440e" /></Relationships>
</file>

<file path=ppt/notesSlides/_rels/notesSlide2.xml.rels>&#65279;<?xml version="1.0" encoding="utf-8"?><Relationships xmlns="http://schemas.openxmlformats.org/package/2006/relationships"><Relationship Type="http://schemas.openxmlformats.org/officeDocument/2006/relationships/slide" Target="/ppt/slides/slide2.xml" Id="R6463639e4fd54279" /><Relationship Type="http://schemas.openxmlformats.org/officeDocument/2006/relationships/notesMaster" Target="/ppt/notesMasters/notesMaster1.xml" Id="R5371bf4f829043b3" /></Relationships>
</file>

<file path=ppt/notesSlides/_rels/notesSlide3.xml.rels>&#65279;<?xml version="1.0" encoding="utf-8"?><Relationships xmlns="http://schemas.openxmlformats.org/package/2006/relationships"><Relationship Type="http://schemas.openxmlformats.org/officeDocument/2006/relationships/slide" Target="/ppt/slides/slide3.xml" Id="R960c125de4054183" /><Relationship Type="http://schemas.openxmlformats.org/officeDocument/2006/relationships/notesMaster" Target="/ppt/notesMasters/notesMaster1.xml" Id="R4b519566049e4e99" /></Relationships>
</file>

<file path=ppt/notesSlides/_rels/notesSlide4.xml.rels>&#65279;<?xml version="1.0" encoding="utf-8"?><Relationships xmlns="http://schemas.openxmlformats.org/package/2006/relationships"><Relationship Type="http://schemas.openxmlformats.org/officeDocument/2006/relationships/slide" Target="/ppt/slides/slide4.xml" Id="R172b809bba2d4c63" /><Relationship Type="http://schemas.openxmlformats.org/officeDocument/2006/relationships/notesMaster" Target="/ppt/notesMasters/notesMaster1.xml" Id="R348eab22db9a48bb" /></Relationships>
</file>

<file path=ppt/notesSlides/_rels/notesSlide5.xml.rels>&#65279;<?xml version="1.0" encoding="utf-8"?><Relationships xmlns="http://schemas.openxmlformats.org/package/2006/relationships"><Relationship Type="http://schemas.openxmlformats.org/officeDocument/2006/relationships/slide" Target="/ppt/slides/slide5.xml" Id="Rf9719d9e90524af0" /><Relationship Type="http://schemas.openxmlformats.org/officeDocument/2006/relationships/notesMaster" Target="/ppt/notesMasters/notesMaster1.xml" Id="R614f3761b99449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1937d98431ca48f3" /><Relationship Type="http://schemas.openxmlformats.org/officeDocument/2006/relationships/notesMaster" Target="/ppt/notesMasters/notesMaster1.xml" Id="R9a825d7909ec4021" /></Relationships>
</file>

<file path=ppt/notesSlides/_rels/notesSlide7.xml.rels>&#65279;<?xml version="1.0" encoding="utf-8"?><Relationships xmlns="http://schemas.openxmlformats.org/package/2006/relationships"><Relationship Type="http://schemas.openxmlformats.org/officeDocument/2006/relationships/slide" Target="/ppt/slides/slide7.xml" Id="R3151253a9ad84a39" /><Relationship Type="http://schemas.openxmlformats.org/officeDocument/2006/relationships/notesMaster" Target="/ppt/notesMasters/notesMaster1.xml" Id="Rb20ee37bd94b428c" /></Relationships>
</file>

<file path=ppt/notesSlides/_rels/notesSlide8.xml.rels>&#65279;<?xml version="1.0" encoding="utf-8"?><Relationships xmlns="http://schemas.openxmlformats.org/package/2006/relationships"><Relationship Type="http://schemas.openxmlformats.org/officeDocument/2006/relationships/slide" Target="/ppt/slides/slide8.xml" Id="R93eea548b48043fa" /><Relationship Type="http://schemas.openxmlformats.org/officeDocument/2006/relationships/notesMaster" Target="/ppt/notesMasters/notesMaster1.xml" Id="R75be44023a5749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Bayan</a:t>
            </a:r>
          </a:p>
          <a:p xmlns:a="http://schemas.openxmlformats.org/drawingml/2006/main">
            <a:r>
              <a:t/>
            </a:r>
          </a:p>
          <a:p xmlns:a="http://schemas.openxmlformats.org/drawingml/2006/main">
            <a:r>
              <a:t>Hello, we are Bayan and Shay. Our project studies the computational and memory cost of a concrete Hebbian convolutional network for CIFAR-10, and compares it with backpropagation. We focus on the published HebbianCNNPyTorch implementation. The question is deliberately narrow: for this architecture and training workflow, what resources does each learning method require? We do not claim a universal winner, and we do not estimate electricity without controlled hardware measurements.</a:t>
            </a:r>
          </a:p>
          <a:p xmlns:a="http://schemas.openxmlformats.org/drawingml/2006/main">
            <a:r>
              <a:t/>
            </a:r>
          </a:p>
          <a:p xmlns:a="http://schemas.openxmlformats.org/drawingml/2006/main">
            <a:r>
              <a:t>Sources: Frozen project report and repository 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Bayan</a:t>
            </a:r>
          </a:p>
          <a:p xmlns:a="http://schemas.openxmlformats.org/drawingml/2006/main">
            <a:r>
              <a:t/>
            </a:r>
          </a:p>
          <a:p xmlns:a="http://schemas.openxmlformats.org/drawingml/2006/main">
            <a:r>
              <a:t>Backpropagation computes a loss, propagates derivatives through the complete network, stores parameter gradients, and often keeps optimizer state. Hebbian learning can update a layer from information available locally: its input patch, its winning output, and its current weights. That locality may remove global backward work and some stored state.</a:t>
            </a:r>
          </a:p>
          <a:p xmlns:a="http://schemas.openxmlformats.org/drawingml/2006/main">
            <a:r>
              <a:t/>
            </a:r>
          </a:p>
          <a:p xmlns:a="http://schemas.openxmlformats.org/drawingml/2006/main">
            <a:r>
              <a:t>Our research question was whether this advantage appears in the actual three-layer repository, rather than only in a simplified equation. We had no controlled CPU or GPU experiment with power sampling, so electricity would have been speculation. Instead, we built a hardware-independent model. We count scalar operations by type, estimate tensor storage, and estimate logical tensor movement. These metrics describe algorithmic resource demand. They do not predict joules, wall-clock time, or measured GPU memory.</a:t>
            </a:r>
          </a:p>
          <a:p xmlns:a="http://schemas.openxmlformats.org/drawingml/2006/main">
            <a:r>
              <a:t/>
            </a:r>
          </a:p>
          <a:p xmlns:a="http://schemas.openxmlformats.org/drawingml/2006/main">
            <a:r>
              <a:t>Sources: Frozen analytical methodology in final_report.md.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Bayan</a:t>
            </a:r>
          </a:p>
          <a:p xmlns:a="http://schemas.openxmlformats.org/drawingml/2006/main">
            <a:r>
              <a:t/>
            </a:r>
          </a:p>
          <a:p xmlns:a="http://schemas.openxmlformats.org/drawingml/2006/main">
            <a:r>
              <a:t>The active network has three valid convolutions with 100, 196, and 400 output channels. Their kernels are five by five, three by three, and three by three. Each layer uses two by two average pooling. The final tensor has 400 channels at two by two spatial positions, so the frozen representation contains 1,600 features. The Hebbian workflow then fits a Ridge classifier.</a:t>
            </a:r>
          </a:p>
          <a:p xmlns:a="http://schemas.openxmlformats.org/drawingml/2006/main">
            <a:r>
              <a:t/>
            </a:r>
          </a:p>
          <a:p xmlns:a="http://schemas.openxmlformats.org/drawingml/2006/main">
            <a:r>
              <a:t>The local rule is Grossberg Instar. At each spatial position, WTA activates the positive top-cutoff winner or winners, if any. A non-positive maximum produces no winner, while a positive tie can activate more than one filter. The repository expresses this update through a surrogate loss and PyTorch autograd. We created a direct formula and tested one deterministic batch through all three layers. In that deterministic test batch, every updated weight and threshold matched within the stated floating-point tolerance.</a:t>
            </a:r>
          </a:p>
          <a:p xmlns:a="http://schemas.openxmlformats.org/drawingml/2006/main">
            <a:r>
              <a:t/>
            </a:r>
          </a:p>
          <a:p xmlns:a="http://schemas.openxmlformats.org/drawingml/2006/main">
            <a:r>
              <a:t>That verification lets us separate four models: A1 is direct dense local Hebbian learning. A2 conditional assumes true sparse storage and sparse kernels. B is the current dense surrogate and autograd implementation. BP is an equal-architecture analytical reference with a learned linear classifier.</a:t>
            </a:r>
          </a:p>
          <a:p xmlns:a="http://schemas.openxmlformats.org/drawingml/2006/main">
            <a:r>
              <a:t/>
            </a:r>
          </a:p>
          <a:p xmlns:a="http://schemas.openxmlformats.org/drawingml/2006/main">
            <a:r>
              <a:t>Sources: HebbGrad_Github.ipynb; direct_hebb_equivalence_test.py; final_report.md sections 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Bayan</a:t>
            </a:r>
          </a:p>
          <a:p xmlns:a="http://schemas.openxmlformats.org/drawingml/2006/main">
            <a:r>
              <a:t/>
            </a:r>
          </a:p>
          <a:p xmlns:a="http://schemas.openxmlformats.org/drawingml/2006/main">
            <a:r>
              <a:t>This slide compares one batch of learning work with batch size 100. A1 requires 8.667 billion modeled scalar operations. A2 conditional requires 1.380 billion, but only if the structural sparsity is genuinely exploited. The current surrogate implementation B requires 17.268 billion. The backpropagation reference requires 24.430 billion.</a:t>
            </a:r>
          </a:p>
          <a:p xmlns:a="http://schemas.openxmlformats.org/drawingml/2006/main">
            <a:r>
              <a:t/>
            </a:r>
          </a:p>
          <a:p xmlns:a="http://schemas.openxmlformats.org/drawingml/2006/main">
            <a:r>
              <a:t>So BP is about 2.819 times A1, 17.699 times A2 conditional, and 1.415 times B. The main point is not that Hebbian convolution is free. Every method still performs large forward convolutions. The direct update saves the global backward path and optimizer work. B recovers the same local rule, but autograd adds computational overhead. A2 saves much more because it skips structurally masked higher-layer work. Ordinary dense PyTorch convolution would not realize that saving. The ordering remains the same when each method is scaled to twenty epochs.</a:t>
            </a:r>
          </a:p>
          <a:p xmlns:a="http://schemas.openxmlformats.org/drawingml/2006/main">
            <a:r>
              <a:t/>
            </a:r>
          </a:p>
          <a:p xmlns:a="http://schemas.openxmlformats.org/drawingml/2006/main">
            <a:r>
              <a:t>Sources: results/data/compute_same_work.csv. Values are analytical scalar-operation totals, not energy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Shay</a:t>
            </a:r>
          </a:p>
          <a:p xmlns:a="http://schemas.openxmlformats.org/drawingml/2006/main">
            <a:r>
              <a:t/>
            </a:r>
          </a:p>
          <a:p xmlns:a="http://schemas.openxmlformats.org/drawingml/2006/main">
            <a:r>
              <a:t>The matched batch isolates the learning core. The fuller Hebbian method-level subtotal includes known ZCA preprocessing arithmetic, including the modeled construction and application work, twenty training epochs, post-training feature extraction with convolutional weights frozen while adaptive thresholds continue updating, Ridge fitting, and evaluation. The eigensolver remains a separate sensitivity estimate. Under that scope, A1 totals 112.590 trillion operations, A2 conditional 35.365 trillion, and B 198.609 trillion. BP at twenty epochs totals 245.158 trillion. At the comparison paper's one-hundred-epoch budget, BP reaches 1,222.377 trillion.</a:t>
            </a:r>
          </a:p>
          <a:p xmlns:a="http://schemas.openxmlformats.org/drawingml/2006/main">
            <a:r>
              <a:t/>
            </a:r>
          </a:p>
          <a:p xmlns:a="http://schemas.openxmlformats.org/drawingml/2006/main">
            <a:r>
              <a:t>Persistent state shows a related effect. A1 uses 7.089 megabytes. B uses 10.677 megabytes because autograd needs dense gradients. BP with Adam uses 14.488 megabytes for parameters, gradients, and two moment tensors. A2 conditional uses 0.106 megabytes with the stated CSR32 representation, including sparse metadata and thresholds. These are analytical tensor payloads, not measured allocator or GPU peaks.</a:t>
            </a:r>
          </a:p>
          <a:p xmlns:a="http://schemas.openxmlformats.org/drawingml/2006/main">
            <a:r>
              <a:t/>
            </a:r>
          </a:p>
          <a:p xmlns:a="http://schemas.openxmlformats.org/drawingml/2006/main">
            <a:r>
              <a:t>Sources: results/data/compute_method_level.csv; results/data/memory_persistent_state.csv; final_report.md sections 7–8.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Shay</a:t>
            </a:r>
          </a:p>
          <a:p xmlns:a="http://schemas.openxmlformats.org/drawingml/2006/main">
            <a:r>
              <a:t/>
            </a:r>
          </a:p>
          <a:p xmlns:a="http://schemas.openxmlformats.org/drawingml/2006/main">
            <a:r>
              <a:t>Compute cannot be interpreted without accuracy context, but these sources do not form one controlled experiment. The original Hebbian paper reports 64.55 percent plus or minus 0.4 across ten runs. The saved notebook records 64.65 percent for one run, which is consistent but is not a replication study.</a:t>
            </a:r>
          </a:p>
          <a:p xmlns:a="http://schemas.openxmlformats.org/drawingml/2006/main">
            <a:r>
              <a:t/>
            </a:r>
          </a:p>
          <a:p xmlns:a="http://schemas.openxmlformats.org/drawingml/2006/main">
            <a:r>
              <a:t>The comparison paper gives approximate graph readings. Hebbian learning is around 66 percent at both twenty and one hundred epochs. Backpropagation is around 57 percent at twenty epochs and 70 percent at one hundred epochs. This supports the observation that the Hebbian representation stabilizes earlier, while BP continues improving and eventually exceeds it in that experiment.</a:t>
            </a:r>
          </a:p>
          <a:p xmlns:a="http://schemas.openxmlformats.org/drawingml/2006/main">
            <a:r>
              <a:t/>
            </a:r>
          </a:p>
          <a:p xmlns:a="http://schemas.openxmlformats.org/drawingml/2006/main">
            <a:r>
              <a:t>Therefore, a five-epoch Hebbian versus one-hundred-epoch BP budget can illustrate convergence sensitivity, but it cannot be called an equal-accuracy comparison. We also avoid a combined efficiency score because the training protocols, classifiers, and evidence types differ.</a:t>
            </a:r>
          </a:p>
          <a:p xmlns:a="http://schemas.openxmlformats.org/drawingml/2006/main">
            <a:r>
              <a:t/>
            </a:r>
          </a:p>
          <a:p xmlns:a="http://schemas.openxmlformats.org/drawingml/2006/main">
            <a:r>
              <a:t>Sources: results/data/accuracy_context.csv; Miconi Table 1; saved notebook output; Gupta et al. Figure 2 approximate graph reads.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Shay</a:t>
            </a:r>
          </a:p>
          <a:p xmlns:a="http://schemas.openxmlformats.org/drawingml/2006/main">
            <a:r>
              <a:t/>
            </a:r>
          </a:p>
          <a:p xmlns:a="http://schemas.openxmlformats.org/drawingml/2006/main">
            <a:r>
              <a:t>The strongest supported finding is implementation-specific. For this architecture and our frozen counting rules, direct local Instar uses less modeled arithmetic than the equal-architecture BP reference. The current autograd method captures only part of that potential because its graph and gradients remain dense. A2 conditional gives the largest modeled savings, but it is an opportunity estimate that requires real sparse storage and kernels.</a:t>
            </a:r>
          </a:p>
          <a:p xmlns:a="http://schemas.openxmlformats.org/drawingml/2006/main">
            <a:r>
              <a:t/>
            </a:r>
          </a:p>
          <a:p xmlns:a="http://schemas.openxmlformats.org/drawingml/2006/main">
            <a:r>
              <a:t>Local execution can also reduce persistent learning state and global-gradient traffic. However, lower counts do not guarantee lower runtime or energy. Kernel fusion, cache behavior, sparse irregularity, and library choices all matter on real hardware. The BP reference also contains documented assumptions where the comparison paper omits details. Finally, the accuracy protocols are not identical. These boundaries are central to the conclusion, rather than footnotes to remove.</a:t>
            </a:r>
          </a:p>
          <a:p xmlns:a="http://schemas.openxmlformats.org/drawingml/2006/main">
            <a:r>
              <a:t/>
            </a:r>
          </a:p>
          <a:p xmlns:a="http://schemas.openxmlformats.org/drawingml/2006/main">
            <a:r>
              <a:t>Sources: Frozen final-report conclusions and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Shay</a:t>
            </a:r>
          </a:p>
          <a:p xmlns:a="http://schemas.openxmlformats.org/drawingml/2006/main">
            <a:r>
              <a:t/>
            </a:r>
          </a:p>
          <a:p xmlns:a="http://schemas.openxmlformats.org/drawingml/2006/main">
            <a:r>
              <a:t>We conclude that the verified direct Hebbian rule can be implemented considerably more cheaply than conventional backpropagation under this analytical model. Implementation matters: A1 is much cheaper than the current surrogate method B, and A2 conditional could reduce cost further with genuine sparse execution. This is a resource-efficiency result for one concrete network. It does not establish equal accuracy, measured energy savings, or universal Hebbian superiority. Thank you. We are happy to take questions.</a:t>
            </a:r>
          </a:p>
          <a:p xmlns:a="http://schemas.openxmlformats.org/drawingml/2006/main">
            <a:r>
              <a:t/>
            </a:r>
          </a:p>
          <a:p xmlns:a="http://schemas.openxmlformats.org/drawingml/2006/main">
            <a:r>
              <a:t>Sources: Frozen final-report conclusion.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41eec18509c4ec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03afacc3724ce5" /><Relationship Type="http://schemas.openxmlformats.org/officeDocument/2006/relationships/slideLayout" Target="/ppt/slideLayouts/slideLayout1.xml" Id="Rc25b0f5c38f5491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25b0f5c38f5491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f839c5862624adb" /><Relationship Type="http://schemas.openxmlformats.org/officeDocument/2006/relationships/notesSlide" Target="/ppt/notesSlides/notesSlide1.xml" Id="R3e9af5b2f1c2432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c7d71e4015b4190" /><Relationship Type="http://schemas.openxmlformats.org/officeDocument/2006/relationships/notesSlide" Target="/ppt/notesSlides/notesSlide2.xml" Id="R7eb66911c0e242b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7dab768a4b6488e" /><Relationship Type="http://schemas.openxmlformats.org/officeDocument/2006/relationships/notesSlide" Target="/ppt/notesSlides/notesSlide3.xml" Id="R167be010e0af4a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1795d5ed4bb4df9" /><Relationship Type="http://schemas.openxmlformats.org/officeDocument/2006/relationships/chart" Target="/ppt/slides/charts/chart1.xml" Id="Raf51767c5f8546d0" /><Relationship Type="http://schemas.openxmlformats.org/officeDocument/2006/relationships/notesSlide" Target="/ppt/notesSlides/notesSlide4.xml" Id="Rbc9974c7ad4b4b3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b5ac2fcaecc4347" /><Relationship Type="http://schemas.openxmlformats.org/officeDocument/2006/relationships/chart" Target="/ppt/slides/charts/chart2.xml" Id="R874ba51c08e948ed" /><Relationship Type="http://schemas.openxmlformats.org/officeDocument/2006/relationships/chart" Target="/ppt/slides/charts/chart3.xml" Id="Rad17aacc21b748c2" /><Relationship Type="http://schemas.openxmlformats.org/officeDocument/2006/relationships/notesSlide" Target="/ppt/notesSlides/notesSlide5.xml" Id="Rde3160d50f63419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4187d39ab79460f" /><Relationship Type="http://schemas.openxmlformats.org/officeDocument/2006/relationships/chart" Target="/ppt/slides/charts/chart4.xml" Id="R4d58ec9b165c46f4" /><Relationship Type="http://schemas.openxmlformats.org/officeDocument/2006/relationships/notesSlide" Target="/ppt/notesSlides/notesSlide6.xml" Id="R5a96b5af9beb462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772178aaaad49e6" /><Relationship Type="http://schemas.openxmlformats.org/officeDocument/2006/relationships/notesSlide" Target="/ppt/notesSlides/notesSlide7.xml" Id="Refd519c1b7a14d2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229d376a6b140d2" /><Relationship Type="http://schemas.openxmlformats.org/officeDocument/2006/relationships/notesSlide" Target="/ppt/notesSlides/notesSlide8.xml" Id="R92e2aa7b6d774b2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Billion operations</c:v>
          </c:tx>
          <c:spPr>
            <a:solidFill xmlns:a="http://schemas.openxmlformats.org/drawingml/2006/main">
              <a:srgbClr val="0072B2"/>
            </a:solidFill>
          </c:spPr>
          <c:dPt>
            <c:idx val="0"/>
            <c:invertIfNegative val="0"/>
            <c:spPr>
              <a:solidFill xmlns:a="http://schemas.openxmlformats.org/drawingml/2006/main">
                <a:srgbClr val="0072B2"/>
              </a:solidFill>
            </c:spPr>
          </c:dPt>
          <c:dPt>
            <c:idx val="1"/>
            <c:invertIfNegative val="0"/>
            <c:spPr>
              <a:solidFill xmlns:a="http://schemas.openxmlformats.org/drawingml/2006/main">
                <a:srgbClr val="E69F00"/>
              </a:solidFill>
            </c:spPr>
          </c:dPt>
          <c:dPt>
            <c:idx val="2"/>
            <c:invertIfNegative val="0"/>
            <c:spPr>
              <a:solidFill xmlns:a="http://schemas.openxmlformats.org/drawingml/2006/main">
                <a:srgbClr val="009E73"/>
              </a:solidFill>
            </c:spPr>
          </c:dPt>
          <c:dPt>
            <c:idx val="3"/>
            <c:invertIfNegative val="0"/>
            <c:spPr>
              <a:solidFill xmlns:a="http://schemas.openxmlformats.org/drawingml/2006/main">
                <a:srgbClr val="4D4D4D"/>
              </a:solidFill>
            </c:spPr>
          </c:dPt>
          <c:cat>
            <c:strRef>
              <c:f>'Chart Data'!$A$2:$A$5</c:f>
              <c:strCache>
                <c:ptCount val="4"/>
                <c:pt idx="0">
                  <c:v>A1</c:v>
                </c:pt>
                <c:pt idx="1">
                  <c:v>A2 conditional</c:v>
                </c:pt>
                <c:pt idx="2">
                  <c:v>B</c:v>
                </c:pt>
                <c:pt idx="3">
                  <c:v>BP</c:v>
                </c:pt>
              </c:strCache>
            </c:strRef>
          </c:cat>
          <c:val>
            <c:numRef>
              <c:f>'Chart Data'!$B$2:$B$5</c:f>
              <c:numCache>
                <c:formatCode>0.000" B"</c:formatCode>
                <c:ptCount val="4"/>
                <c:pt idx="0">
                  <c:v>8.667340084</c:v>
                </c:pt>
                <c:pt idx="1">
                  <c:v>1.380339683</c:v>
                </c:pt>
                <c:pt idx="2">
                  <c:v>17.267771387</c:v>
                </c:pt>
                <c:pt idx="3">
                  <c:v>24.430482934</c:v>
                </c:pt>
              </c:numCache>
            </c:numRef>
          </c:val>
        </c:ser>
        <c:dLbls>
          <c:txPr>
            <a:bodyPr xmlns:a="http://schemas.openxmlformats.org/drawingml/2006/main" anchorCtr="1"/>
            <a:lstStyle xmlns:a="http://schemas.openxmlformats.org/drawingml/2006/main"/>
            <a:p xmlns:a="http://schemas.openxmlformats.org/drawingml/2006/main">
              <a:pPr>
                <a:defRPr sz="1275" b="1">
                  <a:solidFill>
                    <a:srgbClr val="17222F"/>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350" b="1">
                <a:solidFill>
                  <a:srgbClr val="17222F"/>
                </a:solidFill>
                <a:latin typeface="Arial"/>
                <a:ea typeface="Arial"/>
                <a:cs typeface="Arial"/>
              </a:defRPr>
            </a:pPr>
          </a:p>
        </c:txPr>
        <c:crossAx val="48650112"/>
        <c:crossBetween val="between"/>
      </c:valAx>
      <c:spPr>
        <a:ln xmlns:a="http://schemas.openxmlformats.org/drawingml/2006/main" w="0">
          <a:noFill/>
        </a:ln>
      </c:spPr>
    </c:plotArea>
    <c:plotVisOnly val="1"/>
  </c:chart>
  <c:spPr>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Trillion operations</c:v>
          </c:tx>
          <c:spPr>
            <a:solidFill xmlns:a="http://schemas.openxmlformats.org/drawingml/2006/main">
              <a:srgbClr val="0072B2"/>
            </a:solidFill>
          </c:spPr>
          <c:dPt>
            <c:idx val="0"/>
            <c:invertIfNegative val="0"/>
            <c:spPr>
              <a:solidFill xmlns:a="http://schemas.openxmlformats.org/drawingml/2006/main">
                <a:srgbClr val="0072B2"/>
              </a:solidFill>
            </c:spPr>
          </c:dPt>
          <c:dPt>
            <c:idx val="1"/>
            <c:invertIfNegative val="0"/>
            <c:spPr>
              <a:solidFill xmlns:a="http://schemas.openxmlformats.org/drawingml/2006/main">
                <a:srgbClr val="E69F00"/>
              </a:solidFill>
            </c:spPr>
          </c:dPt>
          <c:dPt>
            <c:idx val="2"/>
            <c:invertIfNegative val="0"/>
            <c:spPr>
              <a:solidFill xmlns:a="http://schemas.openxmlformats.org/drawingml/2006/main">
                <a:srgbClr val="009E73"/>
              </a:solidFill>
            </c:spPr>
          </c:dPt>
          <c:dPt>
            <c:idx val="3"/>
            <c:invertIfNegative val="0"/>
            <c:spPr>
              <a:solidFill xmlns:a="http://schemas.openxmlformats.org/drawingml/2006/main">
                <a:srgbClr val="4D4D4D"/>
              </a:solidFill>
            </c:spPr>
          </c:dPt>
          <c:cat>
            <c:strRef>
              <c:f>'Chart Data'!$A$2:$A$5</c:f>
              <c:strCache>
                <c:ptCount val="4"/>
                <c:pt idx="0">
                  <c:v>A1</c:v>
                </c:pt>
                <c:pt idx="1">
                  <c:v>A2 conditional</c:v>
                </c:pt>
                <c:pt idx="2">
                  <c:v>B</c:v>
                </c:pt>
                <c:pt idx="3">
                  <c:v>BP 20</c:v>
                </c:pt>
              </c:strCache>
            </c:strRef>
          </c:cat>
          <c:val>
            <c:numRef>
              <c:f>'Chart Data'!$B$2:$B$5</c:f>
              <c:numCache>
                <c:formatCode>0.000" T"</c:formatCode>
                <c:ptCount val="4"/>
                <c:pt idx="0">
                  <c:v>112.590041834287</c:v>
                </c:pt>
                <c:pt idx="1">
                  <c:v>35.365252130627</c:v>
                </c:pt>
                <c:pt idx="2">
                  <c:v>198.609206182487</c:v>
                </c:pt>
                <c:pt idx="3">
                  <c:v>245.15770369002</c:v>
                </c:pt>
              </c:numCache>
            </c:numRef>
          </c:val>
        </c:ser>
        <c:dLbls>
          <c:txPr>
            <a:bodyPr xmlns:a="http://schemas.openxmlformats.org/drawingml/2006/main" anchorCtr="1"/>
            <a:lstStyle xmlns:a="http://schemas.openxmlformats.org/drawingml/2006/main"/>
            <a:p xmlns:a="http://schemas.openxmlformats.org/drawingml/2006/main">
              <a:pPr>
                <a:defRPr sz="1050" b="1">
                  <a:solidFill>
                    <a:srgbClr val="17222F"/>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b="1">
                <a:solidFill>
                  <a:srgbClr val="17222F"/>
                </a:solidFill>
                <a:latin typeface="Arial"/>
                <a:ea typeface="Arial"/>
                <a:cs typeface="Arial"/>
              </a:defRPr>
            </a:pPr>
          </a:p>
        </c:txPr>
        <c:crossAx val="48650112"/>
        <c:crossBetween val="between"/>
      </c:valAx>
      <c:spPr>
        <a:ln xmlns:a="http://schemas.openxmlformats.org/drawingml/2006/main" w="0">
          <a:noFill/>
        </a:ln>
      </c:spPr>
    </c:plotArea>
    <c:plotVisOnly val="1"/>
  </c:chart>
  <c:spPr>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MB</c:v>
          </c:tx>
          <c:spPr>
            <a:solidFill xmlns:a="http://schemas.openxmlformats.org/drawingml/2006/main">
              <a:srgbClr val="0072B2"/>
            </a:solidFill>
          </c:spPr>
          <c:dPt>
            <c:idx val="0"/>
            <c:invertIfNegative val="0"/>
            <c:spPr>
              <a:solidFill xmlns:a="http://schemas.openxmlformats.org/drawingml/2006/main">
                <a:srgbClr val="0072B2"/>
              </a:solidFill>
            </c:spPr>
          </c:dPt>
          <c:dPt>
            <c:idx val="1"/>
            <c:invertIfNegative val="0"/>
            <c:spPr>
              <a:solidFill xmlns:a="http://schemas.openxmlformats.org/drawingml/2006/main">
                <a:srgbClr val="E69F00"/>
              </a:solidFill>
            </c:spPr>
          </c:dPt>
          <c:dPt>
            <c:idx val="2"/>
            <c:invertIfNegative val="0"/>
            <c:spPr>
              <a:solidFill xmlns:a="http://schemas.openxmlformats.org/drawingml/2006/main">
                <a:srgbClr val="009E73"/>
              </a:solidFill>
            </c:spPr>
          </c:dPt>
          <c:dPt>
            <c:idx val="3"/>
            <c:invertIfNegative val="0"/>
            <c:spPr>
              <a:solidFill xmlns:a="http://schemas.openxmlformats.org/drawingml/2006/main">
                <a:srgbClr val="4D4D4D"/>
              </a:solidFill>
            </c:spPr>
          </c:dPt>
          <c:cat>
            <c:strRef>
              <c:f>'Chart Data'!$A$2:$A$5</c:f>
              <c:strCache>
                <c:ptCount val="4"/>
                <c:pt idx="0">
                  <c:v>A1</c:v>
                </c:pt>
                <c:pt idx="1">
                  <c:v>A2 conditional</c:v>
                </c:pt>
                <c:pt idx="2">
                  <c:v>B</c:v>
                </c:pt>
                <c:pt idx="3">
                  <c:v>BP + Adam</c:v>
                </c:pt>
              </c:strCache>
            </c:strRef>
          </c:cat>
          <c:val>
            <c:numRef>
              <c:f>'Chart Data'!$B$2:$B$5</c:f>
              <c:numCache>
                <c:formatCode>0.000" MB"</c:formatCode>
                <c:ptCount val="4"/>
                <c:pt idx="0">
                  <c:v>7.089</c:v>
                </c:pt>
                <c:pt idx="1">
                  <c:v>0.106</c:v>
                </c:pt>
                <c:pt idx="2">
                  <c:v>10.677</c:v>
                </c:pt>
                <c:pt idx="3">
                  <c:v>14.488</c:v>
                </c:pt>
              </c:numCache>
            </c:numRef>
          </c:val>
        </c:ser>
        <c:dLbls>
          <c:txPr>
            <a:bodyPr xmlns:a="http://schemas.openxmlformats.org/drawingml/2006/main" anchorCtr="1"/>
            <a:lstStyle xmlns:a="http://schemas.openxmlformats.org/drawingml/2006/main"/>
            <a:p xmlns:a="http://schemas.openxmlformats.org/drawingml/2006/main">
              <a:pPr>
                <a:defRPr sz="975" b="1">
                  <a:solidFill>
                    <a:srgbClr val="17222F"/>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b="1">
                <a:solidFill>
                  <a:srgbClr val="17222F"/>
                </a:solidFill>
                <a:latin typeface="Arial"/>
                <a:ea typeface="Arial"/>
                <a:cs typeface="Arial"/>
              </a:defRPr>
            </a:pPr>
          </a:p>
        </c:txPr>
        <c:crossAx val="48650112"/>
        <c:crossBetween val="between"/>
      </c:valAx>
      <c:spPr>
        <a:ln xmlns:a="http://schemas.openxmlformats.org/drawingml/2006/main" w="0">
          <a:noFill/>
        </a:ln>
      </c:spPr>
    </c:plotArea>
    <c:plotVisOnly val="1"/>
  </c:chart>
  <c:spPr>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HB</c:v>
          </c:tx>
          <c:spPr>
            <a:solidFill xmlns:a="http://schemas.openxmlformats.org/drawingml/2006/main">
              <a:srgbClr val="0072B2"/>
            </a:solidFill>
          </c:spPr>
          <c:cat>
            <c:strRef>
              <c:f>'Chart Data'!$A$2:$A$3</c:f>
              <c:strCache>
                <c:ptCount val="2"/>
                <c:pt idx="0">
                  <c:v>20 epochs</c:v>
                </c:pt>
                <c:pt idx="1">
                  <c:v>100 epochs</c:v>
                </c:pt>
              </c:strCache>
            </c:strRef>
          </c:cat>
          <c:val>
            <c:numRef>
              <c:f>'Chart Data'!$B$2:$B$3</c:f>
              <c:numCache>
                <c:formatCode>0"%"</c:formatCode>
                <c:ptCount val="2"/>
                <c:pt idx="0">
                  <c:v>66</c:v>
                </c:pt>
                <c:pt idx="1">
                  <c:v>66</c:v>
                </c:pt>
              </c:numCache>
            </c:numRef>
          </c:val>
        </c:ser>
        <c:ser>
          <c:idx val="1"/>
          <c:order val="1"/>
          <c:tx>
            <c:v>BP</c:v>
          </c:tx>
          <c:spPr>
            <a:solidFill xmlns:a="http://schemas.openxmlformats.org/drawingml/2006/main">
              <a:srgbClr val="4D4D4D"/>
            </a:solidFill>
          </c:spPr>
          <c:cat>
            <c:strRef>
              <c:f>'Chart Data'!$C$2:$C$3</c:f>
              <c:strCache>
                <c:ptCount val="2"/>
                <c:pt idx="0">
                  <c:v>20 epochs</c:v>
                </c:pt>
                <c:pt idx="1">
                  <c:v>100 epochs</c:v>
                </c:pt>
              </c:strCache>
            </c:strRef>
          </c:cat>
          <c:val>
            <c:numRef>
              <c:f>'Chart Data'!$D$2:$D$3</c:f>
              <c:numCache>
                <c:formatCode>0"%"</c:formatCode>
                <c:ptCount val="2"/>
                <c:pt idx="0">
                  <c:v>57</c:v>
                </c:pt>
                <c:pt idx="1">
                  <c:v>70</c:v>
                </c:pt>
              </c:numCache>
            </c:numRef>
          </c:val>
        </c:ser>
        <c:dLbls>
          <c:txPr>
            <a:bodyPr xmlns:a="http://schemas.openxmlformats.org/drawingml/2006/main" anchorCtr="1"/>
            <a:lstStyle xmlns:a="http://schemas.openxmlformats.org/drawingml/2006/main"/>
            <a:p xmlns:a="http://schemas.openxmlformats.org/drawingml/2006/main">
              <a:pPr>
                <a:defRPr sz="1125" b="1">
                  <a:solidFill>
                    <a:srgbClr val="17222F"/>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0E5"/>
            </a:solidFill>
            <a:prstDash val="solid"/>
          </a:ln>
        </c:spPr>
        <c:txPr>
          <a:bodyPr xmlns:a="http://schemas.openxmlformats.org/drawingml/2006/main" anchorCtr="1"/>
          <a:lstStyle xmlns:a="http://schemas.openxmlformats.org/drawingml/2006/main"/>
          <a:p xmlns:a="http://schemas.openxmlformats.org/drawingml/2006/main">
            <a:pPr>
              <a:defRPr sz="975">
                <a:solidFill>
                  <a:srgbClr val="17222F"/>
                </a:solidFill>
                <a:latin typeface="Arial"/>
                <a:ea typeface="Arial"/>
                <a:cs typeface="Arial"/>
              </a:defRPr>
            </a:pPr>
          </a:p>
        </c:txPr>
        <c:crossAx val="48672768"/>
      </c:catAx>
      <c:valAx>
        <c:axId val="48672768"/>
        <c:scaling>
          <c:orientation val="minMax"/>
          <c:max val="75"/>
          <c:min val="0"/>
        </c:scaling>
        <c:delete val="0"/>
        <c:axPos val="l"/>
        <c:majorGridlines>
          <c:spPr>
            <a:ln xmlns:a="http://schemas.openxmlformats.org/drawingml/2006/main" w="9525">
              <a:solidFill>
                <a:srgbClr val="D9E0E5"/>
              </a:solidFill>
              <a:prstDash val="solid"/>
            </a:ln>
          </c:spPr>
        </c:majorGridlines>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272"/>
                </a:solidFill>
                <a:latin typeface="Arial"/>
                <a:ea typeface="Arial"/>
                <a:cs typeface="Arial"/>
              </a:defRPr>
            </a:pPr>
          </a:p>
        </c:txPr>
        <c:crossAx val="48650112"/>
        <c:crossBetween val="between"/>
        <c:majorUnit val="15"/>
      </c:valAx>
      <c:spPr>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17222F"/>
              </a:solidFill>
              <a:latin typeface="Arial"/>
              <a:ea typeface="Arial"/>
              <a:cs typeface="Arial"/>
            </a:defRPr>
          </a:pPr>
        </a:p>
      </c:txPr>
    </c:legend>
    <c:plotVisOnly val="1"/>
  </c:chart>
  <c:spPr>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222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D04FFAC-DD48-4BA9-B5A8-A12268B42BD1}"/>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0072B2"/>
          </a:solidFill>
          <a:ln xmlns:a="http://schemas.openxmlformats.org/drawingml/2006/main" w="9525">
            <a:solidFill>
              <a:srgbClr val="0072B2"/>
            </a:solidFill>
            <a:prstDash val="solid"/>
          </a:ln>
        </p:spPr>
      </p:sp>
      <p:sp>
        <p:nvSpPr>
          <p:cNvPr id="2" name="">
            <a:extLst xmlns:a="http://schemas.openxmlformats.org/drawingml/2006/main">
              <a:ext uri="{FF2B5EF4-FFF2-40B4-BE49-F238E27FC236}">
                <a16:creationId xmlns:a16="http://schemas.microsoft.com/office/drawing/2014/main" id="{2F4E5521-0863-4D69-8459-E7719448D6C4}"/>
              </a:ext>
            </a:extLst>
          </p:cNvPr>
          <p:cNvSpPr>
            <a:spLocks xmlns:a="http://schemas.openxmlformats.org/drawingml/2006/main" noGrp="1"/>
          </p:cNvSpPr>
          <p:nvPr/>
        </p:nvSpPr>
        <p:spPr>
          <a:xfrm xmlns:a="http://schemas.openxmlformats.org/drawingml/2006/main">
            <a:off x="781050" y="914400"/>
            <a:ext cx="7239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600" b="1">
                <a:solidFill>
                  <a:srgbClr val="FFFFFF"/>
                </a:solidFill>
                <a:latin typeface="Arial"/>
                <a:ea typeface="Arial"/>
                <a:cs typeface="Arial"/>
              </a:defRPr>
            </a:pPr>
            <a:r>
              <a:rPr sz="3600" b="1">
                <a:solidFill>
                  <a:srgbClr val="FFFFFF"/>
                </a:solidFill>
                <a:latin typeface="Arial"/>
                <a:ea typeface="Arial"/>
                <a:cs typeface="Arial"/>
              </a:rPr>
              <a:t>Hebbian CNNs versus</a:t>
            </a:r>
          </a:p>
          <a:p xmlns:a="http://schemas.openxmlformats.org/drawingml/2006/main">
            <a:pPr algn="l">
              <a:defRPr sz="3600" b="1">
                <a:solidFill>
                  <a:srgbClr val="FFFFFF"/>
                </a:solidFill>
                <a:latin typeface="Arial"/>
                <a:ea typeface="Arial"/>
                <a:cs typeface="Arial"/>
              </a:defRPr>
            </a:pPr>
            <a:r>
              <a:rPr sz="3600" b="1">
                <a:solidFill>
                  <a:srgbClr val="FFFFFF"/>
                </a:solidFill>
                <a:latin typeface="Arial"/>
                <a:ea typeface="Arial"/>
                <a:cs typeface="Arial"/>
              </a:rPr>
              <a:t>backpropagation</a:t>
            </a:r>
          </a:p>
        </p:txBody>
      </p:sp>
      <p:sp>
        <p:nvSpPr>
          <p:cNvPr id="3" name="">
            <a:extLst xmlns:a="http://schemas.openxmlformats.org/drawingml/2006/main">
              <a:ext uri="{FF2B5EF4-FFF2-40B4-BE49-F238E27FC236}">
                <a16:creationId xmlns:a16="http://schemas.microsoft.com/office/drawing/2014/main" id="{5067A6E7-FE27-4A01-8641-34FCBE5C0A19}"/>
              </a:ext>
            </a:extLst>
          </p:cNvPr>
          <p:cNvSpPr>
            <a:spLocks xmlns:a="http://schemas.openxmlformats.org/drawingml/2006/main" noGrp="1"/>
          </p:cNvSpPr>
          <p:nvPr/>
        </p:nvSpPr>
        <p:spPr>
          <a:xfrm xmlns:a="http://schemas.openxmlformats.org/drawingml/2006/main">
            <a:off x="819150" y="2867025"/>
            <a:ext cx="6715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C6D0D8"/>
                </a:solidFill>
                <a:latin typeface="Arial"/>
                <a:ea typeface="Arial"/>
                <a:cs typeface="Arial"/>
              </a:defRPr>
            </a:pPr>
            <a:r>
              <a:rPr sz="1800" b="0">
                <a:solidFill>
                  <a:srgbClr val="C6D0D8"/>
                </a:solidFill>
                <a:latin typeface="Arial"/>
                <a:ea typeface="Arial"/>
                <a:cs typeface="Arial"/>
              </a:rPr>
              <a:t>A hardware-independent compute and memory comparison</a:t>
            </a:r>
          </a:p>
        </p:txBody>
      </p:sp>
      <p:sp>
        <p:nvSpPr>
          <p:cNvPr id="4" name="">
            <a:extLst xmlns:a="http://schemas.openxmlformats.org/drawingml/2006/main">
              <a:ext uri="{FF2B5EF4-FFF2-40B4-BE49-F238E27FC236}">
                <a16:creationId xmlns:a16="http://schemas.microsoft.com/office/drawing/2014/main" id="{DE927CF9-CA54-4F73-9947-C671316C08E9}"/>
              </a:ext>
            </a:extLst>
          </p:cNvPr>
          <p:cNvSpPr>
            <a:spLocks xmlns:a="http://schemas.openxmlformats.org/drawingml/2006/main" noGrp="1"/>
          </p:cNvSpPr>
          <p:nvPr/>
        </p:nvSpPr>
        <p:spPr>
          <a:xfrm xmlns:a="http://schemas.openxmlformats.org/drawingml/2006/main">
            <a:off x="8496300" y="1438275"/>
            <a:ext cx="2476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700" b="1">
                <a:solidFill>
                  <a:srgbClr val="0072B2"/>
                </a:solidFill>
                <a:latin typeface="Arial"/>
                <a:ea typeface="Arial"/>
                <a:cs typeface="Arial"/>
              </a:defRPr>
            </a:pPr>
            <a:r>
              <a:rPr sz="2700" b="1">
                <a:solidFill>
                  <a:srgbClr val="0072B2"/>
                </a:solidFill>
                <a:latin typeface="Arial"/>
                <a:ea typeface="Arial"/>
                <a:cs typeface="Arial"/>
              </a:rPr>
              <a:t>local  Δw</a:t>
            </a:r>
          </a:p>
        </p:txBody>
      </p:sp>
      <p:sp>
        <p:nvSpPr>
          <p:cNvPr id="5" name="">
            <a:extLst xmlns:a="http://schemas.openxmlformats.org/drawingml/2006/main">
              <a:ext uri="{FF2B5EF4-FFF2-40B4-BE49-F238E27FC236}">
                <a16:creationId xmlns:a16="http://schemas.microsoft.com/office/drawing/2014/main" id="{F86BAD62-84C1-435C-9D1F-BA2D4F61F9AB}"/>
              </a:ext>
            </a:extLst>
          </p:cNvPr>
          <p:cNvSpPr>
            <a:spLocks xmlns:a="http://schemas.openxmlformats.org/drawingml/2006/main" noGrp="1"/>
          </p:cNvSpPr>
          <p:nvPr/>
        </p:nvSpPr>
        <p:spPr>
          <a:xfrm xmlns:a="http://schemas.openxmlformats.org/drawingml/2006/main">
            <a:off x="8953500" y="2266950"/>
            <a:ext cx="1571625" cy="9525"/>
          </a:xfrm>
          <a:prstGeom xmlns:a="http://schemas.openxmlformats.org/drawingml/2006/main" prst="line">
            <a:avLst/>
          </a:prstGeom>
          <a:noFill xmlns:a="http://schemas.openxmlformats.org/drawingml/2006/main"/>
          <a:ln xmlns:a="http://schemas.openxmlformats.org/drawingml/2006/main" w="19050">
            <a:solidFill>
              <a:srgbClr val="40505F"/>
            </a:solidFill>
            <a:prstDash val="solid"/>
          </a:ln>
        </p:spPr>
      </p:sp>
      <p:sp>
        <p:nvSpPr>
          <p:cNvPr id="6" name="">
            <a:extLst xmlns:a="http://schemas.openxmlformats.org/drawingml/2006/main">
              <a:ext uri="{FF2B5EF4-FFF2-40B4-BE49-F238E27FC236}">
                <a16:creationId xmlns:a16="http://schemas.microsoft.com/office/drawing/2014/main" id="{62767721-0C83-4CF3-9BFD-78D7A24512EC}"/>
              </a:ext>
            </a:extLst>
          </p:cNvPr>
          <p:cNvSpPr>
            <a:spLocks xmlns:a="http://schemas.openxmlformats.org/drawingml/2006/main" noGrp="1"/>
          </p:cNvSpPr>
          <p:nvPr/>
        </p:nvSpPr>
        <p:spPr>
          <a:xfrm xmlns:a="http://schemas.openxmlformats.org/drawingml/2006/main">
            <a:off x="8496300" y="2524125"/>
            <a:ext cx="2476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700" b="1">
                <a:solidFill>
                  <a:srgbClr val="C6D0D8"/>
                </a:solidFill>
                <a:latin typeface="Arial"/>
                <a:ea typeface="Arial"/>
                <a:cs typeface="Arial"/>
              </a:defRPr>
            </a:pPr>
            <a:r>
              <a:rPr sz="2700" b="1">
                <a:solidFill>
                  <a:srgbClr val="C6D0D8"/>
                </a:solidFill>
                <a:latin typeface="Arial"/>
                <a:ea typeface="Arial"/>
                <a:cs typeface="Arial"/>
              </a:rPr>
              <a:t>global  ∇L</a:t>
            </a:r>
          </a:p>
        </p:txBody>
      </p:sp>
      <p:sp>
        <p:nvSpPr>
          <p:cNvPr id="7" name="">
            <a:extLst xmlns:a="http://schemas.openxmlformats.org/drawingml/2006/main">
              <a:ext uri="{FF2B5EF4-FFF2-40B4-BE49-F238E27FC236}">
                <a16:creationId xmlns:a16="http://schemas.microsoft.com/office/drawing/2014/main" id="{6DCC2C84-9293-474B-84FB-C2825ED39BB4}"/>
              </a:ext>
            </a:extLst>
          </p:cNvPr>
          <p:cNvSpPr>
            <a:spLocks xmlns:a="http://schemas.openxmlformats.org/drawingml/2006/main" noGrp="1"/>
          </p:cNvSpPr>
          <p:nvPr/>
        </p:nvSpPr>
        <p:spPr>
          <a:xfrm xmlns:a="http://schemas.openxmlformats.org/drawingml/2006/main">
            <a:off x="819150" y="4857750"/>
            <a:ext cx="5334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400" b="1">
                <a:solidFill>
                  <a:srgbClr val="FFFFFF"/>
                </a:solidFill>
                <a:latin typeface="Arial"/>
                <a:ea typeface="Arial"/>
                <a:cs typeface="Arial"/>
              </a:defRPr>
            </a:pPr>
            <a:r>
              <a:rPr sz="2400" b="1">
                <a:solidFill>
                  <a:srgbClr val="FFFFFF"/>
                </a:solidFill>
                <a:latin typeface="Arial"/>
                <a:ea typeface="Arial"/>
                <a:cs typeface="Arial"/>
              </a:rPr>
              <a:t>Bayan &amp; Shay</a:t>
            </a:r>
          </a:p>
        </p:txBody>
      </p:sp>
      <p:sp>
        <p:nvSpPr>
          <p:cNvPr id="8" name="">
            <a:extLst xmlns:a="http://schemas.openxmlformats.org/drawingml/2006/main">
              <a:ext uri="{FF2B5EF4-FFF2-40B4-BE49-F238E27FC236}">
                <a16:creationId xmlns:a16="http://schemas.microsoft.com/office/drawing/2014/main" id="{F76D676D-9444-4D7B-B6B3-F2DA79BAC7D1}"/>
              </a:ext>
            </a:extLst>
          </p:cNvPr>
          <p:cNvSpPr>
            <a:spLocks xmlns:a="http://schemas.openxmlformats.org/drawingml/2006/main" noGrp="1"/>
          </p:cNvSpPr>
          <p:nvPr/>
        </p:nvSpPr>
        <p:spPr>
          <a:xfrm xmlns:a="http://schemas.openxmlformats.org/drawingml/2006/main">
            <a:off x="838200" y="5476875"/>
            <a:ext cx="533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a:solidFill>
                  <a:srgbClr val="C6D0D8"/>
                </a:solidFill>
                <a:latin typeface="Arial"/>
                <a:ea typeface="Arial"/>
                <a:cs typeface="Arial"/>
              </a:defRPr>
            </a:pPr>
            <a:r>
              <a:rPr sz="1425" b="0">
                <a:solidFill>
                  <a:srgbClr val="C6D0D8"/>
                </a:solidFill>
                <a:latin typeface="Arial"/>
                <a:ea typeface="Arial"/>
                <a:cs typeface="Arial"/>
              </a:rPr>
              <a:t>CIFAR-10 · HebbianCNNPyTorch</a:t>
            </a:r>
          </a:p>
        </p:txBody>
      </p:sp>
      <p:sp>
        <p:nvSpPr>
          <p:cNvPr id="9" name="">
            <a:extLst xmlns:a="http://schemas.openxmlformats.org/drawingml/2006/main">
              <a:ext uri="{FF2B5EF4-FFF2-40B4-BE49-F238E27FC236}">
                <a16:creationId xmlns:a16="http://schemas.microsoft.com/office/drawing/2014/main" id="{232B3E5A-8536-442A-AA5C-3057EE6998B2}"/>
              </a:ext>
            </a:extLst>
          </p:cNvPr>
          <p:cNvSpPr>
            <a:spLocks xmlns:a="http://schemas.openxmlformats.org/drawingml/2006/main" noGrp="1"/>
          </p:cNvSpPr>
          <p:nvPr/>
        </p:nvSpPr>
        <p:spPr>
          <a:xfrm xmlns:a="http://schemas.openxmlformats.org/drawingml/2006/main">
            <a:off x="819150" y="6115050"/>
            <a:ext cx="10382250" cy="9525"/>
          </a:xfrm>
          <a:prstGeom xmlns:a="http://schemas.openxmlformats.org/drawingml/2006/main" prst="line">
            <a:avLst/>
          </a:prstGeom>
          <a:noFill xmlns:a="http://schemas.openxmlformats.org/drawingml/2006/main"/>
          <a:ln xmlns:a="http://schemas.openxmlformats.org/drawingml/2006/main" w="9525">
            <a:solidFill>
              <a:srgbClr val="40505F"/>
            </a:solidFill>
            <a:prstDash val="solid"/>
          </a:ln>
        </p:spPr>
      </p:sp>
    </p:spTree>
    <p:extLst>
      <p:ext uri="{BB962C8B-B14F-4D97-AF65-F5344CB8AC3E}">
        <p14:creationId xmlns:p14="http://schemas.microsoft.com/office/powerpoint/2010/main" val="72830099"/>
      </p:ext>
    </p:extLst>
  </p:cSld>
</p:sld>
</file>

<file path=ppt/slides/slide2.xml><?xml version="1.0" encoding="utf-8"?>
<p:sld xmlns:p="http://schemas.openxmlformats.org/presentationml/2006/main">
  <p:cSld>
    <p:bg>
      <p:bgPr>
        <a:solidFill xmlns:a="http://schemas.openxmlformats.org/drawingml/2006/main">
          <a:srgbClr val="F7F8F4"/>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E690D53-8DFB-4E40-BE8A-8B06D3247F35}"/>
              </a:ext>
            </a:extLst>
          </p:cNvPr>
          <p:cNvSpPr>
            <a:spLocks xmlns:a="http://schemas.openxmlformats.org/drawingml/2006/main" noGrp="1"/>
          </p:cNvSpPr>
          <p:nvPr/>
        </p:nvSpPr>
        <p:spPr>
          <a:xfrm xmlns:a="http://schemas.openxmlformats.org/drawingml/2006/main">
            <a:off x="609600" y="333375"/>
            <a:ext cx="9715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17222F"/>
                </a:solidFill>
                <a:latin typeface="Arial"/>
                <a:ea typeface="Arial"/>
                <a:cs typeface="Arial"/>
              </a:defRPr>
            </a:pPr>
            <a:r>
              <a:rPr sz="2550" b="1">
                <a:solidFill>
                  <a:srgbClr val="17222F"/>
                </a:solidFill>
                <a:latin typeface="Arial"/>
                <a:ea typeface="Arial"/>
                <a:cs typeface="Arial"/>
              </a:rPr>
              <a:t>Research question and evidence</a:t>
            </a:r>
          </a:p>
        </p:txBody>
      </p:sp>
      <p:sp>
        <p:nvSpPr>
          <p:cNvPr id="2" name="">
            <a:extLst xmlns:a="http://schemas.openxmlformats.org/drawingml/2006/main">
              <a:ext uri="{FF2B5EF4-FFF2-40B4-BE49-F238E27FC236}">
                <a16:creationId xmlns:a16="http://schemas.microsoft.com/office/drawing/2014/main" id="{DECB9CA6-57C1-42B6-9F94-13EDF364E4BA}"/>
              </a:ext>
            </a:extLst>
          </p:cNvPr>
          <p:cNvSpPr>
            <a:spLocks xmlns:a="http://schemas.openxmlformats.org/drawingml/2006/main" noGrp="1"/>
          </p:cNvSpPr>
          <p:nvPr/>
        </p:nvSpPr>
        <p:spPr>
          <a:xfrm xmlns:a="http://schemas.openxmlformats.org/drawingml/2006/main">
            <a:off x="609600" y="942975"/>
            <a:ext cx="10972800" cy="9525"/>
          </a:xfrm>
          <a:prstGeom xmlns:a="http://schemas.openxmlformats.org/drawingml/2006/main" prst="line">
            <a:avLst/>
          </a:prstGeom>
          <a:noFill xmlns:a="http://schemas.openxmlformats.org/drawingml/2006/main"/>
          <a:ln xmlns:a="http://schemas.openxmlformats.org/drawingml/2006/main" w="9525">
            <a:solidFill>
              <a:srgbClr val="D9E0E5"/>
            </a:solidFill>
            <a:prstDash val="solid"/>
          </a:ln>
        </p:spPr>
      </p:sp>
      <p:sp>
        <p:nvSpPr>
          <p:cNvPr id="3" name="">
            <a:extLst xmlns:a="http://schemas.openxmlformats.org/drawingml/2006/main">
              <a:ext uri="{FF2B5EF4-FFF2-40B4-BE49-F238E27FC236}">
                <a16:creationId xmlns:a16="http://schemas.microsoft.com/office/drawing/2014/main" id="{06851ED9-3A30-496A-B6E3-8ABA17599247}"/>
              </a:ext>
            </a:extLst>
          </p:cNvPr>
          <p:cNvSpPr>
            <a:spLocks xmlns:a="http://schemas.openxmlformats.org/drawingml/2006/main" noGrp="1"/>
          </p:cNvSpPr>
          <p:nvPr/>
        </p:nvSpPr>
        <p:spPr>
          <a:xfrm xmlns:a="http://schemas.openxmlformats.org/drawingml/2006/main">
            <a:off x="11144250" y="381000"/>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526272"/>
                </a:solidFill>
                <a:latin typeface="Arial"/>
                <a:ea typeface="Arial"/>
                <a:cs typeface="Arial"/>
              </a:defRPr>
            </a:pPr>
            <a:r>
              <a:rPr sz="1125" b="1">
                <a:solidFill>
                  <a:srgbClr val="526272"/>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E0C89984-FF86-40FD-8F28-0B2EC613E804}"/>
              </a:ext>
            </a:extLst>
          </p:cNvPr>
          <p:cNvSpPr>
            <a:spLocks xmlns:a="http://schemas.openxmlformats.org/drawingml/2006/main" noGrp="1"/>
          </p:cNvSpPr>
          <p:nvPr/>
        </p:nvSpPr>
        <p:spPr>
          <a:xfrm xmlns:a="http://schemas.openxmlformats.org/drawingml/2006/main">
            <a:off x="1066800" y="1257300"/>
            <a:ext cx="361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875" b="1">
                <a:solidFill>
                  <a:srgbClr val="4D4D4D"/>
                </a:solidFill>
                <a:latin typeface="Arial"/>
                <a:ea typeface="Arial"/>
                <a:cs typeface="Arial"/>
              </a:defRPr>
            </a:pPr>
            <a:r>
              <a:rPr sz="1875" b="1">
                <a:solidFill>
                  <a:srgbClr val="4D4D4D"/>
                </a:solidFill>
                <a:latin typeface="Arial"/>
                <a:ea typeface="Arial"/>
                <a:cs typeface="Arial"/>
              </a:rPr>
              <a:t>Backpropagation</a:t>
            </a:r>
          </a:p>
        </p:txBody>
      </p:sp>
      <p:sp>
        <p:nvSpPr>
          <p:cNvPr id="5" name="">
            <a:extLst xmlns:a="http://schemas.openxmlformats.org/drawingml/2006/main">
              <a:ext uri="{FF2B5EF4-FFF2-40B4-BE49-F238E27FC236}">
                <a16:creationId xmlns:a16="http://schemas.microsoft.com/office/drawing/2014/main" id="{1187924B-08EA-4BF5-9B4C-40574C185D2F}"/>
              </a:ext>
            </a:extLst>
          </p:cNvPr>
          <p:cNvSpPr>
            <a:spLocks xmlns:a="http://schemas.openxmlformats.org/drawingml/2006/main" noGrp="1"/>
          </p:cNvSpPr>
          <p:nvPr/>
        </p:nvSpPr>
        <p:spPr>
          <a:xfrm xmlns:a="http://schemas.openxmlformats.org/drawingml/2006/main">
            <a:off x="914400" y="1914525"/>
            <a:ext cx="1066800" cy="685800"/>
          </a:xfrm>
          <a:prstGeom xmlns:a="http://schemas.openxmlformats.org/drawingml/2006/main" prst="roundRect">
            <a:avLst>
              <a:gd name="adj" fmla="val 19444"/>
            </a:avLst>
          </a:prstGeom>
          <a:solidFill xmlns:a="http://schemas.openxmlformats.org/drawingml/2006/main">
            <a:srgbClr val="E6E6E6"/>
          </a:solidFill>
          <a:ln xmlns:a="http://schemas.openxmlformats.org/drawingml/2006/main" w="9525">
            <a:solidFill>
              <a:srgbClr val="4D4D4D"/>
            </a:solidFill>
            <a:prstDash val="solid"/>
          </a:ln>
        </p:spPr>
      </p:sp>
      <p:sp>
        <p:nvSpPr>
          <p:cNvPr id="6" name="">
            <a:extLst xmlns:a="http://schemas.openxmlformats.org/drawingml/2006/main">
              <a:ext uri="{FF2B5EF4-FFF2-40B4-BE49-F238E27FC236}">
                <a16:creationId xmlns:a16="http://schemas.microsoft.com/office/drawing/2014/main" id="{660891D6-6441-40FD-A2F2-156FE4E4C835}"/>
              </a:ext>
            </a:extLst>
          </p:cNvPr>
          <p:cNvSpPr>
            <a:spLocks xmlns:a="http://schemas.openxmlformats.org/drawingml/2006/main" noGrp="1"/>
          </p:cNvSpPr>
          <p:nvPr/>
        </p:nvSpPr>
        <p:spPr>
          <a:xfrm xmlns:a="http://schemas.openxmlformats.org/drawingml/2006/main">
            <a:off x="2362200" y="1914525"/>
            <a:ext cx="1066800" cy="685800"/>
          </a:xfrm>
          <a:prstGeom xmlns:a="http://schemas.openxmlformats.org/drawingml/2006/main" prst="roundRect">
            <a:avLst>
              <a:gd name="adj" fmla="val 19444"/>
            </a:avLst>
          </a:prstGeom>
          <a:solidFill xmlns:a="http://schemas.openxmlformats.org/drawingml/2006/main">
            <a:srgbClr val="E6E6E6"/>
          </a:solidFill>
          <a:ln xmlns:a="http://schemas.openxmlformats.org/drawingml/2006/main" w="9525">
            <a:solidFill>
              <a:srgbClr val="4D4D4D"/>
            </a:solidFill>
            <a:prstDash val="solid"/>
          </a:ln>
        </p:spPr>
      </p:sp>
      <p:sp>
        <p:nvSpPr>
          <p:cNvPr id="7" name="">
            <a:extLst xmlns:a="http://schemas.openxmlformats.org/drawingml/2006/main">
              <a:ext uri="{FF2B5EF4-FFF2-40B4-BE49-F238E27FC236}">
                <a16:creationId xmlns:a16="http://schemas.microsoft.com/office/drawing/2014/main" id="{01B68E76-2360-4630-908B-D8F08D3BAFA1}"/>
              </a:ext>
            </a:extLst>
          </p:cNvPr>
          <p:cNvSpPr>
            <a:spLocks xmlns:a="http://schemas.openxmlformats.org/drawingml/2006/main" noGrp="1"/>
          </p:cNvSpPr>
          <p:nvPr/>
        </p:nvSpPr>
        <p:spPr>
          <a:xfrm xmlns:a="http://schemas.openxmlformats.org/drawingml/2006/main">
            <a:off x="3810000" y="1914525"/>
            <a:ext cx="1066800" cy="685800"/>
          </a:xfrm>
          <a:prstGeom xmlns:a="http://schemas.openxmlformats.org/drawingml/2006/main" prst="roundRect">
            <a:avLst>
              <a:gd name="adj" fmla="val 19444"/>
            </a:avLst>
          </a:prstGeom>
          <a:solidFill xmlns:a="http://schemas.openxmlformats.org/drawingml/2006/main">
            <a:srgbClr val="F7E5E5"/>
          </a:solidFill>
          <a:ln xmlns:a="http://schemas.openxmlformats.org/drawingml/2006/main" w="9525">
            <a:solidFill>
              <a:srgbClr val="A33A3A"/>
            </a:solidFill>
            <a:prstDash val="solid"/>
          </a:ln>
        </p:spPr>
      </p:sp>
      <p:sp>
        <p:nvSpPr>
          <p:cNvPr id="8" name="">
            <a:extLst xmlns:a="http://schemas.openxmlformats.org/drawingml/2006/main">
              <a:ext uri="{FF2B5EF4-FFF2-40B4-BE49-F238E27FC236}">
                <a16:creationId xmlns:a16="http://schemas.microsoft.com/office/drawing/2014/main" id="{D8212F9D-5D88-4E2E-9C16-1198CD5F15C0}"/>
              </a:ext>
            </a:extLst>
          </p:cNvPr>
          <p:cNvSpPr>
            <a:spLocks xmlns:a="http://schemas.openxmlformats.org/drawingml/2006/main" noGrp="1"/>
          </p:cNvSpPr>
          <p:nvPr/>
        </p:nvSpPr>
        <p:spPr>
          <a:xfrm xmlns:a="http://schemas.openxmlformats.org/drawingml/2006/main">
            <a:off x="1019175" y="2085975"/>
            <a:ext cx="857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a:solidFill>
                  <a:srgbClr val="17222F"/>
                </a:solidFill>
                <a:latin typeface="Arial"/>
                <a:ea typeface="Arial"/>
                <a:cs typeface="Arial"/>
              </a:defRPr>
            </a:pPr>
            <a:r>
              <a:rPr sz="1500" b="1">
                <a:solidFill>
                  <a:srgbClr val="17222F"/>
                </a:solidFill>
                <a:latin typeface="Arial"/>
                <a:ea typeface="Arial"/>
                <a:cs typeface="Arial"/>
              </a:rPr>
              <a:t>layers</a:t>
            </a:r>
          </a:p>
        </p:txBody>
      </p:sp>
      <p:sp>
        <p:nvSpPr>
          <p:cNvPr id="9" name="">
            <a:extLst xmlns:a="http://schemas.openxmlformats.org/drawingml/2006/main">
              <a:ext uri="{FF2B5EF4-FFF2-40B4-BE49-F238E27FC236}">
                <a16:creationId xmlns:a16="http://schemas.microsoft.com/office/drawing/2014/main" id="{479E08BD-DAA1-4355-B28B-9D3A5EE105F0}"/>
              </a:ext>
            </a:extLst>
          </p:cNvPr>
          <p:cNvSpPr>
            <a:spLocks xmlns:a="http://schemas.openxmlformats.org/drawingml/2006/main" noGrp="1"/>
          </p:cNvSpPr>
          <p:nvPr/>
        </p:nvSpPr>
        <p:spPr>
          <a:xfrm xmlns:a="http://schemas.openxmlformats.org/drawingml/2006/main">
            <a:off x="2466975" y="2085975"/>
            <a:ext cx="857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a:solidFill>
                  <a:srgbClr val="17222F"/>
                </a:solidFill>
                <a:latin typeface="Arial"/>
                <a:ea typeface="Arial"/>
                <a:cs typeface="Arial"/>
              </a:defRPr>
            </a:pPr>
            <a:r>
              <a:rPr sz="1500" b="1">
                <a:solidFill>
                  <a:srgbClr val="17222F"/>
                </a:solidFill>
                <a:latin typeface="Arial"/>
                <a:ea typeface="Arial"/>
                <a:cs typeface="Arial"/>
              </a:rPr>
              <a:t>loss</a:t>
            </a:r>
          </a:p>
        </p:txBody>
      </p:sp>
      <p:sp>
        <p:nvSpPr>
          <p:cNvPr id="10" name="">
            <a:extLst xmlns:a="http://schemas.openxmlformats.org/drawingml/2006/main">
              <a:ext uri="{FF2B5EF4-FFF2-40B4-BE49-F238E27FC236}">
                <a16:creationId xmlns:a16="http://schemas.microsoft.com/office/drawing/2014/main" id="{BF059A97-C554-4A6F-9054-746D26CA3190}"/>
              </a:ext>
            </a:extLst>
          </p:cNvPr>
          <p:cNvSpPr>
            <a:spLocks xmlns:a="http://schemas.openxmlformats.org/drawingml/2006/main" noGrp="1"/>
          </p:cNvSpPr>
          <p:nvPr/>
        </p:nvSpPr>
        <p:spPr>
          <a:xfrm xmlns:a="http://schemas.openxmlformats.org/drawingml/2006/main">
            <a:off x="3914775" y="2085975"/>
            <a:ext cx="857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537"/>
          </a:bodyPr>
          <a:lstStyle xmlns:a="http://schemas.openxmlformats.org/drawingml/2006/main"/>
          <a:p xmlns:a="http://schemas.openxmlformats.org/drawingml/2006/main">
            <a:pPr algn="ctr">
              <a:defRPr sz="1500" b="1">
                <a:solidFill>
                  <a:srgbClr val="A33A3A"/>
                </a:solidFill>
                <a:latin typeface="Arial"/>
                <a:ea typeface="Arial"/>
                <a:cs typeface="Arial"/>
              </a:defRPr>
            </a:pPr>
            <a:r>
              <a:rPr sz="1500" b="1">
                <a:solidFill>
                  <a:srgbClr val="A33A3A"/>
                </a:solidFill>
                <a:latin typeface="Arial"/>
                <a:ea typeface="Arial"/>
                <a:cs typeface="Arial"/>
              </a:rPr>
              <a:t>backward</a:t>
            </a:r>
          </a:p>
        </p:txBody>
      </p:sp>
      <p:cxnSp>
        <p:nvCxnSpPr>
          <p:cNvPr id="43" name=""/>
          <p:cNvCxnSpPr>
            <a:stCxn xmlns:a="http://schemas.openxmlformats.org/drawingml/2006/main" id="5" idx="3"/>
            <a:endCxn xmlns:a="http://schemas.openxmlformats.org/drawingml/2006/main" id="6" idx="1"/>
          </p:cNvCxnSpPr>
          <p:nvPr/>
        </p:nvCxnSpPr>
        <p:spPr>
          <a:xfrm xmlns:a="http://schemas.openxmlformats.org/drawingml/2006/main">
            <a:off x="1981200" y="2257425"/>
            <a:ext cx="381000" cy="0"/>
          </a:xfrm>
          <a:prstGeom xmlns:a="http://schemas.openxmlformats.org/drawingml/2006/main" prst="straightConnector1">
            <a:avLst/>
          </a:prstGeom>
          <a:ln xmlns:a="http://schemas.openxmlformats.org/drawingml/2006/main" w="19050">
            <a:solidFill>
              <a:srgbClr val="4D4D4D"/>
            </a:solidFill>
            <a:prstDash val="solid"/>
            <a:headEnd type="triangle" w="sm" len="sm"/>
          </a:ln>
        </p:spPr>
      </p:cxnSp>
      <p:cxnSp>
        <p:nvCxnSpPr>
          <p:cNvPr id="44" name=""/>
          <p:cNvCxnSpPr>
            <a:stCxn xmlns:a="http://schemas.openxmlformats.org/drawingml/2006/main" id="6" idx="3"/>
            <a:endCxn xmlns:a="http://schemas.openxmlformats.org/drawingml/2006/main" id="7" idx="1"/>
          </p:cNvCxnSpPr>
          <p:nvPr/>
        </p:nvCxnSpPr>
        <p:spPr>
          <a:xfrm xmlns:a="http://schemas.openxmlformats.org/drawingml/2006/main">
            <a:off x="3429000" y="2257425"/>
            <a:ext cx="381000" cy="0"/>
          </a:xfrm>
          <a:prstGeom xmlns:a="http://schemas.openxmlformats.org/drawingml/2006/main" prst="straightConnector1">
            <a:avLst/>
          </a:prstGeom>
          <a:ln xmlns:a="http://schemas.openxmlformats.org/drawingml/2006/main" w="19050">
            <a:solidFill>
              <a:srgbClr val="4D4D4D"/>
            </a:solidFill>
            <a:prstDash val="solid"/>
            <a:headEnd type="triangle" w="sm" len="sm"/>
          </a:ln>
        </p:spPr>
      </p:cxnSp>
      <p:sp>
        <p:nvSpPr>
          <p:cNvPr id="13" name="">
            <a:extLst xmlns:a="http://schemas.openxmlformats.org/drawingml/2006/main">
              <a:ext uri="{FF2B5EF4-FFF2-40B4-BE49-F238E27FC236}">
                <a16:creationId xmlns:a16="http://schemas.microsoft.com/office/drawing/2014/main" id="{05BC8957-F137-42F0-A446-1BE79A799E8F}"/>
              </a:ext>
            </a:extLst>
          </p:cNvPr>
          <p:cNvSpPr>
            <a:spLocks xmlns:a="http://schemas.openxmlformats.org/drawingml/2006/main" noGrp="1"/>
          </p:cNvSpPr>
          <p:nvPr/>
        </p:nvSpPr>
        <p:spPr>
          <a:xfrm xmlns:a="http://schemas.openxmlformats.org/drawingml/2006/main">
            <a:off x="981075" y="2876550"/>
            <a:ext cx="3905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350" b="0">
                <a:solidFill>
                  <a:srgbClr val="526272"/>
                </a:solidFill>
                <a:latin typeface="Arial"/>
                <a:ea typeface="Arial"/>
                <a:cs typeface="Arial"/>
              </a:defRPr>
            </a:pPr>
            <a:r>
              <a:rPr sz="1350" b="0">
                <a:solidFill>
                  <a:srgbClr val="526272"/>
                </a:solidFill>
                <a:latin typeface="Arial"/>
                <a:ea typeface="Arial"/>
                <a:cs typeface="Arial"/>
              </a:rPr>
              <a:t>Global derivatives, gradients, optimizer state</a:t>
            </a:r>
          </a:p>
        </p:txBody>
      </p:sp>
      <p:sp>
        <p:nvSpPr>
          <p:cNvPr id="14" name="">
            <a:extLst xmlns:a="http://schemas.openxmlformats.org/drawingml/2006/main">
              <a:ext uri="{FF2B5EF4-FFF2-40B4-BE49-F238E27FC236}">
                <a16:creationId xmlns:a16="http://schemas.microsoft.com/office/drawing/2014/main" id="{25634208-F368-4DFB-BD39-AA0F6FB30CD7}"/>
              </a:ext>
            </a:extLst>
          </p:cNvPr>
          <p:cNvSpPr>
            <a:spLocks xmlns:a="http://schemas.openxmlformats.org/drawingml/2006/main" noGrp="1"/>
          </p:cNvSpPr>
          <p:nvPr/>
        </p:nvSpPr>
        <p:spPr>
          <a:xfrm xmlns:a="http://schemas.openxmlformats.org/drawingml/2006/main">
            <a:off x="7096125" y="1257300"/>
            <a:ext cx="361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875" b="1">
                <a:solidFill>
                  <a:srgbClr val="0072B2"/>
                </a:solidFill>
                <a:latin typeface="Arial"/>
                <a:ea typeface="Arial"/>
                <a:cs typeface="Arial"/>
              </a:defRPr>
            </a:pPr>
            <a:r>
              <a:rPr sz="1875" b="1">
                <a:solidFill>
                  <a:srgbClr val="0072B2"/>
                </a:solidFill>
                <a:latin typeface="Arial"/>
                <a:ea typeface="Arial"/>
                <a:cs typeface="Arial"/>
              </a:rPr>
              <a:t>Hebbian learning</a:t>
            </a:r>
          </a:p>
        </p:txBody>
      </p:sp>
      <p:sp>
        <p:nvSpPr>
          <p:cNvPr id="15" name="">
            <a:extLst xmlns:a="http://schemas.openxmlformats.org/drawingml/2006/main">
              <a:ext uri="{FF2B5EF4-FFF2-40B4-BE49-F238E27FC236}">
                <a16:creationId xmlns:a16="http://schemas.microsoft.com/office/drawing/2014/main" id="{9A320A1F-0AC3-4D69-A169-518970785D00}"/>
              </a:ext>
            </a:extLst>
          </p:cNvPr>
          <p:cNvSpPr>
            <a:spLocks xmlns:a="http://schemas.openxmlformats.org/drawingml/2006/main" noGrp="1"/>
          </p:cNvSpPr>
          <p:nvPr/>
        </p:nvSpPr>
        <p:spPr>
          <a:xfrm xmlns:a="http://schemas.openxmlformats.org/drawingml/2006/main">
            <a:off x="6915150" y="1914525"/>
            <a:ext cx="1143000" cy="685800"/>
          </a:xfrm>
          <a:prstGeom xmlns:a="http://schemas.openxmlformats.org/drawingml/2006/main" prst="roundRect">
            <a:avLst>
              <a:gd name="adj" fmla="val 19444"/>
            </a:avLst>
          </a:prstGeom>
          <a:solidFill xmlns:a="http://schemas.openxmlformats.org/drawingml/2006/main">
            <a:srgbClr val="DCEFF8"/>
          </a:solidFill>
          <a:ln xmlns:a="http://schemas.openxmlformats.org/drawingml/2006/main" w="9525">
            <a:solidFill>
              <a:srgbClr val="0072B2"/>
            </a:solidFill>
            <a:prstDash val="solid"/>
          </a:ln>
        </p:spPr>
      </p:sp>
      <p:sp>
        <p:nvSpPr>
          <p:cNvPr id="16" name="">
            <a:extLst xmlns:a="http://schemas.openxmlformats.org/drawingml/2006/main">
              <a:ext uri="{FF2B5EF4-FFF2-40B4-BE49-F238E27FC236}">
                <a16:creationId xmlns:a16="http://schemas.microsoft.com/office/drawing/2014/main" id="{6D72D376-473A-4FAA-8A52-F7676C7F9536}"/>
              </a:ext>
            </a:extLst>
          </p:cNvPr>
          <p:cNvSpPr>
            <a:spLocks xmlns:a="http://schemas.openxmlformats.org/drawingml/2006/main" noGrp="1"/>
          </p:cNvSpPr>
          <p:nvPr/>
        </p:nvSpPr>
        <p:spPr>
          <a:xfrm xmlns:a="http://schemas.openxmlformats.org/drawingml/2006/main">
            <a:off x="7048500" y="2028825"/>
            <a:ext cx="876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350" b="1">
                <a:solidFill>
                  <a:srgbClr val="0072B2"/>
                </a:solidFill>
                <a:latin typeface="Arial"/>
                <a:ea typeface="Arial"/>
                <a:cs typeface="Arial"/>
              </a:defRPr>
            </a:pPr>
            <a:r>
              <a:rPr sz="1350" b="1">
                <a:solidFill>
                  <a:srgbClr val="0072B2"/>
                </a:solidFill>
                <a:latin typeface="Arial"/>
                <a:ea typeface="Arial"/>
                <a:cs typeface="Arial"/>
              </a:rPr>
              <a:t>layer 1</a:t>
            </a:r>
          </a:p>
        </p:txBody>
      </p:sp>
      <p:sp>
        <p:nvSpPr>
          <p:cNvPr id="17" name="">
            <a:extLst xmlns:a="http://schemas.openxmlformats.org/drawingml/2006/main">
              <a:ext uri="{FF2B5EF4-FFF2-40B4-BE49-F238E27FC236}">
                <a16:creationId xmlns:a16="http://schemas.microsoft.com/office/drawing/2014/main" id="{DDF6873C-5A1E-4DDC-9D38-B147AC09DBAC}"/>
              </a:ext>
            </a:extLst>
          </p:cNvPr>
          <p:cNvSpPr>
            <a:spLocks xmlns:a="http://schemas.openxmlformats.org/drawingml/2006/main" noGrp="1"/>
          </p:cNvSpPr>
          <p:nvPr/>
        </p:nvSpPr>
        <p:spPr>
          <a:xfrm xmlns:a="http://schemas.openxmlformats.org/drawingml/2006/main">
            <a:off x="7029450" y="2295525"/>
            <a:ext cx="914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526272"/>
                </a:solidFill>
                <a:latin typeface="Arial"/>
                <a:ea typeface="Arial"/>
                <a:cs typeface="Arial"/>
              </a:defRPr>
            </a:pPr>
            <a:r>
              <a:rPr sz="1050" b="0">
                <a:solidFill>
                  <a:srgbClr val="526272"/>
                </a:solidFill>
                <a:latin typeface="Arial"/>
                <a:ea typeface="Arial"/>
                <a:cs typeface="Arial"/>
              </a:rPr>
              <a:t>local update</a:t>
            </a:r>
          </a:p>
        </p:txBody>
      </p:sp>
      <p:sp>
        <p:nvSpPr>
          <p:cNvPr id="18" name="">
            <a:extLst xmlns:a="http://schemas.openxmlformats.org/drawingml/2006/main">
              <a:ext uri="{FF2B5EF4-FFF2-40B4-BE49-F238E27FC236}">
                <a16:creationId xmlns:a16="http://schemas.microsoft.com/office/drawing/2014/main" id="{C9EE6654-5DEE-4D89-9565-D520402D9335}"/>
              </a:ext>
            </a:extLst>
          </p:cNvPr>
          <p:cNvSpPr>
            <a:spLocks xmlns:a="http://schemas.openxmlformats.org/drawingml/2006/main" noGrp="1"/>
          </p:cNvSpPr>
          <p:nvPr/>
        </p:nvSpPr>
        <p:spPr>
          <a:xfrm xmlns:a="http://schemas.openxmlformats.org/drawingml/2006/main">
            <a:off x="8343900" y="1914525"/>
            <a:ext cx="1143000" cy="685800"/>
          </a:xfrm>
          <a:prstGeom xmlns:a="http://schemas.openxmlformats.org/drawingml/2006/main" prst="roundRect">
            <a:avLst>
              <a:gd name="adj" fmla="val 19444"/>
            </a:avLst>
          </a:prstGeom>
          <a:solidFill xmlns:a="http://schemas.openxmlformats.org/drawingml/2006/main">
            <a:srgbClr val="DCEFF8"/>
          </a:solidFill>
          <a:ln xmlns:a="http://schemas.openxmlformats.org/drawingml/2006/main" w="9525">
            <a:solidFill>
              <a:srgbClr val="0072B2"/>
            </a:solidFill>
            <a:prstDash val="solid"/>
          </a:ln>
        </p:spPr>
      </p:sp>
      <p:sp>
        <p:nvSpPr>
          <p:cNvPr id="19" name="">
            <a:extLst xmlns:a="http://schemas.openxmlformats.org/drawingml/2006/main">
              <a:ext uri="{FF2B5EF4-FFF2-40B4-BE49-F238E27FC236}">
                <a16:creationId xmlns:a16="http://schemas.microsoft.com/office/drawing/2014/main" id="{D390D5F6-CDC1-49B2-8DF3-19C29AE3E3CC}"/>
              </a:ext>
            </a:extLst>
          </p:cNvPr>
          <p:cNvSpPr>
            <a:spLocks xmlns:a="http://schemas.openxmlformats.org/drawingml/2006/main" noGrp="1"/>
          </p:cNvSpPr>
          <p:nvPr/>
        </p:nvSpPr>
        <p:spPr>
          <a:xfrm xmlns:a="http://schemas.openxmlformats.org/drawingml/2006/main">
            <a:off x="8477250" y="2028825"/>
            <a:ext cx="876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350" b="1">
                <a:solidFill>
                  <a:srgbClr val="0072B2"/>
                </a:solidFill>
                <a:latin typeface="Arial"/>
                <a:ea typeface="Arial"/>
                <a:cs typeface="Arial"/>
              </a:defRPr>
            </a:pPr>
            <a:r>
              <a:rPr sz="1350" b="1">
                <a:solidFill>
                  <a:srgbClr val="0072B2"/>
                </a:solidFill>
                <a:latin typeface="Arial"/>
                <a:ea typeface="Arial"/>
                <a:cs typeface="Arial"/>
              </a:rPr>
              <a:t>layer 2</a:t>
            </a:r>
          </a:p>
        </p:txBody>
      </p:sp>
      <p:sp>
        <p:nvSpPr>
          <p:cNvPr id="20" name="">
            <a:extLst xmlns:a="http://schemas.openxmlformats.org/drawingml/2006/main">
              <a:ext uri="{FF2B5EF4-FFF2-40B4-BE49-F238E27FC236}">
                <a16:creationId xmlns:a16="http://schemas.microsoft.com/office/drawing/2014/main" id="{A4E28A10-EA1C-4E3D-B671-09B35ACC506E}"/>
              </a:ext>
            </a:extLst>
          </p:cNvPr>
          <p:cNvSpPr>
            <a:spLocks xmlns:a="http://schemas.openxmlformats.org/drawingml/2006/main" noGrp="1"/>
          </p:cNvSpPr>
          <p:nvPr/>
        </p:nvSpPr>
        <p:spPr>
          <a:xfrm xmlns:a="http://schemas.openxmlformats.org/drawingml/2006/main">
            <a:off x="8458200" y="2295525"/>
            <a:ext cx="914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526272"/>
                </a:solidFill>
                <a:latin typeface="Arial"/>
                <a:ea typeface="Arial"/>
                <a:cs typeface="Arial"/>
              </a:defRPr>
            </a:pPr>
            <a:r>
              <a:rPr sz="1050" b="0">
                <a:solidFill>
                  <a:srgbClr val="526272"/>
                </a:solidFill>
                <a:latin typeface="Arial"/>
                <a:ea typeface="Arial"/>
                <a:cs typeface="Arial"/>
              </a:rPr>
              <a:t>local update</a:t>
            </a:r>
          </a:p>
        </p:txBody>
      </p:sp>
      <p:sp>
        <p:nvSpPr>
          <p:cNvPr id="21" name="">
            <a:extLst xmlns:a="http://schemas.openxmlformats.org/drawingml/2006/main">
              <a:ext uri="{FF2B5EF4-FFF2-40B4-BE49-F238E27FC236}">
                <a16:creationId xmlns:a16="http://schemas.microsoft.com/office/drawing/2014/main" id="{E77A33DD-33A9-4CEC-9048-64B00BF4B21B}"/>
              </a:ext>
            </a:extLst>
          </p:cNvPr>
          <p:cNvSpPr>
            <a:spLocks xmlns:a="http://schemas.openxmlformats.org/drawingml/2006/main" noGrp="1"/>
          </p:cNvSpPr>
          <p:nvPr/>
        </p:nvSpPr>
        <p:spPr>
          <a:xfrm xmlns:a="http://schemas.openxmlformats.org/drawingml/2006/main">
            <a:off x="9772650" y="1914525"/>
            <a:ext cx="1143000" cy="685800"/>
          </a:xfrm>
          <a:prstGeom xmlns:a="http://schemas.openxmlformats.org/drawingml/2006/main" prst="roundRect">
            <a:avLst>
              <a:gd name="adj" fmla="val 19444"/>
            </a:avLst>
          </a:prstGeom>
          <a:solidFill xmlns:a="http://schemas.openxmlformats.org/drawingml/2006/main">
            <a:srgbClr val="DCEFF8"/>
          </a:solidFill>
          <a:ln xmlns:a="http://schemas.openxmlformats.org/drawingml/2006/main" w="9525">
            <a:solidFill>
              <a:srgbClr val="0072B2"/>
            </a:solidFill>
            <a:prstDash val="solid"/>
          </a:ln>
        </p:spPr>
      </p:sp>
      <p:sp>
        <p:nvSpPr>
          <p:cNvPr id="22" name="">
            <a:extLst xmlns:a="http://schemas.openxmlformats.org/drawingml/2006/main">
              <a:ext uri="{FF2B5EF4-FFF2-40B4-BE49-F238E27FC236}">
                <a16:creationId xmlns:a16="http://schemas.microsoft.com/office/drawing/2014/main" id="{CECE0BAB-C6EF-40AF-8B40-03475585DA3F}"/>
              </a:ext>
            </a:extLst>
          </p:cNvPr>
          <p:cNvSpPr>
            <a:spLocks xmlns:a="http://schemas.openxmlformats.org/drawingml/2006/main" noGrp="1"/>
          </p:cNvSpPr>
          <p:nvPr/>
        </p:nvSpPr>
        <p:spPr>
          <a:xfrm xmlns:a="http://schemas.openxmlformats.org/drawingml/2006/main">
            <a:off x="9906000" y="2028825"/>
            <a:ext cx="876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350" b="1">
                <a:solidFill>
                  <a:srgbClr val="0072B2"/>
                </a:solidFill>
                <a:latin typeface="Arial"/>
                <a:ea typeface="Arial"/>
                <a:cs typeface="Arial"/>
              </a:defRPr>
            </a:pPr>
            <a:r>
              <a:rPr sz="1350" b="1">
                <a:solidFill>
                  <a:srgbClr val="0072B2"/>
                </a:solidFill>
                <a:latin typeface="Arial"/>
                <a:ea typeface="Arial"/>
                <a:cs typeface="Arial"/>
              </a:rPr>
              <a:t>layer 3</a:t>
            </a:r>
          </a:p>
        </p:txBody>
      </p:sp>
      <p:sp>
        <p:nvSpPr>
          <p:cNvPr id="23" name="">
            <a:extLst xmlns:a="http://schemas.openxmlformats.org/drawingml/2006/main">
              <a:ext uri="{FF2B5EF4-FFF2-40B4-BE49-F238E27FC236}">
                <a16:creationId xmlns:a16="http://schemas.microsoft.com/office/drawing/2014/main" id="{C66BCFC1-034D-4624-8324-3DD252E3CA3F}"/>
              </a:ext>
            </a:extLst>
          </p:cNvPr>
          <p:cNvSpPr>
            <a:spLocks xmlns:a="http://schemas.openxmlformats.org/drawingml/2006/main" noGrp="1"/>
          </p:cNvSpPr>
          <p:nvPr/>
        </p:nvSpPr>
        <p:spPr>
          <a:xfrm xmlns:a="http://schemas.openxmlformats.org/drawingml/2006/main">
            <a:off x="9886950" y="2295525"/>
            <a:ext cx="914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526272"/>
                </a:solidFill>
                <a:latin typeface="Arial"/>
                <a:ea typeface="Arial"/>
                <a:cs typeface="Arial"/>
              </a:defRPr>
            </a:pPr>
            <a:r>
              <a:rPr sz="1050" b="0">
                <a:solidFill>
                  <a:srgbClr val="526272"/>
                </a:solidFill>
                <a:latin typeface="Arial"/>
                <a:ea typeface="Arial"/>
                <a:cs typeface="Arial"/>
              </a:rPr>
              <a:t>local update</a:t>
            </a:r>
          </a:p>
        </p:txBody>
      </p:sp>
      <p:sp>
        <p:nvSpPr>
          <p:cNvPr id="24" name="">
            <a:extLst xmlns:a="http://schemas.openxmlformats.org/drawingml/2006/main">
              <a:ext uri="{FF2B5EF4-FFF2-40B4-BE49-F238E27FC236}">
                <a16:creationId xmlns:a16="http://schemas.microsoft.com/office/drawing/2014/main" id="{F14CBA73-973F-42D2-90B7-0E6E10688C6B}"/>
              </a:ext>
            </a:extLst>
          </p:cNvPr>
          <p:cNvSpPr>
            <a:spLocks xmlns:a="http://schemas.openxmlformats.org/drawingml/2006/main" noGrp="1"/>
          </p:cNvSpPr>
          <p:nvPr/>
        </p:nvSpPr>
        <p:spPr>
          <a:xfrm xmlns:a="http://schemas.openxmlformats.org/drawingml/2006/main">
            <a:off x="6867525" y="2876550"/>
            <a:ext cx="4095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350" b="0">
                <a:solidFill>
                  <a:srgbClr val="526272"/>
                </a:solidFill>
                <a:latin typeface="Arial"/>
                <a:ea typeface="Arial"/>
                <a:cs typeface="Arial"/>
              </a:defRPr>
            </a:pPr>
            <a:r>
              <a:rPr sz="1350" b="0">
                <a:solidFill>
                  <a:srgbClr val="526272"/>
                </a:solidFill>
                <a:latin typeface="Arial"/>
                <a:ea typeface="Arial"/>
                <a:cs typeface="Arial"/>
              </a:rPr>
              <a:t>Input patch + winner + current weights</a:t>
            </a:r>
          </a:p>
        </p:txBody>
      </p:sp>
      <p:sp>
        <p:nvSpPr>
          <p:cNvPr id="25" name="">
            <a:extLst xmlns:a="http://schemas.openxmlformats.org/drawingml/2006/main">
              <a:ext uri="{FF2B5EF4-FFF2-40B4-BE49-F238E27FC236}">
                <a16:creationId xmlns:a16="http://schemas.microsoft.com/office/drawing/2014/main" id="{81B600AA-B02F-4773-AC09-564CDD1A9AB1}"/>
              </a:ext>
            </a:extLst>
          </p:cNvPr>
          <p:cNvSpPr>
            <a:spLocks xmlns:a="http://schemas.openxmlformats.org/drawingml/2006/main" noGrp="1"/>
          </p:cNvSpPr>
          <p:nvPr/>
        </p:nvSpPr>
        <p:spPr>
          <a:xfrm xmlns:a="http://schemas.openxmlformats.org/drawingml/2006/main">
            <a:off x="6096000" y="1238250"/>
            <a:ext cx="9525" cy="2381250"/>
          </a:xfrm>
          <a:prstGeom xmlns:a="http://schemas.openxmlformats.org/drawingml/2006/main" prst="line">
            <a:avLst/>
          </a:prstGeom>
          <a:noFill xmlns:a="http://schemas.openxmlformats.org/drawingml/2006/main"/>
          <a:ln xmlns:a="http://schemas.openxmlformats.org/drawingml/2006/main" w="9525">
            <a:solidFill>
              <a:srgbClr val="D9E0E5"/>
            </a:solidFill>
            <a:prstDash val="solid"/>
          </a:ln>
        </p:spPr>
      </p:sp>
      <p:sp>
        <p:nvSpPr>
          <p:cNvPr id="26" name="">
            <a:extLst xmlns:a="http://schemas.openxmlformats.org/drawingml/2006/main">
              <a:ext uri="{FF2B5EF4-FFF2-40B4-BE49-F238E27FC236}">
                <a16:creationId xmlns:a16="http://schemas.microsoft.com/office/drawing/2014/main" id="{FB753513-5CDC-4AB5-ADE0-65EB1FCA9C2E}"/>
              </a:ext>
            </a:extLst>
          </p:cNvPr>
          <p:cNvSpPr>
            <a:spLocks xmlns:a="http://schemas.openxmlformats.org/drawingml/2006/main" noGrp="1"/>
          </p:cNvSpPr>
          <p:nvPr/>
        </p:nvSpPr>
        <p:spPr>
          <a:xfrm xmlns:a="http://schemas.openxmlformats.org/drawingml/2006/main">
            <a:off x="1143000" y="3829050"/>
            <a:ext cx="990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025" b="1">
                <a:solidFill>
                  <a:srgbClr val="17222F"/>
                </a:solidFill>
                <a:latin typeface="Arial"/>
                <a:ea typeface="Arial"/>
                <a:cs typeface="Arial"/>
              </a:defRPr>
            </a:pPr>
            <a:r>
              <a:rPr sz="2025" b="1">
                <a:solidFill>
                  <a:srgbClr val="17222F"/>
                </a:solidFill>
                <a:latin typeface="Arial"/>
                <a:ea typeface="Arial"/>
                <a:cs typeface="Arial"/>
              </a:rPr>
              <a:t>What resources do these learning paths require in the concrete repository?</a:t>
            </a:r>
          </a:p>
        </p:txBody>
      </p:sp>
      <p:sp>
        <p:nvSpPr>
          <p:cNvPr id="27" name="">
            <a:extLst xmlns:a="http://schemas.openxmlformats.org/drawingml/2006/main">
              <a:ext uri="{FF2B5EF4-FFF2-40B4-BE49-F238E27FC236}">
                <a16:creationId xmlns:a16="http://schemas.microsoft.com/office/drawing/2014/main" id="{1E49DBD6-643C-4D26-BE6C-AB25B76AB3D6}"/>
              </a:ext>
            </a:extLst>
          </p:cNvPr>
          <p:cNvSpPr>
            <a:spLocks xmlns:a="http://schemas.openxmlformats.org/drawingml/2006/main" noGrp="1"/>
          </p:cNvSpPr>
          <p:nvPr/>
        </p:nvSpPr>
        <p:spPr>
          <a:xfrm xmlns:a="http://schemas.openxmlformats.org/drawingml/2006/main">
            <a:off x="1304925" y="4762500"/>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200" b="1">
                <a:solidFill>
                  <a:srgbClr val="0072B2"/>
                </a:solidFill>
                <a:latin typeface="Arial"/>
                <a:ea typeface="Arial"/>
                <a:cs typeface="Arial"/>
              </a:defRPr>
            </a:pPr>
            <a:r>
              <a:rPr sz="1200" b="1">
                <a:solidFill>
                  <a:srgbClr val="0072B2"/>
                </a:solidFill>
                <a:latin typeface="Arial"/>
                <a:ea typeface="Arial"/>
                <a:cs typeface="Arial"/>
              </a:rPr>
              <a:t>MODELED PROXIES</a:t>
            </a:r>
          </a:p>
        </p:txBody>
      </p:sp>
      <p:sp>
        <p:nvSpPr>
          <p:cNvPr id="28" name="">
            <a:extLst xmlns:a="http://schemas.openxmlformats.org/drawingml/2006/main">
              <a:ext uri="{FF2B5EF4-FFF2-40B4-BE49-F238E27FC236}">
                <a16:creationId xmlns:a16="http://schemas.microsoft.com/office/drawing/2014/main" id="{0354A57D-1B76-423A-90C8-833614179A35}"/>
              </a:ext>
            </a:extLst>
          </p:cNvPr>
          <p:cNvSpPr>
            <a:spLocks xmlns:a="http://schemas.openxmlformats.org/drawingml/2006/main" noGrp="1"/>
          </p:cNvSpPr>
          <p:nvPr/>
        </p:nvSpPr>
        <p:spPr>
          <a:xfrm xmlns:a="http://schemas.openxmlformats.org/drawingml/2006/main">
            <a:off x="1304925" y="51149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a:solidFill>
                  <a:srgbClr val="17222F"/>
                </a:solidFill>
                <a:latin typeface="Arial"/>
                <a:ea typeface="Arial"/>
                <a:cs typeface="Arial"/>
              </a:defRPr>
            </a:pPr>
            <a:r>
              <a:rPr sz="1650" b="1">
                <a:solidFill>
                  <a:srgbClr val="17222F"/>
                </a:solidFill>
                <a:latin typeface="Arial"/>
                <a:ea typeface="Arial"/>
                <a:cs typeface="Arial"/>
              </a:rPr>
              <a:t>scalar operations</a:t>
            </a:r>
          </a:p>
        </p:txBody>
      </p:sp>
      <p:sp>
        <p:nvSpPr>
          <p:cNvPr id="29" name="">
            <a:extLst xmlns:a="http://schemas.openxmlformats.org/drawingml/2006/main">
              <a:ext uri="{FF2B5EF4-FFF2-40B4-BE49-F238E27FC236}">
                <a16:creationId xmlns:a16="http://schemas.microsoft.com/office/drawing/2014/main" id="{8CE5E1B5-7793-40FD-A170-061C79F103D7}"/>
              </a:ext>
            </a:extLst>
          </p:cNvPr>
          <p:cNvSpPr>
            <a:spLocks xmlns:a="http://schemas.openxmlformats.org/drawingml/2006/main" noGrp="1"/>
          </p:cNvSpPr>
          <p:nvPr/>
        </p:nvSpPr>
        <p:spPr>
          <a:xfrm xmlns:a="http://schemas.openxmlformats.org/drawingml/2006/main">
            <a:off x="4067175" y="5114925"/>
            <a:ext cx="2190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a:solidFill>
                  <a:srgbClr val="17222F"/>
                </a:solidFill>
                <a:latin typeface="Arial"/>
                <a:ea typeface="Arial"/>
                <a:cs typeface="Arial"/>
              </a:defRPr>
            </a:pPr>
            <a:r>
              <a:rPr sz="1650" b="1">
                <a:solidFill>
                  <a:srgbClr val="17222F"/>
                </a:solidFill>
                <a:latin typeface="Arial"/>
                <a:ea typeface="Arial"/>
                <a:cs typeface="Arial"/>
              </a:rPr>
              <a:t>tensor storage</a:t>
            </a:r>
          </a:p>
        </p:txBody>
      </p:sp>
      <p:sp>
        <p:nvSpPr>
          <p:cNvPr id="30" name="">
            <a:extLst xmlns:a="http://schemas.openxmlformats.org/drawingml/2006/main">
              <a:ext uri="{FF2B5EF4-FFF2-40B4-BE49-F238E27FC236}">
                <a16:creationId xmlns:a16="http://schemas.microsoft.com/office/drawing/2014/main" id="{4E1B8333-C294-4E3A-A5EF-525E8BA0B66A}"/>
              </a:ext>
            </a:extLst>
          </p:cNvPr>
          <p:cNvSpPr>
            <a:spLocks xmlns:a="http://schemas.openxmlformats.org/drawingml/2006/main" noGrp="1"/>
          </p:cNvSpPr>
          <p:nvPr/>
        </p:nvSpPr>
        <p:spPr>
          <a:xfrm xmlns:a="http://schemas.openxmlformats.org/drawingml/2006/main">
            <a:off x="6543675" y="51149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a:solidFill>
                  <a:srgbClr val="17222F"/>
                </a:solidFill>
                <a:latin typeface="Arial"/>
                <a:ea typeface="Arial"/>
                <a:cs typeface="Arial"/>
              </a:defRPr>
            </a:pPr>
            <a:r>
              <a:rPr sz="1650" b="1">
                <a:solidFill>
                  <a:srgbClr val="17222F"/>
                </a:solidFill>
                <a:latin typeface="Arial"/>
                <a:ea typeface="Arial"/>
                <a:cs typeface="Arial"/>
              </a:rPr>
              <a:t>logical movement</a:t>
            </a:r>
          </a:p>
        </p:txBody>
      </p:sp>
      <p:sp>
        <p:nvSpPr>
          <p:cNvPr id="31" name="">
            <a:extLst xmlns:a="http://schemas.openxmlformats.org/drawingml/2006/main">
              <a:ext uri="{FF2B5EF4-FFF2-40B4-BE49-F238E27FC236}">
                <a16:creationId xmlns:a16="http://schemas.microsoft.com/office/drawing/2014/main" id="{91FD7564-146D-4402-8E15-4430D65BA58A}"/>
              </a:ext>
            </a:extLst>
          </p:cNvPr>
          <p:cNvSpPr>
            <a:spLocks xmlns:a="http://schemas.openxmlformats.org/drawingml/2006/main" noGrp="1"/>
          </p:cNvSpPr>
          <p:nvPr/>
        </p:nvSpPr>
        <p:spPr>
          <a:xfrm xmlns:a="http://schemas.openxmlformats.org/drawingml/2006/main">
            <a:off x="9324975" y="476250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A33A3A"/>
                </a:solidFill>
                <a:latin typeface="Arial"/>
                <a:ea typeface="Arial"/>
                <a:cs typeface="Arial"/>
              </a:defRPr>
            </a:pPr>
            <a:r>
              <a:rPr sz="1200" b="1">
                <a:solidFill>
                  <a:srgbClr val="A33A3A"/>
                </a:solidFill>
                <a:latin typeface="Arial"/>
                <a:ea typeface="Arial"/>
                <a:cs typeface="Arial"/>
              </a:rPr>
              <a:t>NOT MEASURED</a:t>
            </a:r>
          </a:p>
        </p:txBody>
      </p:sp>
      <p:sp>
        <p:nvSpPr>
          <p:cNvPr id="32" name="">
            <a:extLst xmlns:a="http://schemas.openxmlformats.org/drawingml/2006/main">
              <a:ext uri="{FF2B5EF4-FFF2-40B4-BE49-F238E27FC236}">
                <a16:creationId xmlns:a16="http://schemas.microsoft.com/office/drawing/2014/main" id="{B6B88D4C-D65F-4182-B363-1CCDC498F2BF}"/>
              </a:ext>
            </a:extLst>
          </p:cNvPr>
          <p:cNvSpPr>
            <a:spLocks xmlns:a="http://schemas.openxmlformats.org/drawingml/2006/main" noGrp="1"/>
          </p:cNvSpPr>
          <p:nvPr/>
        </p:nvSpPr>
        <p:spPr>
          <a:xfrm xmlns:a="http://schemas.openxmlformats.org/drawingml/2006/main">
            <a:off x="9324975" y="5114925"/>
            <a:ext cx="2047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A33A3A"/>
                </a:solidFill>
                <a:latin typeface="Arial"/>
                <a:ea typeface="Arial"/>
                <a:cs typeface="Arial"/>
              </a:defRPr>
            </a:pPr>
            <a:r>
              <a:rPr sz="1350" b="1">
                <a:solidFill>
                  <a:srgbClr val="A33A3A"/>
                </a:solidFill>
                <a:latin typeface="Arial"/>
                <a:ea typeface="Arial"/>
                <a:cs typeface="Arial"/>
              </a:rPr>
              <a:t>electricity · runtime · GPU peak</a:t>
            </a:r>
          </a:p>
        </p:txBody>
      </p:sp>
    </p:spTree>
    <p:extLst>
      <p:ext uri="{BB962C8B-B14F-4D97-AF65-F5344CB8AC3E}">
        <p14:creationId xmlns:p14="http://schemas.microsoft.com/office/powerpoint/2010/main" val="201100355"/>
      </p:ext>
    </p:extLst>
  </p:cSld>
</p:sld>
</file>

<file path=ppt/slides/slide3.xml><?xml version="1.0" encoding="utf-8"?>
<p:sld xmlns:p="http://schemas.openxmlformats.org/presentationml/2006/main">
  <p:cSld>
    <p:bg>
      <p:bgPr>
        <a:solidFill xmlns:a="http://schemas.openxmlformats.org/drawingml/2006/main">
          <a:srgbClr val="F7F8F4"/>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81CE143A-FFBF-4B00-800E-41B9D1F1E19D}"/>
              </a:ext>
            </a:extLst>
          </p:cNvPr>
          <p:cNvSpPr>
            <a:spLocks xmlns:a="http://schemas.openxmlformats.org/drawingml/2006/main" noGrp="1"/>
          </p:cNvSpPr>
          <p:nvPr/>
        </p:nvSpPr>
        <p:spPr>
          <a:xfrm xmlns:a="http://schemas.openxmlformats.org/drawingml/2006/main">
            <a:off x="609600" y="333375"/>
            <a:ext cx="9715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17222F"/>
                </a:solidFill>
                <a:latin typeface="Arial"/>
                <a:ea typeface="Arial"/>
                <a:cs typeface="Arial"/>
              </a:defRPr>
            </a:pPr>
            <a:r>
              <a:rPr sz="2550" b="1">
                <a:solidFill>
                  <a:srgbClr val="17222F"/>
                </a:solidFill>
                <a:latin typeface="Arial"/>
                <a:ea typeface="Arial"/>
                <a:cs typeface="Arial"/>
              </a:rPr>
              <a:t>Architecture and four execution models</a:t>
            </a:r>
          </a:p>
        </p:txBody>
      </p:sp>
      <p:sp>
        <p:nvSpPr>
          <p:cNvPr id="2" name="">
            <a:extLst xmlns:a="http://schemas.openxmlformats.org/drawingml/2006/main">
              <a:ext uri="{FF2B5EF4-FFF2-40B4-BE49-F238E27FC236}">
                <a16:creationId xmlns:a16="http://schemas.microsoft.com/office/drawing/2014/main" id="{D051BA80-3D4B-4333-915B-06233F5D4C52}"/>
              </a:ext>
            </a:extLst>
          </p:cNvPr>
          <p:cNvSpPr>
            <a:spLocks xmlns:a="http://schemas.openxmlformats.org/drawingml/2006/main" noGrp="1"/>
          </p:cNvSpPr>
          <p:nvPr/>
        </p:nvSpPr>
        <p:spPr>
          <a:xfrm xmlns:a="http://schemas.openxmlformats.org/drawingml/2006/main">
            <a:off x="609600" y="942975"/>
            <a:ext cx="10972800" cy="9525"/>
          </a:xfrm>
          <a:prstGeom xmlns:a="http://schemas.openxmlformats.org/drawingml/2006/main" prst="line">
            <a:avLst/>
          </a:prstGeom>
          <a:noFill xmlns:a="http://schemas.openxmlformats.org/drawingml/2006/main"/>
          <a:ln xmlns:a="http://schemas.openxmlformats.org/drawingml/2006/main" w="9525">
            <a:solidFill>
              <a:srgbClr val="D9E0E5"/>
            </a:solidFill>
            <a:prstDash val="solid"/>
          </a:ln>
        </p:spPr>
      </p:sp>
      <p:sp>
        <p:nvSpPr>
          <p:cNvPr id="3" name="">
            <a:extLst xmlns:a="http://schemas.openxmlformats.org/drawingml/2006/main">
              <a:ext uri="{FF2B5EF4-FFF2-40B4-BE49-F238E27FC236}">
                <a16:creationId xmlns:a16="http://schemas.microsoft.com/office/drawing/2014/main" id="{2A2794B9-3084-405E-99F6-8CBDE6C192A5}"/>
              </a:ext>
            </a:extLst>
          </p:cNvPr>
          <p:cNvSpPr>
            <a:spLocks xmlns:a="http://schemas.openxmlformats.org/drawingml/2006/main" noGrp="1"/>
          </p:cNvSpPr>
          <p:nvPr/>
        </p:nvSpPr>
        <p:spPr>
          <a:xfrm xmlns:a="http://schemas.openxmlformats.org/drawingml/2006/main">
            <a:off x="11144250" y="381000"/>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526272"/>
                </a:solidFill>
                <a:latin typeface="Arial"/>
                <a:ea typeface="Arial"/>
                <a:cs typeface="Arial"/>
              </a:defRPr>
            </a:pPr>
            <a:r>
              <a:rPr sz="1125" b="1">
                <a:solidFill>
                  <a:srgbClr val="526272"/>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F584DE94-53AB-42C0-831D-E26645BCEAA9}"/>
              </a:ext>
            </a:extLst>
          </p:cNvPr>
          <p:cNvSpPr>
            <a:spLocks xmlns:a="http://schemas.openxmlformats.org/drawingml/2006/main" noGrp="1"/>
          </p:cNvSpPr>
          <p:nvPr/>
        </p:nvSpPr>
        <p:spPr>
          <a:xfrm xmlns:a="http://schemas.openxmlformats.org/drawingml/2006/main">
            <a:off x="685800" y="1343025"/>
            <a:ext cx="123825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526272"/>
            </a:solidFill>
            <a:prstDash val="solid"/>
          </a:ln>
        </p:spPr>
      </p:sp>
      <p:sp>
        <p:nvSpPr>
          <p:cNvPr id="5" name="">
            <a:extLst xmlns:a="http://schemas.openxmlformats.org/drawingml/2006/main">
              <a:ext uri="{FF2B5EF4-FFF2-40B4-BE49-F238E27FC236}">
                <a16:creationId xmlns:a16="http://schemas.microsoft.com/office/drawing/2014/main" id="{285B3952-3121-43E1-BED7-FCFE594EA045}"/>
              </a:ext>
            </a:extLst>
          </p:cNvPr>
          <p:cNvSpPr>
            <a:spLocks xmlns:a="http://schemas.openxmlformats.org/drawingml/2006/main" noGrp="1"/>
          </p:cNvSpPr>
          <p:nvPr/>
        </p:nvSpPr>
        <p:spPr>
          <a:xfrm xmlns:a="http://schemas.openxmlformats.org/drawingml/2006/main">
            <a:off x="781050" y="14954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a:solidFill>
                  <a:srgbClr val="526272"/>
                </a:solidFill>
                <a:latin typeface="Arial"/>
                <a:ea typeface="Arial"/>
                <a:cs typeface="Arial"/>
              </a:defRPr>
            </a:pPr>
            <a:r>
              <a:rPr sz="1500" b="1">
                <a:solidFill>
                  <a:srgbClr val="526272"/>
                </a:solidFill>
                <a:latin typeface="Arial"/>
                <a:ea typeface="Arial"/>
                <a:cs typeface="Arial"/>
              </a:rPr>
              <a:t>Input</a:t>
            </a:r>
          </a:p>
        </p:txBody>
      </p:sp>
      <p:sp>
        <p:nvSpPr>
          <p:cNvPr id="6" name="">
            <a:extLst xmlns:a="http://schemas.openxmlformats.org/drawingml/2006/main">
              <a:ext uri="{FF2B5EF4-FFF2-40B4-BE49-F238E27FC236}">
                <a16:creationId xmlns:a16="http://schemas.microsoft.com/office/drawing/2014/main" id="{617BF2D5-B11E-4E9E-AC4E-0BBB9EC5F4C8}"/>
              </a:ext>
            </a:extLst>
          </p:cNvPr>
          <p:cNvSpPr>
            <a:spLocks xmlns:a="http://schemas.openxmlformats.org/drawingml/2006/main" noGrp="1"/>
          </p:cNvSpPr>
          <p:nvPr/>
        </p:nvSpPr>
        <p:spPr>
          <a:xfrm xmlns:a="http://schemas.openxmlformats.org/drawingml/2006/main">
            <a:off x="781050" y="1809750"/>
            <a:ext cx="1047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526272"/>
                </a:solidFill>
                <a:latin typeface="Arial"/>
                <a:ea typeface="Arial"/>
                <a:cs typeface="Arial"/>
              </a:defRPr>
            </a:pPr>
            <a:r>
              <a:rPr sz="1050" b="0">
                <a:solidFill>
                  <a:srgbClr val="526272"/>
                </a:solidFill>
                <a:latin typeface="Arial"/>
                <a:ea typeface="Arial"/>
                <a:cs typeface="Arial"/>
              </a:rPr>
              <a:t>3 × 32 × 32</a:t>
            </a:r>
          </a:p>
        </p:txBody>
      </p:sp>
      <p:sp>
        <p:nvSpPr>
          <p:cNvPr id="7" name="">
            <a:extLst xmlns:a="http://schemas.openxmlformats.org/drawingml/2006/main">
              <a:ext uri="{FF2B5EF4-FFF2-40B4-BE49-F238E27FC236}">
                <a16:creationId xmlns:a16="http://schemas.microsoft.com/office/drawing/2014/main" id="{88E06FE6-D08E-4F3E-AE50-83BC542EB173}"/>
              </a:ext>
            </a:extLst>
          </p:cNvPr>
          <p:cNvSpPr>
            <a:spLocks xmlns:a="http://schemas.openxmlformats.org/drawingml/2006/main" noGrp="1"/>
          </p:cNvSpPr>
          <p:nvPr/>
        </p:nvSpPr>
        <p:spPr>
          <a:xfrm xmlns:a="http://schemas.openxmlformats.org/drawingml/2006/main">
            <a:off x="2305050" y="1343025"/>
            <a:ext cx="1619250" cy="876300"/>
          </a:xfrm>
          <a:prstGeom xmlns:a="http://schemas.openxmlformats.org/drawingml/2006/main" prst="roundRect">
            <a:avLst>
              <a:gd name="adj" fmla="val 13043"/>
            </a:avLst>
          </a:prstGeom>
          <a:solidFill xmlns:a="http://schemas.openxmlformats.org/drawingml/2006/main">
            <a:srgbClr val="DCEFF8"/>
          </a:solidFill>
          <a:ln xmlns:a="http://schemas.openxmlformats.org/drawingml/2006/main" w="9525">
            <a:solidFill>
              <a:srgbClr val="0072B2"/>
            </a:solidFill>
            <a:prstDash val="solid"/>
          </a:ln>
        </p:spPr>
      </p:sp>
      <p:sp>
        <p:nvSpPr>
          <p:cNvPr id="8" name="">
            <a:extLst xmlns:a="http://schemas.openxmlformats.org/drawingml/2006/main">
              <a:ext uri="{FF2B5EF4-FFF2-40B4-BE49-F238E27FC236}">
                <a16:creationId xmlns:a16="http://schemas.microsoft.com/office/drawing/2014/main" id="{646C1A5C-E1A2-4CF4-9490-0B98782881B9}"/>
              </a:ext>
            </a:extLst>
          </p:cNvPr>
          <p:cNvSpPr>
            <a:spLocks xmlns:a="http://schemas.openxmlformats.org/drawingml/2006/main" noGrp="1"/>
          </p:cNvSpPr>
          <p:nvPr/>
        </p:nvSpPr>
        <p:spPr>
          <a:xfrm xmlns:a="http://schemas.openxmlformats.org/drawingml/2006/main">
            <a:off x="2400300" y="14954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a:solidFill>
                  <a:srgbClr val="0072B2"/>
                </a:solidFill>
                <a:latin typeface="Arial"/>
                <a:ea typeface="Arial"/>
                <a:cs typeface="Arial"/>
              </a:defRPr>
            </a:pPr>
            <a:r>
              <a:rPr sz="1500" b="1">
                <a:solidFill>
                  <a:srgbClr val="0072B2"/>
                </a:solidFill>
                <a:latin typeface="Arial"/>
                <a:ea typeface="Arial"/>
                <a:cs typeface="Arial"/>
              </a:rPr>
              <a:t>Conv 1</a:t>
            </a:r>
          </a:p>
        </p:txBody>
      </p:sp>
      <p:sp>
        <p:nvSpPr>
          <p:cNvPr id="9" name="">
            <a:extLst xmlns:a="http://schemas.openxmlformats.org/drawingml/2006/main">
              <a:ext uri="{FF2B5EF4-FFF2-40B4-BE49-F238E27FC236}">
                <a16:creationId xmlns:a16="http://schemas.microsoft.com/office/drawing/2014/main" id="{42E5A205-6CEE-4DA4-BD66-7DCFFC560B18}"/>
              </a:ext>
            </a:extLst>
          </p:cNvPr>
          <p:cNvSpPr>
            <a:spLocks xmlns:a="http://schemas.openxmlformats.org/drawingml/2006/main" noGrp="1"/>
          </p:cNvSpPr>
          <p:nvPr/>
        </p:nvSpPr>
        <p:spPr>
          <a:xfrm xmlns:a="http://schemas.openxmlformats.org/drawingml/2006/main">
            <a:off x="2400300" y="18097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526272"/>
                </a:solidFill>
                <a:latin typeface="Arial"/>
                <a:ea typeface="Arial"/>
                <a:cs typeface="Arial"/>
              </a:defRPr>
            </a:pPr>
            <a:r>
              <a:rPr sz="1050" b="0">
                <a:solidFill>
                  <a:srgbClr val="526272"/>
                </a:solidFill>
                <a:latin typeface="Arial"/>
                <a:ea typeface="Arial"/>
                <a:cs typeface="Arial"/>
              </a:rPr>
              <a:t>100 · 5×5 · pool 2</a:t>
            </a:r>
          </a:p>
        </p:txBody>
      </p:sp>
      <p:sp>
        <p:nvSpPr>
          <p:cNvPr id="10" name="">
            <a:extLst xmlns:a="http://schemas.openxmlformats.org/drawingml/2006/main">
              <a:ext uri="{FF2B5EF4-FFF2-40B4-BE49-F238E27FC236}">
                <a16:creationId xmlns:a16="http://schemas.microsoft.com/office/drawing/2014/main" id="{BE99A1DC-6BD1-408B-9C7A-614A0B3F4798}"/>
              </a:ext>
            </a:extLst>
          </p:cNvPr>
          <p:cNvSpPr>
            <a:spLocks xmlns:a="http://schemas.openxmlformats.org/drawingml/2006/main" noGrp="1"/>
          </p:cNvSpPr>
          <p:nvPr/>
        </p:nvSpPr>
        <p:spPr>
          <a:xfrm xmlns:a="http://schemas.openxmlformats.org/drawingml/2006/main">
            <a:off x="4305300" y="1343025"/>
            <a:ext cx="1619250" cy="876300"/>
          </a:xfrm>
          <a:prstGeom xmlns:a="http://schemas.openxmlformats.org/drawingml/2006/main" prst="roundRect">
            <a:avLst>
              <a:gd name="adj" fmla="val 13043"/>
            </a:avLst>
          </a:prstGeom>
          <a:solidFill xmlns:a="http://schemas.openxmlformats.org/drawingml/2006/main">
            <a:srgbClr val="DCEFF8"/>
          </a:solidFill>
          <a:ln xmlns:a="http://schemas.openxmlformats.org/drawingml/2006/main" w="9525">
            <a:solidFill>
              <a:srgbClr val="0072B2"/>
            </a:solidFill>
            <a:prstDash val="solid"/>
          </a:ln>
        </p:spPr>
      </p:sp>
      <p:sp>
        <p:nvSpPr>
          <p:cNvPr id="11" name="">
            <a:extLst xmlns:a="http://schemas.openxmlformats.org/drawingml/2006/main">
              <a:ext uri="{FF2B5EF4-FFF2-40B4-BE49-F238E27FC236}">
                <a16:creationId xmlns:a16="http://schemas.microsoft.com/office/drawing/2014/main" id="{FDED0072-C95F-4849-A6F3-184616735F20}"/>
              </a:ext>
            </a:extLst>
          </p:cNvPr>
          <p:cNvSpPr>
            <a:spLocks xmlns:a="http://schemas.openxmlformats.org/drawingml/2006/main" noGrp="1"/>
          </p:cNvSpPr>
          <p:nvPr/>
        </p:nvSpPr>
        <p:spPr>
          <a:xfrm xmlns:a="http://schemas.openxmlformats.org/drawingml/2006/main">
            <a:off x="4400550" y="14954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a:solidFill>
                  <a:srgbClr val="0072B2"/>
                </a:solidFill>
                <a:latin typeface="Arial"/>
                <a:ea typeface="Arial"/>
                <a:cs typeface="Arial"/>
              </a:defRPr>
            </a:pPr>
            <a:r>
              <a:rPr sz="1500" b="1">
                <a:solidFill>
                  <a:srgbClr val="0072B2"/>
                </a:solidFill>
                <a:latin typeface="Arial"/>
                <a:ea typeface="Arial"/>
                <a:cs typeface="Arial"/>
              </a:rPr>
              <a:t>Conv 2</a:t>
            </a:r>
          </a:p>
        </p:txBody>
      </p:sp>
      <p:sp>
        <p:nvSpPr>
          <p:cNvPr id="12" name="">
            <a:extLst xmlns:a="http://schemas.openxmlformats.org/drawingml/2006/main">
              <a:ext uri="{FF2B5EF4-FFF2-40B4-BE49-F238E27FC236}">
                <a16:creationId xmlns:a16="http://schemas.microsoft.com/office/drawing/2014/main" id="{1017843C-624F-4098-A5C8-A4A0F3574C6E}"/>
              </a:ext>
            </a:extLst>
          </p:cNvPr>
          <p:cNvSpPr>
            <a:spLocks xmlns:a="http://schemas.openxmlformats.org/drawingml/2006/main" noGrp="1"/>
          </p:cNvSpPr>
          <p:nvPr/>
        </p:nvSpPr>
        <p:spPr>
          <a:xfrm xmlns:a="http://schemas.openxmlformats.org/drawingml/2006/main">
            <a:off x="4400550" y="18097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526272"/>
                </a:solidFill>
                <a:latin typeface="Arial"/>
                <a:ea typeface="Arial"/>
                <a:cs typeface="Arial"/>
              </a:defRPr>
            </a:pPr>
            <a:r>
              <a:rPr sz="1050" b="0">
                <a:solidFill>
                  <a:srgbClr val="526272"/>
                </a:solidFill>
                <a:latin typeface="Arial"/>
                <a:ea typeface="Arial"/>
                <a:cs typeface="Arial"/>
              </a:rPr>
              <a:t>196 · 3×3 · pool 2</a:t>
            </a:r>
          </a:p>
        </p:txBody>
      </p:sp>
      <p:sp>
        <p:nvSpPr>
          <p:cNvPr id="13" name="">
            <a:extLst xmlns:a="http://schemas.openxmlformats.org/drawingml/2006/main">
              <a:ext uri="{FF2B5EF4-FFF2-40B4-BE49-F238E27FC236}">
                <a16:creationId xmlns:a16="http://schemas.microsoft.com/office/drawing/2014/main" id="{77BE7322-89AF-4355-BA89-A50C12000C31}"/>
              </a:ext>
            </a:extLst>
          </p:cNvPr>
          <p:cNvSpPr>
            <a:spLocks xmlns:a="http://schemas.openxmlformats.org/drawingml/2006/main" noGrp="1"/>
          </p:cNvSpPr>
          <p:nvPr/>
        </p:nvSpPr>
        <p:spPr>
          <a:xfrm xmlns:a="http://schemas.openxmlformats.org/drawingml/2006/main">
            <a:off x="6305550" y="1343025"/>
            <a:ext cx="1619250" cy="876300"/>
          </a:xfrm>
          <a:prstGeom xmlns:a="http://schemas.openxmlformats.org/drawingml/2006/main" prst="roundRect">
            <a:avLst>
              <a:gd name="adj" fmla="val 13043"/>
            </a:avLst>
          </a:prstGeom>
          <a:solidFill xmlns:a="http://schemas.openxmlformats.org/drawingml/2006/main">
            <a:srgbClr val="DCEFF8"/>
          </a:solidFill>
          <a:ln xmlns:a="http://schemas.openxmlformats.org/drawingml/2006/main" w="9525">
            <a:solidFill>
              <a:srgbClr val="0072B2"/>
            </a:solidFill>
            <a:prstDash val="solid"/>
          </a:ln>
        </p:spPr>
      </p:sp>
      <p:sp>
        <p:nvSpPr>
          <p:cNvPr id="14" name="">
            <a:extLst xmlns:a="http://schemas.openxmlformats.org/drawingml/2006/main">
              <a:ext uri="{FF2B5EF4-FFF2-40B4-BE49-F238E27FC236}">
                <a16:creationId xmlns:a16="http://schemas.microsoft.com/office/drawing/2014/main" id="{47738079-2E28-49F0-822B-97830833917A}"/>
              </a:ext>
            </a:extLst>
          </p:cNvPr>
          <p:cNvSpPr>
            <a:spLocks xmlns:a="http://schemas.openxmlformats.org/drawingml/2006/main" noGrp="1"/>
          </p:cNvSpPr>
          <p:nvPr/>
        </p:nvSpPr>
        <p:spPr>
          <a:xfrm xmlns:a="http://schemas.openxmlformats.org/drawingml/2006/main">
            <a:off x="6400800" y="14954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a:solidFill>
                  <a:srgbClr val="0072B2"/>
                </a:solidFill>
                <a:latin typeface="Arial"/>
                <a:ea typeface="Arial"/>
                <a:cs typeface="Arial"/>
              </a:defRPr>
            </a:pPr>
            <a:r>
              <a:rPr sz="1500" b="1">
                <a:solidFill>
                  <a:srgbClr val="0072B2"/>
                </a:solidFill>
                <a:latin typeface="Arial"/>
                <a:ea typeface="Arial"/>
                <a:cs typeface="Arial"/>
              </a:rPr>
              <a:t>Conv 3</a:t>
            </a:r>
          </a:p>
        </p:txBody>
      </p:sp>
      <p:sp>
        <p:nvSpPr>
          <p:cNvPr id="15" name="">
            <a:extLst xmlns:a="http://schemas.openxmlformats.org/drawingml/2006/main">
              <a:ext uri="{FF2B5EF4-FFF2-40B4-BE49-F238E27FC236}">
                <a16:creationId xmlns:a16="http://schemas.microsoft.com/office/drawing/2014/main" id="{A20AB6AC-F75C-4E0C-9A88-339ABB90225E}"/>
              </a:ext>
            </a:extLst>
          </p:cNvPr>
          <p:cNvSpPr>
            <a:spLocks xmlns:a="http://schemas.openxmlformats.org/drawingml/2006/main" noGrp="1"/>
          </p:cNvSpPr>
          <p:nvPr/>
        </p:nvSpPr>
        <p:spPr>
          <a:xfrm xmlns:a="http://schemas.openxmlformats.org/drawingml/2006/main">
            <a:off x="6400800" y="18097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526272"/>
                </a:solidFill>
                <a:latin typeface="Arial"/>
                <a:ea typeface="Arial"/>
                <a:cs typeface="Arial"/>
              </a:defRPr>
            </a:pPr>
            <a:r>
              <a:rPr sz="1050" b="0">
                <a:solidFill>
                  <a:srgbClr val="526272"/>
                </a:solidFill>
                <a:latin typeface="Arial"/>
                <a:ea typeface="Arial"/>
                <a:cs typeface="Arial"/>
              </a:rPr>
              <a:t>400 · 3×3 · pool 2</a:t>
            </a:r>
          </a:p>
        </p:txBody>
      </p:sp>
      <p:sp>
        <p:nvSpPr>
          <p:cNvPr id="16" name="">
            <a:extLst xmlns:a="http://schemas.openxmlformats.org/drawingml/2006/main">
              <a:ext uri="{FF2B5EF4-FFF2-40B4-BE49-F238E27FC236}">
                <a16:creationId xmlns:a16="http://schemas.microsoft.com/office/drawing/2014/main" id="{09071F69-42F4-4BFE-9FFA-1FC6B1957FE1}"/>
              </a:ext>
            </a:extLst>
          </p:cNvPr>
          <p:cNvSpPr>
            <a:spLocks xmlns:a="http://schemas.openxmlformats.org/drawingml/2006/main" noGrp="1"/>
          </p:cNvSpPr>
          <p:nvPr/>
        </p:nvSpPr>
        <p:spPr>
          <a:xfrm xmlns:a="http://schemas.openxmlformats.org/drawingml/2006/main">
            <a:off x="8305800" y="1343025"/>
            <a:ext cx="142875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526272"/>
            </a:solidFill>
            <a:prstDash val="solid"/>
          </a:ln>
        </p:spPr>
      </p:sp>
      <p:sp>
        <p:nvSpPr>
          <p:cNvPr id="17" name="">
            <a:extLst xmlns:a="http://schemas.openxmlformats.org/drawingml/2006/main">
              <a:ext uri="{FF2B5EF4-FFF2-40B4-BE49-F238E27FC236}">
                <a16:creationId xmlns:a16="http://schemas.microsoft.com/office/drawing/2014/main" id="{1FC9AC4E-3DC2-4E1F-AC20-9E1FC689F382}"/>
              </a:ext>
            </a:extLst>
          </p:cNvPr>
          <p:cNvSpPr>
            <a:spLocks xmlns:a="http://schemas.openxmlformats.org/drawingml/2006/main" noGrp="1"/>
          </p:cNvSpPr>
          <p:nvPr/>
        </p:nvSpPr>
        <p:spPr>
          <a:xfrm xmlns:a="http://schemas.openxmlformats.org/drawingml/2006/main">
            <a:off x="8401050" y="1495425"/>
            <a:ext cx="123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a:solidFill>
                  <a:srgbClr val="526272"/>
                </a:solidFill>
                <a:latin typeface="Arial"/>
                <a:ea typeface="Arial"/>
                <a:cs typeface="Arial"/>
              </a:defRPr>
            </a:pPr>
            <a:r>
              <a:rPr sz="1500" b="1">
                <a:solidFill>
                  <a:srgbClr val="526272"/>
                </a:solidFill>
                <a:latin typeface="Arial"/>
                <a:ea typeface="Arial"/>
                <a:cs typeface="Arial"/>
              </a:rPr>
              <a:t>Features</a:t>
            </a:r>
          </a:p>
        </p:txBody>
      </p:sp>
      <p:sp>
        <p:nvSpPr>
          <p:cNvPr id="18" name="">
            <a:extLst xmlns:a="http://schemas.openxmlformats.org/drawingml/2006/main">
              <a:ext uri="{FF2B5EF4-FFF2-40B4-BE49-F238E27FC236}">
                <a16:creationId xmlns:a16="http://schemas.microsoft.com/office/drawing/2014/main" id="{B7A05DF5-08C3-447E-8248-940F48BF78A4}"/>
              </a:ext>
            </a:extLst>
          </p:cNvPr>
          <p:cNvSpPr>
            <a:spLocks xmlns:a="http://schemas.openxmlformats.org/drawingml/2006/main" noGrp="1"/>
          </p:cNvSpPr>
          <p:nvPr/>
        </p:nvSpPr>
        <p:spPr>
          <a:xfrm xmlns:a="http://schemas.openxmlformats.org/drawingml/2006/main">
            <a:off x="8401050" y="1809750"/>
            <a:ext cx="123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526272"/>
                </a:solidFill>
                <a:latin typeface="Arial"/>
                <a:ea typeface="Arial"/>
                <a:cs typeface="Arial"/>
              </a:defRPr>
            </a:pPr>
            <a:r>
              <a:rPr sz="1050" b="0">
                <a:solidFill>
                  <a:srgbClr val="526272"/>
                </a:solidFill>
                <a:latin typeface="Arial"/>
                <a:ea typeface="Arial"/>
                <a:cs typeface="Arial"/>
              </a:rPr>
              <a:t>400 × 2 × 2 = 1,600</a:t>
            </a:r>
          </a:p>
        </p:txBody>
      </p:sp>
      <p:sp>
        <p:nvSpPr>
          <p:cNvPr id="19" name="">
            <a:extLst xmlns:a="http://schemas.openxmlformats.org/drawingml/2006/main">
              <a:ext uri="{FF2B5EF4-FFF2-40B4-BE49-F238E27FC236}">
                <a16:creationId xmlns:a16="http://schemas.microsoft.com/office/drawing/2014/main" id="{2854208B-71AE-4E30-8C5F-054B57287434}"/>
              </a:ext>
            </a:extLst>
          </p:cNvPr>
          <p:cNvSpPr>
            <a:spLocks xmlns:a="http://schemas.openxmlformats.org/drawingml/2006/main" noGrp="1"/>
          </p:cNvSpPr>
          <p:nvPr/>
        </p:nvSpPr>
        <p:spPr>
          <a:xfrm xmlns:a="http://schemas.openxmlformats.org/drawingml/2006/main">
            <a:off x="10115550" y="1343025"/>
            <a:ext cx="1381125"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526272"/>
            </a:solidFill>
            <a:prstDash val="solid"/>
          </a:ln>
        </p:spPr>
      </p:sp>
      <p:sp>
        <p:nvSpPr>
          <p:cNvPr id="20" name="">
            <a:extLst xmlns:a="http://schemas.openxmlformats.org/drawingml/2006/main">
              <a:ext uri="{FF2B5EF4-FFF2-40B4-BE49-F238E27FC236}">
                <a16:creationId xmlns:a16="http://schemas.microsoft.com/office/drawing/2014/main" id="{73B6044E-65D9-4960-8930-7D40B93A1C27}"/>
              </a:ext>
            </a:extLst>
          </p:cNvPr>
          <p:cNvSpPr>
            <a:spLocks xmlns:a="http://schemas.openxmlformats.org/drawingml/2006/main" noGrp="1"/>
          </p:cNvSpPr>
          <p:nvPr/>
        </p:nvSpPr>
        <p:spPr>
          <a:xfrm xmlns:a="http://schemas.openxmlformats.org/drawingml/2006/main">
            <a:off x="10210800" y="1495425"/>
            <a:ext cx="1190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a:solidFill>
                  <a:srgbClr val="526272"/>
                </a:solidFill>
                <a:latin typeface="Arial"/>
                <a:ea typeface="Arial"/>
                <a:cs typeface="Arial"/>
              </a:defRPr>
            </a:pPr>
            <a:r>
              <a:rPr sz="1500" b="1">
                <a:solidFill>
                  <a:srgbClr val="526272"/>
                </a:solidFill>
                <a:latin typeface="Arial"/>
                <a:ea typeface="Arial"/>
                <a:cs typeface="Arial"/>
              </a:rPr>
              <a:t>Ridge</a:t>
            </a:r>
          </a:p>
        </p:txBody>
      </p:sp>
      <p:sp>
        <p:nvSpPr>
          <p:cNvPr id="21" name="">
            <a:extLst xmlns:a="http://schemas.openxmlformats.org/drawingml/2006/main">
              <a:ext uri="{FF2B5EF4-FFF2-40B4-BE49-F238E27FC236}">
                <a16:creationId xmlns:a16="http://schemas.microsoft.com/office/drawing/2014/main" id="{D872E8F2-E0A2-41B2-A927-9F02F94B2B0A}"/>
              </a:ext>
            </a:extLst>
          </p:cNvPr>
          <p:cNvSpPr>
            <a:spLocks xmlns:a="http://schemas.openxmlformats.org/drawingml/2006/main" noGrp="1"/>
          </p:cNvSpPr>
          <p:nvPr/>
        </p:nvSpPr>
        <p:spPr>
          <a:xfrm xmlns:a="http://schemas.openxmlformats.org/drawingml/2006/main">
            <a:off x="10210800" y="1809750"/>
            <a:ext cx="1190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526272"/>
                </a:solidFill>
                <a:latin typeface="Arial"/>
                <a:ea typeface="Arial"/>
                <a:cs typeface="Arial"/>
              </a:defRPr>
            </a:pPr>
            <a:r>
              <a:rPr sz="1050" b="0">
                <a:solidFill>
                  <a:srgbClr val="526272"/>
                </a:solidFill>
                <a:latin typeface="Arial"/>
                <a:ea typeface="Arial"/>
                <a:cs typeface="Arial"/>
              </a:rPr>
              <a:t>CIFAR-10 readout</a:t>
            </a:r>
          </a:p>
        </p:txBody>
      </p:sp>
      <p:sp>
        <p:nvSpPr>
          <p:cNvPr id="22" name="">
            <a:extLst xmlns:a="http://schemas.openxmlformats.org/drawingml/2006/main">
              <a:ext uri="{FF2B5EF4-FFF2-40B4-BE49-F238E27FC236}">
                <a16:creationId xmlns:a16="http://schemas.microsoft.com/office/drawing/2014/main" id="{DF33E8D4-9D1B-4C65-AB57-EC4C2D4CFF9B}"/>
              </a:ext>
            </a:extLst>
          </p:cNvPr>
          <p:cNvSpPr>
            <a:spLocks xmlns:a="http://schemas.openxmlformats.org/drawingml/2006/main" noGrp="1"/>
          </p:cNvSpPr>
          <p:nvPr/>
        </p:nvSpPr>
        <p:spPr>
          <a:xfrm xmlns:a="http://schemas.openxmlformats.org/drawingml/2006/main">
            <a:off x="1943100" y="15811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400" b="1">
                <a:solidFill>
                  <a:srgbClr val="526272"/>
                </a:solidFill>
                <a:latin typeface="Arial"/>
                <a:ea typeface="Arial"/>
                <a:cs typeface="Arial"/>
              </a:defRPr>
            </a:pPr>
            <a:r>
              <a:rPr sz="2400" b="1">
                <a:solidFill>
                  <a:srgbClr val="526272"/>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948B2D21-B582-4C75-AFAB-2E12B45B6609}"/>
              </a:ext>
            </a:extLst>
          </p:cNvPr>
          <p:cNvSpPr>
            <a:spLocks xmlns:a="http://schemas.openxmlformats.org/drawingml/2006/main" noGrp="1"/>
          </p:cNvSpPr>
          <p:nvPr/>
        </p:nvSpPr>
        <p:spPr>
          <a:xfrm xmlns:a="http://schemas.openxmlformats.org/drawingml/2006/main">
            <a:off x="3943350" y="15811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400" b="1">
                <a:solidFill>
                  <a:srgbClr val="526272"/>
                </a:solidFill>
                <a:latin typeface="Arial"/>
                <a:ea typeface="Arial"/>
                <a:cs typeface="Arial"/>
              </a:defRPr>
            </a:pPr>
            <a:r>
              <a:rPr sz="2400" b="1">
                <a:solidFill>
                  <a:srgbClr val="526272"/>
                </a:solidFill>
                <a:latin typeface="Arial"/>
                <a:ea typeface="Arial"/>
                <a:cs typeface="Arial"/>
              </a:rPr>
              <a:t>›</a:t>
            </a:r>
          </a:p>
        </p:txBody>
      </p:sp>
      <p:sp>
        <p:nvSpPr>
          <p:cNvPr id="24" name="">
            <a:extLst xmlns:a="http://schemas.openxmlformats.org/drawingml/2006/main">
              <a:ext uri="{FF2B5EF4-FFF2-40B4-BE49-F238E27FC236}">
                <a16:creationId xmlns:a16="http://schemas.microsoft.com/office/drawing/2014/main" id="{1ED64F61-EC18-4F4C-A907-8A6D2BE7B58C}"/>
              </a:ext>
            </a:extLst>
          </p:cNvPr>
          <p:cNvSpPr>
            <a:spLocks xmlns:a="http://schemas.openxmlformats.org/drawingml/2006/main" noGrp="1"/>
          </p:cNvSpPr>
          <p:nvPr/>
        </p:nvSpPr>
        <p:spPr>
          <a:xfrm xmlns:a="http://schemas.openxmlformats.org/drawingml/2006/main">
            <a:off x="5943600" y="15811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400" b="1">
                <a:solidFill>
                  <a:srgbClr val="526272"/>
                </a:solidFill>
                <a:latin typeface="Arial"/>
                <a:ea typeface="Arial"/>
                <a:cs typeface="Arial"/>
              </a:defRPr>
            </a:pPr>
            <a:r>
              <a:rPr sz="2400" b="1">
                <a:solidFill>
                  <a:srgbClr val="526272"/>
                </a:solidFill>
                <a:latin typeface="Arial"/>
                <a:ea typeface="Arial"/>
                <a:cs typeface="Arial"/>
              </a:rPr>
              <a:t>›</a:t>
            </a:r>
          </a:p>
        </p:txBody>
      </p:sp>
      <p:sp>
        <p:nvSpPr>
          <p:cNvPr id="25" name="">
            <a:extLst xmlns:a="http://schemas.openxmlformats.org/drawingml/2006/main">
              <a:ext uri="{FF2B5EF4-FFF2-40B4-BE49-F238E27FC236}">
                <a16:creationId xmlns:a16="http://schemas.microsoft.com/office/drawing/2014/main" id="{3941FA32-C687-4EA7-A0F6-74E6D040623E}"/>
              </a:ext>
            </a:extLst>
          </p:cNvPr>
          <p:cNvSpPr>
            <a:spLocks xmlns:a="http://schemas.openxmlformats.org/drawingml/2006/main" noGrp="1"/>
          </p:cNvSpPr>
          <p:nvPr/>
        </p:nvSpPr>
        <p:spPr>
          <a:xfrm xmlns:a="http://schemas.openxmlformats.org/drawingml/2006/main">
            <a:off x="7943850" y="15811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400" b="1">
                <a:solidFill>
                  <a:srgbClr val="526272"/>
                </a:solidFill>
                <a:latin typeface="Arial"/>
                <a:ea typeface="Arial"/>
                <a:cs typeface="Arial"/>
              </a:defRPr>
            </a:pPr>
            <a:r>
              <a:rPr sz="2400" b="1">
                <a:solidFill>
                  <a:srgbClr val="526272"/>
                </a:solidFill>
                <a:latin typeface="Arial"/>
                <a:ea typeface="Arial"/>
                <a:cs typeface="Arial"/>
              </a:rPr>
              <a:t>›</a:t>
            </a:r>
          </a:p>
        </p:txBody>
      </p:sp>
      <p:sp>
        <p:nvSpPr>
          <p:cNvPr id="26" name="">
            <a:extLst xmlns:a="http://schemas.openxmlformats.org/drawingml/2006/main">
              <a:ext uri="{FF2B5EF4-FFF2-40B4-BE49-F238E27FC236}">
                <a16:creationId xmlns:a16="http://schemas.microsoft.com/office/drawing/2014/main" id="{E02EBD51-4335-4845-AE33-D834ADDF6C00}"/>
              </a:ext>
            </a:extLst>
          </p:cNvPr>
          <p:cNvSpPr>
            <a:spLocks xmlns:a="http://schemas.openxmlformats.org/drawingml/2006/main" noGrp="1"/>
          </p:cNvSpPr>
          <p:nvPr/>
        </p:nvSpPr>
        <p:spPr>
          <a:xfrm xmlns:a="http://schemas.openxmlformats.org/drawingml/2006/main">
            <a:off x="9753600" y="15811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400" b="1">
                <a:solidFill>
                  <a:srgbClr val="526272"/>
                </a:solidFill>
                <a:latin typeface="Arial"/>
                <a:ea typeface="Arial"/>
                <a:cs typeface="Arial"/>
              </a:defRPr>
            </a:pPr>
            <a:r>
              <a:rPr sz="2400" b="1">
                <a:solidFill>
                  <a:srgbClr val="526272"/>
                </a:solidFill>
                <a:latin typeface="Arial"/>
                <a:ea typeface="Arial"/>
                <a:cs typeface="Arial"/>
              </a:rPr>
              <a:t>›</a:t>
            </a:r>
          </a:p>
        </p:txBody>
      </p:sp>
      <p:sp>
        <p:nvSpPr>
          <p:cNvPr id="27" name="">
            <a:extLst xmlns:a="http://schemas.openxmlformats.org/drawingml/2006/main">
              <a:ext uri="{FF2B5EF4-FFF2-40B4-BE49-F238E27FC236}">
                <a16:creationId xmlns:a16="http://schemas.microsoft.com/office/drawing/2014/main" id="{1BAD7034-843F-440D-9117-F8A625CE040A}"/>
              </a:ext>
            </a:extLst>
          </p:cNvPr>
          <p:cNvSpPr>
            <a:spLocks xmlns:a="http://schemas.openxmlformats.org/drawingml/2006/main" noGrp="1"/>
          </p:cNvSpPr>
          <p:nvPr/>
        </p:nvSpPr>
        <p:spPr>
          <a:xfrm xmlns:a="http://schemas.openxmlformats.org/drawingml/2006/main">
            <a:off x="1676400" y="2524125"/>
            <a:ext cx="8839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a:solidFill>
                  <a:srgbClr val="17222F"/>
                </a:solidFill>
                <a:latin typeface="Arial"/>
                <a:ea typeface="Arial"/>
                <a:cs typeface="Arial"/>
              </a:defRPr>
            </a:pPr>
            <a:r>
              <a:rPr sz="1725" b="1">
                <a:solidFill>
                  <a:srgbClr val="17222F"/>
                </a:solidFill>
                <a:latin typeface="Arial"/>
                <a:ea typeface="Arial"/>
                <a:cs typeface="Arial"/>
              </a:rPr>
              <a:t>WTA activates the positive top-cutoff winner(s), if any</a:t>
            </a:r>
          </a:p>
        </p:txBody>
      </p:sp>
      <p:sp>
        <p:nvSpPr>
          <p:cNvPr id="28" name="">
            <a:extLst xmlns:a="http://schemas.openxmlformats.org/drawingml/2006/main">
              <a:ext uri="{FF2B5EF4-FFF2-40B4-BE49-F238E27FC236}">
                <a16:creationId xmlns:a16="http://schemas.microsoft.com/office/drawing/2014/main" id="{41BD322E-E4B4-4721-9853-4EBDB8239F2A}"/>
              </a:ext>
            </a:extLst>
          </p:cNvPr>
          <p:cNvSpPr>
            <a:spLocks xmlns:a="http://schemas.openxmlformats.org/drawingml/2006/main" noGrp="1"/>
          </p:cNvSpPr>
          <p:nvPr/>
        </p:nvSpPr>
        <p:spPr>
          <a:xfrm xmlns:a="http://schemas.openxmlformats.org/drawingml/2006/main">
            <a:off x="1600200" y="2981325"/>
            <a:ext cx="8991600" cy="457200"/>
          </a:xfrm>
          <a:prstGeom xmlns:a="http://schemas.openxmlformats.org/drawingml/2006/main" prst="roundRect">
            <a:avLst>
              <a:gd name="adj" fmla="val 20833"/>
            </a:avLst>
          </a:prstGeom>
          <a:solidFill xmlns:a="http://schemas.openxmlformats.org/drawingml/2006/main">
            <a:srgbClr val="DDF3EC"/>
          </a:solidFill>
          <a:ln xmlns:a="http://schemas.openxmlformats.org/drawingml/2006/main" w="9525">
            <a:solidFill>
              <a:srgbClr val="009E73"/>
            </a:solidFill>
            <a:prstDash val="solid"/>
          </a:ln>
        </p:spPr>
      </p:sp>
      <p:sp>
        <p:nvSpPr>
          <p:cNvPr id="29" name="">
            <a:extLst xmlns:a="http://schemas.openxmlformats.org/drawingml/2006/main">
              <a:ext uri="{FF2B5EF4-FFF2-40B4-BE49-F238E27FC236}">
                <a16:creationId xmlns:a16="http://schemas.microsoft.com/office/drawing/2014/main" id="{E4174AB4-77C0-4C2C-8D7D-ABF64F2E4328}"/>
              </a:ext>
            </a:extLst>
          </p:cNvPr>
          <p:cNvSpPr>
            <a:spLocks xmlns:a="http://schemas.openxmlformats.org/drawingml/2006/main" noGrp="1"/>
          </p:cNvSpPr>
          <p:nvPr/>
        </p:nvSpPr>
        <p:spPr>
          <a:xfrm xmlns:a="http://schemas.openxmlformats.org/drawingml/2006/main">
            <a:off x="1752600" y="3076575"/>
            <a:ext cx="8686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425" b="1">
                <a:solidFill>
                  <a:srgbClr val="009E73"/>
                </a:solidFill>
                <a:latin typeface="Arial"/>
                <a:ea typeface="Arial"/>
                <a:cs typeface="Arial"/>
              </a:defRPr>
            </a:pPr>
            <a:r>
              <a:rPr sz="1425" b="1">
                <a:solidFill>
                  <a:srgbClr val="009E73"/>
                </a:solidFill>
                <a:latin typeface="Arial"/>
                <a:ea typeface="Arial"/>
                <a:cs typeface="Arial"/>
              </a:rPr>
              <a:t>Deterministic test batch: update matched for all 3 layers within atol 1e−6 and rtol 1e−5</a:t>
            </a:r>
          </a:p>
        </p:txBody>
      </p:sp>
      <p:sp>
        <p:nvSpPr>
          <p:cNvPr id="30" name="">
            <a:extLst xmlns:a="http://schemas.openxmlformats.org/drawingml/2006/main">
              <a:ext uri="{FF2B5EF4-FFF2-40B4-BE49-F238E27FC236}">
                <a16:creationId xmlns:a16="http://schemas.microsoft.com/office/drawing/2014/main" id="{2B296092-F77B-4A5B-8A64-605D7B0D4A4C}"/>
              </a:ext>
            </a:extLst>
          </p:cNvPr>
          <p:cNvSpPr>
            <a:spLocks xmlns:a="http://schemas.openxmlformats.org/drawingml/2006/main" noGrp="1"/>
          </p:cNvSpPr>
          <p:nvPr/>
        </p:nvSpPr>
        <p:spPr>
          <a:xfrm xmlns:a="http://schemas.openxmlformats.org/drawingml/2006/main">
            <a:off x="857250" y="4029075"/>
            <a:ext cx="114300" cy="438150"/>
          </a:xfrm>
          <a:prstGeom xmlns:a="http://schemas.openxmlformats.org/drawingml/2006/main" prst="roundRect">
            <a:avLst>
              <a:gd name="adj" fmla="val 50000"/>
            </a:avLst>
          </a:prstGeom>
          <a:solidFill xmlns:a="http://schemas.openxmlformats.org/drawingml/2006/main">
            <a:srgbClr val="0072B2"/>
          </a:solidFill>
          <a:ln xmlns:a="http://schemas.openxmlformats.org/drawingml/2006/main" w="9525">
            <a:solidFill>
              <a:srgbClr val="0072B2"/>
            </a:solidFill>
            <a:prstDash val="solid"/>
          </a:ln>
        </p:spPr>
      </p:sp>
      <p:sp>
        <p:nvSpPr>
          <p:cNvPr id="31" name="">
            <a:extLst xmlns:a="http://schemas.openxmlformats.org/drawingml/2006/main">
              <a:ext uri="{FF2B5EF4-FFF2-40B4-BE49-F238E27FC236}">
                <a16:creationId xmlns:a16="http://schemas.microsoft.com/office/drawing/2014/main" id="{3439E024-5192-4E72-9F9E-FFD5FF68D571}"/>
              </a:ext>
            </a:extLst>
          </p:cNvPr>
          <p:cNvSpPr>
            <a:spLocks xmlns:a="http://schemas.openxmlformats.org/drawingml/2006/main" noGrp="1"/>
          </p:cNvSpPr>
          <p:nvPr/>
        </p:nvSpPr>
        <p:spPr>
          <a:xfrm xmlns:a="http://schemas.openxmlformats.org/drawingml/2006/main">
            <a:off x="1085850" y="3962400"/>
            <a:ext cx="2152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a:solidFill>
                  <a:srgbClr val="0072B2"/>
                </a:solidFill>
                <a:latin typeface="Arial"/>
                <a:ea typeface="Arial"/>
                <a:cs typeface="Arial"/>
              </a:defRPr>
            </a:pPr>
            <a:r>
              <a:rPr sz="1650" b="1">
                <a:solidFill>
                  <a:srgbClr val="0072B2"/>
                </a:solidFill>
                <a:latin typeface="Arial"/>
                <a:ea typeface="Arial"/>
                <a:cs typeface="Arial"/>
              </a:rPr>
              <a:t>A1</a:t>
            </a:r>
          </a:p>
        </p:txBody>
      </p:sp>
      <p:sp>
        <p:nvSpPr>
          <p:cNvPr id="32" name="">
            <a:extLst xmlns:a="http://schemas.openxmlformats.org/drawingml/2006/main">
              <a:ext uri="{FF2B5EF4-FFF2-40B4-BE49-F238E27FC236}">
                <a16:creationId xmlns:a16="http://schemas.microsoft.com/office/drawing/2014/main" id="{EDC4BDBD-4B8F-4F12-8206-602D00205E18}"/>
              </a:ext>
            </a:extLst>
          </p:cNvPr>
          <p:cNvSpPr>
            <a:spLocks xmlns:a="http://schemas.openxmlformats.org/drawingml/2006/main" noGrp="1"/>
          </p:cNvSpPr>
          <p:nvPr/>
        </p:nvSpPr>
        <p:spPr>
          <a:xfrm xmlns:a="http://schemas.openxmlformats.org/drawingml/2006/main">
            <a:off x="1085850" y="4238625"/>
            <a:ext cx="2152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a:solidFill>
                  <a:srgbClr val="526272"/>
                </a:solidFill>
                <a:latin typeface="Arial"/>
                <a:ea typeface="Arial"/>
                <a:cs typeface="Arial"/>
              </a:defRPr>
            </a:pPr>
            <a:r>
              <a:rPr sz="1125" b="0">
                <a:solidFill>
                  <a:srgbClr val="526272"/>
                </a:solidFill>
                <a:latin typeface="Arial"/>
                <a:ea typeface="Arial"/>
                <a:cs typeface="Arial"/>
              </a:rPr>
              <a:t>Verified direct/local dense</a:t>
            </a:r>
          </a:p>
        </p:txBody>
      </p:sp>
      <p:sp>
        <p:nvSpPr>
          <p:cNvPr id="33" name="">
            <a:extLst xmlns:a="http://schemas.openxmlformats.org/drawingml/2006/main">
              <a:ext uri="{FF2B5EF4-FFF2-40B4-BE49-F238E27FC236}">
                <a16:creationId xmlns:a16="http://schemas.microsoft.com/office/drawing/2014/main" id="{38E33B2A-24EB-47B6-A2A5-687253722300}"/>
              </a:ext>
            </a:extLst>
          </p:cNvPr>
          <p:cNvSpPr>
            <a:spLocks xmlns:a="http://schemas.openxmlformats.org/drawingml/2006/main" noGrp="1"/>
          </p:cNvSpPr>
          <p:nvPr/>
        </p:nvSpPr>
        <p:spPr>
          <a:xfrm xmlns:a="http://schemas.openxmlformats.org/drawingml/2006/main">
            <a:off x="3524250" y="4029075"/>
            <a:ext cx="114300" cy="438150"/>
          </a:xfrm>
          <a:prstGeom xmlns:a="http://schemas.openxmlformats.org/drawingml/2006/main" prst="roundRect">
            <a:avLst>
              <a:gd name="adj" fmla="val 50000"/>
            </a:avLst>
          </a:prstGeom>
          <a:solidFill xmlns:a="http://schemas.openxmlformats.org/drawingml/2006/main">
            <a:srgbClr val="E69F00"/>
          </a:solidFill>
          <a:ln xmlns:a="http://schemas.openxmlformats.org/drawingml/2006/main" w="9525">
            <a:solidFill>
              <a:srgbClr val="E69F00"/>
            </a:solidFill>
            <a:prstDash val="solid"/>
          </a:ln>
        </p:spPr>
      </p:sp>
      <p:sp>
        <p:nvSpPr>
          <p:cNvPr id="34" name="">
            <a:extLst xmlns:a="http://schemas.openxmlformats.org/drawingml/2006/main">
              <a:ext uri="{FF2B5EF4-FFF2-40B4-BE49-F238E27FC236}">
                <a16:creationId xmlns:a16="http://schemas.microsoft.com/office/drawing/2014/main" id="{C5CAEC1B-5046-4328-817D-E8B0AB203C1C}"/>
              </a:ext>
            </a:extLst>
          </p:cNvPr>
          <p:cNvSpPr>
            <a:spLocks xmlns:a="http://schemas.openxmlformats.org/drawingml/2006/main" noGrp="1"/>
          </p:cNvSpPr>
          <p:nvPr/>
        </p:nvSpPr>
        <p:spPr>
          <a:xfrm xmlns:a="http://schemas.openxmlformats.org/drawingml/2006/main">
            <a:off x="3752850" y="3962400"/>
            <a:ext cx="2247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a:solidFill>
                  <a:srgbClr val="E69F00"/>
                </a:solidFill>
                <a:latin typeface="Arial"/>
                <a:ea typeface="Arial"/>
                <a:cs typeface="Arial"/>
              </a:defRPr>
            </a:pPr>
            <a:r>
              <a:rPr sz="1650" b="1">
                <a:solidFill>
                  <a:srgbClr val="E69F00"/>
                </a:solidFill>
                <a:latin typeface="Arial"/>
                <a:ea typeface="Arial"/>
                <a:cs typeface="Arial"/>
              </a:rPr>
              <a:t>A2 conditional</a:t>
            </a:r>
          </a:p>
        </p:txBody>
      </p:sp>
      <p:sp>
        <p:nvSpPr>
          <p:cNvPr id="35" name="">
            <a:extLst xmlns:a="http://schemas.openxmlformats.org/drawingml/2006/main">
              <a:ext uri="{FF2B5EF4-FFF2-40B4-BE49-F238E27FC236}">
                <a16:creationId xmlns:a16="http://schemas.microsoft.com/office/drawing/2014/main" id="{BD301433-5A32-4D83-ABD4-D06EB1E39AF1}"/>
              </a:ext>
            </a:extLst>
          </p:cNvPr>
          <p:cNvSpPr>
            <a:spLocks xmlns:a="http://schemas.openxmlformats.org/drawingml/2006/main" noGrp="1"/>
          </p:cNvSpPr>
          <p:nvPr/>
        </p:nvSpPr>
        <p:spPr>
          <a:xfrm xmlns:a="http://schemas.openxmlformats.org/drawingml/2006/main">
            <a:off x="3752850" y="4238625"/>
            <a:ext cx="2247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a:solidFill>
                  <a:srgbClr val="526272"/>
                </a:solidFill>
                <a:latin typeface="Arial"/>
                <a:ea typeface="Arial"/>
                <a:cs typeface="Arial"/>
              </a:defRPr>
            </a:pPr>
            <a:r>
              <a:rPr sz="1125" b="0">
                <a:solidFill>
                  <a:srgbClr val="526272"/>
                </a:solidFill>
                <a:latin typeface="Arial"/>
                <a:ea typeface="Arial"/>
                <a:cs typeface="Arial"/>
              </a:rPr>
              <a:t>Sparse storage + sparse kernels</a:t>
            </a:r>
          </a:p>
        </p:txBody>
      </p:sp>
      <p:sp>
        <p:nvSpPr>
          <p:cNvPr id="36" name="">
            <a:extLst xmlns:a="http://schemas.openxmlformats.org/drawingml/2006/main">
              <a:ext uri="{FF2B5EF4-FFF2-40B4-BE49-F238E27FC236}">
                <a16:creationId xmlns:a16="http://schemas.microsoft.com/office/drawing/2014/main" id="{90474A33-1366-42F6-9B1D-D19F2EEA3B25}"/>
              </a:ext>
            </a:extLst>
          </p:cNvPr>
          <p:cNvSpPr>
            <a:spLocks xmlns:a="http://schemas.openxmlformats.org/drawingml/2006/main" noGrp="1"/>
          </p:cNvSpPr>
          <p:nvPr/>
        </p:nvSpPr>
        <p:spPr>
          <a:xfrm xmlns:a="http://schemas.openxmlformats.org/drawingml/2006/main">
            <a:off x="6286500" y="4029075"/>
            <a:ext cx="114300" cy="438150"/>
          </a:xfrm>
          <a:prstGeom xmlns:a="http://schemas.openxmlformats.org/drawingml/2006/main" prst="roundRect">
            <a:avLst>
              <a:gd name="adj" fmla="val 50000"/>
            </a:avLst>
          </a:prstGeom>
          <a:solidFill xmlns:a="http://schemas.openxmlformats.org/drawingml/2006/main">
            <a:srgbClr val="009E73"/>
          </a:solidFill>
          <a:ln xmlns:a="http://schemas.openxmlformats.org/drawingml/2006/main" w="9525">
            <a:solidFill>
              <a:srgbClr val="009E73"/>
            </a:solidFill>
            <a:prstDash val="solid"/>
          </a:ln>
        </p:spPr>
      </p:sp>
      <p:sp>
        <p:nvSpPr>
          <p:cNvPr id="37" name="">
            <a:extLst xmlns:a="http://schemas.openxmlformats.org/drawingml/2006/main">
              <a:ext uri="{FF2B5EF4-FFF2-40B4-BE49-F238E27FC236}">
                <a16:creationId xmlns:a16="http://schemas.microsoft.com/office/drawing/2014/main" id="{B7857449-37C8-441A-A949-C711C644C5C5}"/>
              </a:ext>
            </a:extLst>
          </p:cNvPr>
          <p:cNvSpPr>
            <a:spLocks xmlns:a="http://schemas.openxmlformats.org/drawingml/2006/main" noGrp="1"/>
          </p:cNvSpPr>
          <p:nvPr/>
        </p:nvSpPr>
        <p:spPr>
          <a:xfrm xmlns:a="http://schemas.openxmlformats.org/drawingml/2006/main">
            <a:off x="6515100" y="3962400"/>
            <a:ext cx="1962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a:solidFill>
                  <a:srgbClr val="009E73"/>
                </a:solidFill>
                <a:latin typeface="Arial"/>
                <a:ea typeface="Arial"/>
                <a:cs typeface="Arial"/>
              </a:defRPr>
            </a:pPr>
            <a:r>
              <a:rPr sz="1650" b="1">
                <a:solidFill>
                  <a:srgbClr val="009E73"/>
                </a:solidFill>
                <a:latin typeface="Arial"/>
                <a:ea typeface="Arial"/>
                <a:cs typeface="Arial"/>
              </a:rPr>
              <a:t>B</a:t>
            </a:r>
          </a:p>
        </p:txBody>
      </p:sp>
      <p:sp>
        <p:nvSpPr>
          <p:cNvPr id="38" name="">
            <a:extLst xmlns:a="http://schemas.openxmlformats.org/drawingml/2006/main">
              <a:ext uri="{FF2B5EF4-FFF2-40B4-BE49-F238E27FC236}">
                <a16:creationId xmlns:a16="http://schemas.microsoft.com/office/drawing/2014/main" id="{DE5177FA-7354-48FA-BA67-D830FE9023FE}"/>
              </a:ext>
            </a:extLst>
          </p:cNvPr>
          <p:cNvSpPr>
            <a:spLocks xmlns:a="http://schemas.openxmlformats.org/drawingml/2006/main" noGrp="1"/>
          </p:cNvSpPr>
          <p:nvPr/>
        </p:nvSpPr>
        <p:spPr>
          <a:xfrm xmlns:a="http://schemas.openxmlformats.org/drawingml/2006/main">
            <a:off x="6515100" y="4238625"/>
            <a:ext cx="1962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a:solidFill>
                  <a:srgbClr val="526272"/>
                </a:solidFill>
                <a:latin typeface="Arial"/>
                <a:ea typeface="Arial"/>
                <a:cs typeface="Arial"/>
              </a:defRPr>
            </a:pPr>
            <a:r>
              <a:rPr sz="1125" b="0">
                <a:solidFill>
                  <a:srgbClr val="526272"/>
                </a:solidFill>
                <a:latin typeface="Arial"/>
                <a:ea typeface="Arial"/>
                <a:cs typeface="Arial"/>
              </a:rPr>
              <a:t>Current surrogate/autograd</a:t>
            </a:r>
          </a:p>
        </p:txBody>
      </p:sp>
      <p:sp>
        <p:nvSpPr>
          <p:cNvPr id="39" name="">
            <a:extLst xmlns:a="http://schemas.openxmlformats.org/drawingml/2006/main">
              <a:ext uri="{FF2B5EF4-FFF2-40B4-BE49-F238E27FC236}">
                <a16:creationId xmlns:a16="http://schemas.microsoft.com/office/drawing/2014/main" id="{51A0A97A-F6D3-43BE-AA2D-C64338FA806A}"/>
              </a:ext>
            </a:extLst>
          </p:cNvPr>
          <p:cNvSpPr>
            <a:spLocks xmlns:a="http://schemas.openxmlformats.org/drawingml/2006/main" noGrp="1"/>
          </p:cNvSpPr>
          <p:nvPr/>
        </p:nvSpPr>
        <p:spPr>
          <a:xfrm xmlns:a="http://schemas.openxmlformats.org/drawingml/2006/main">
            <a:off x="8858250" y="4029075"/>
            <a:ext cx="114300" cy="438150"/>
          </a:xfrm>
          <a:prstGeom xmlns:a="http://schemas.openxmlformats.org/drawingml/2006/main" prst="roundRect">
            <a:avLst>
              <a:gd name="adj" fmla="val 50000"/>
            </a:avLst>
          </a:prstGeom>
          <a:solidFill xmlns:a="http://schemas.openxmlformats.org/drawingml/2006/main">
            <a:srgbClr val="4D4D4D"/>
          </a:solidFill>
          <a:ln xmlns:a="http://schemas.openxmlformats.org/drawingml/2006/main" w="9525">
            <a:solidFill>
              <a:srgbClr val="4D4D4D"/>
            </a:solidFill>
            <a:prstDash val="solid"/>
          </a:ln>
        </p:spPr>
      </p:sp>
      <p:sp>
        <p:nvSpPr>
          <p:cNvPr id="40" name="">
            <a:extLst xmlns:a="http://schemas.openxmlformats.org/drawingml/2006/main">
              <a:ext uri="{FF2B5EF4-FFF2-40B4-BE49-F238E27FC236}">
                <a16:creationId xmlns:a16="http://schemas.microsoft.com/office/drawing/2014/main" id="{9DDC9778-C2F6-42A2-BAC7-DE14CEB365C4}"/>
              </a:ext>
            </a:extLst>
          </p:cNvPr>
          <p:cNvSpPr>
            <a:spLocks xmlns:a="http://schemas.openxmlformats.org/drawingml/2006/main" noGrp="1"/>
          </p:cNvSpPr>
          <p:nvPr/>
        </p:nvSpPr>
        <p:spPr>
          <a:xfrm xmlns:a="http://schemas.openxmlformats.org/drawingml/2006/main">
            <a:off x="9086850" y="3962400"/>
            <a:ext cx="2247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a:solidFill>
                  <a:srgbClr val="4D4D4D"/>
                </a:solidFill>
                <a:latin typeface="Arial"/>
                <a:ea typeface="Arial"/>
                <a:cs typeface="Arial"/>
              </a:defRPr>
            </a:pPr>
            <a:r>
              <a:rPr sz="1650" b="1">
                <a:solidFill>
                  <a:srgbClr val="4D4D4D"/>
                </a:solidFill>
                <a:latin typeface="Arial"/>
                <a:ea typeface="Arial"/>
                <a:cs typeface="Arial"/>
              </a:rPr>
              <a:t>BP</a:t>
            </a:r>
          </a:p>
        </p:txBody>
      </p:sp>
      <p:sp>
        <p:nvSpPr>
          <p:cNvPr id="41" name="">
            <a:extLst xmlns:a="http://schemas.openxmlformats.org/drawingml/2006/main">
              <a:ext uri="{FF2B5EF4-FFF2-40B4-BE49-F238E27FC236}">
                <a16:creationId xmlns:a16="http://schemas.microsoft.com/office/drawing/2014/main" id="{CEC19F6D-DF4D-42F4-A09A-560B2859ACC5}"/>
              </a:ext>
            </a:extLst>
          </p:cNvPr>
          <p:cNvSpPr>
            <a:spLocks xmlns:a="http://schemas.openxmlformats.org/drawingml/2006/main" noGrp="1"/>
          </p:cNvSpPr>
          <p:nvPr/>
        </p:nvSpPr>
        <p:spPr>
          <a:xfrm xmlns:a="http://schemas.openxmlformats.org/drawingml/2006/main">
            <a:off x="9086850" y="4238625"/>
            <a:ext cx="2247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a:solidFill>
                  <a:srgbClr val="526272"/>
                </a:solidFill>
                <a:latin typeface="Arial"/>
                <a:ea typeface="Arial"/>
                <a:cs typeface="Arial"/>
              </a:defRPr>
            </a:pPr>
            <a:r>
              <a:rPr sz="1125" b="0">
                <a:solidFill>
                  <a:srgbClr val="526272"/>
                </a:solidFill>
                <a:latin typeface="Arial"/>
                <a:ea typeface="Arial"/>
                <a:cs typeface="Arial"/>
              </a:rPr>
              <a:t>Equal-architecture reference</a:t>
            </a:r>
          </a:p>
        </p:txBody>
      </p:sp>
      <p:sp>
        <p:nvSpPr>
          <p:cNvPr id="42" name="">
            <a:extLst xmlns:a="http://schemas.openxmlformats.org/drawingml/2006/main">
              <a:ext uri="{FF2B5EF4-FFF2-40B4-BE49-F238E27FC236}">
                <a16:creationId xmlns:a16="http://schemas.microsoft.com/office/drawing/2014/main" id="{13713FFE-79B3-47A8-9E6D-B886EFB80742}"/>
              </a:ext>
            </a:extLst>
          </p:cNvPr>
          <p:cNvSpPr>
            <a:spLocks xmlns:a="http://schemas.openxmlformats.org/drawingml/2006/main" noGrp="1"/>
          </p:cNvSpPr>
          <p:nvPr/>
        </p:nvSpPr>
        <p:spPr>
          <a:xfrm xmlns:a="http://schemas.openxmlformats.org/drawingml/2006/main">
            <a:off x="857250" y="4953000"/>
            <a:ext cx="10477500" cy="9525"/>
          </a:xfrm>
          <a:prstGeom xmlns:a="http://schemas.openxmlformats.org/drawingml/2006/main" prst="line">
            <a:avLst/>
          </a:prstGeom>
          <a:noFill xmlns:a="http://schemas.openxmlformats.org/drawingml/2006/main"/>
          <a:ln xmlns:a="http://schemas.openxmlformats.org/drawingml/2006/main" w="9525">
            <a:solidFill>
              <a:srgbClr val="D9E0E5"/>
            </a:solidFill>
            <a:prstDash val="solid"/>
          </a:ln>
        </p:spPr>
      </p:sp>
      <p:sp>
        <p:nvSpPr>
          <p:cNvPr id="43" name="">
            <a:extLst xmlns:a="http://schemas.openxmlformats.org/drawingml/2006/main">
              <a:ext uri="{FF2B5EF4-FFF2-40B4-BE49-F238E27FC236}">
                <a16:creationId xmlns:a16="http://schemas.microsoft.com/office/drawing/2014/main" id="{3AB7647D-ADFB-44D2-B600-04C93141DEAE}"/>
              </a:ext>
            </a:extLst>
          </p:cNvPr>
          <p:cNvSpPr>
            <a:spLocks xmlns:a="http://schemas.openxmlformats.org/drawingml/2006/main" noGrp="1"/>
          </p:cNvSpPr>
          <p:nvPr/>
        </p:nvSpPr>
        <p:spPr>
          <a:xfrm xmlns:a="http://schemas.openxmlformats.org/drawingml/2006/main">
            <a:off x="1219200" y="5295900"/>
            <a:ext cx="9753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650" b="1">
                <a:solidFill>
                  <a:srgbClr val="A33A3A"/>
                </a:solidFill>
                <a:latin typeface="Arial"/>
                <a:ea typeface="Arial"/>
                <a:cs typeface="Arial"/>
              </a:defRPr>
            </a:pPr>
            <a:r>
              <a:rPr sz="1650" b="1">
                <a:solidFill>
                  <a:srgbClr val="A33A3A"/>
                </a:solidFill>
                <a:latin typeface="Arial"/>
                <a:ea typeface="Arial"/>
                <a:cs typeface="Arial"/>
              </a:rPr>
              <a:t>A2 conditional is an analytical opportunity estimate. The current PyTorch notebook executes dense operations.</a:t>
            </a:r>
          </a:p>
        </p:txBody>
      </p:sp>
    </p:spTree>
    <p:extLst>
      <p:ext uri="{BB962C8B-B14F-4D97-AF65-F5344CB8AC3E}">
        <p14:creationId xmlns:p14="http://schemas.microsoft.com/office/powerpoint/2010/main" val="1296877957"/>
      </p:ext>
    </p:extLst>
  </p:cSld>
</p:sld>
</file>

<file path=ppt/slides/slide4.xml><?xml version="1.0" encoding="utf-8"?>
<p:sld xmlns:p="http://schemas.openxmlformats.org/presentationml/2006/main">
  <p:cSld>
    <p:bg>
      <p:bgPr>
        <a:solidFill xmlns:a="http://schemas.openxmlformats.org/drawingml/2006/main">
          <a:srgbClr val="F7F8F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338F071-9BB2-46E6-92D3-F5FF390D29EA}"/>
              </a:ext>
            </a:extLst>
          </p:cNvPr>
          <p:cNvSpPr>
            <a:spLocks xmlns:a="http://schemas.openxmlformats.org/drawingml/2006/main" noGrp="1"/>
          </p:cNvSpPr>
          <p:nvPr/>
        </p:nvSpPr>
        <p:spPr>
          <a:xfrm xmlns:a="http://schemas.openxmlformats.org/drawingml/2006/main">
            <a:off x="609600" y="333375"/>
            <a:ext cx="9715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17222F"/>
                </a:solidFill>
                <a:latin typeface="Arial"/>
                <a:ea typeface="Arial"/>
                <a:cs typeface="Arial"/>
              </a:defRPr>
            </a:pPr>
            <a:r>
              <a:rPr sz="2550" b="1">
                <a:solidFill>
                  <a:srgbClr val="17222F"/>
                </a:solidFill>
                <a:latin typeface="Arial"/>
                <a:ea typeface="Arial"/>
                <a:cs typeface="Arial"/>
              </a:rPr>
              <a:t>Matched-work compute: one batch of 100</a:t>
            </a:r>
          </a:p>
        </p:txBody>
      </p:sp>
      <p:sp>
        <p:nvSpPr>
          <p:cNvPr id="2" name="">
            <a:extLst xmlns:a="http://schemas.openxmlformats.org/drawingml/2006/main">
              <a:ext uri="{FF2B5EF4-FFF2-40B4-BE49-F238E27FC236}">
                <a16:creationId xmlns:a16="http://schemas.microsoft.com/office/drawing/2014/main" id="{FF0A6E38-2A6C-4151-AA08-9B78923969F7}"/>
              </a:ext>
            </a:extLst>
          </p:cNvPr>
          <p:cNvSpPr>
            <a:spLocks xmlns:a="http://schemas.openxmlformats.org/drawingml/2006/main" noGrp="1"/>
          </p:cNvSpPr>
          <p:nvPr/>
        </p:nvSpPr>
        <p:spPr>
          <a:xfrm xmlns:a="http://schemas.openxmlformats.org/drawingml/2006/main">
            <a:off x="609600" y="942975"/>
            <a:ext cx="10972800" cy="9525"/>
          </a:xfrm>
          <a:prstGeom xmlns:a="http://schemas.openxmlformats.org/drawingml/2006/main" prst="line">
            <a:avLst/>
          </a:prstGeom>
          <a:noFill xmlns:a="http://schemas.openxmlformats.org/drawingml/2006/main"/>
          <a:ln xmlns:a="http://schemas.openxmlformats.org/drawingml/2006/main" w="9525">
            <a:solidFill>
              <a:srgbClr val="D9E0E5"/>
            </a:solidFill>
            <a:prstDash val="solid"/>
          </a:ln>
        </p:spPr>
      </p:sp>
      <p:sp>
        <p:nvSpPr>
          <p:cNvPr id="3" name="">
            <a:extLst xmlns:a="http://schemas.openxmlformats.org/drawingml/2006/main">
              <a:ext uri="{FF2B5EF4-FFF2-40B4-BE49-F238E27FC236}">
                <a16:creationId xmlns:a16="http://schemas.microsoft.com/office/drawing/2014/main" id="{66C88E67-835D-46F6-B48B-C12C35C51528}"/>
              </a:ext>
            </a:extLst>
          </p:cNvPr>
          <p:cNvSpPr>
            <a:spLocks xmlns:a="http://schemas.openxmlformats.org/drawingml/2006/main" noGrp="1"/>
          </p:cNvSpPr>
          <p:nvPr/>
        </p:nvSpPr>
        <p:spPr>
          <a:xfrm xmlns:a="http://schemas.openxmlformats.org/drawingml/2006/main">
            <a:off x="11144250" y="381000"/>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526272"/>
                </a:solidFill>
                <a:latin typeface="Arial"/>
                <a:ea typeface="Arial"/>
                <a:cs typeface="Arial"/>
              </a:defRPr>
            </a:pPr>
            <a:r>
              <a:rPr sz="1125" b="1">
                <a:solidFill>
                  <a:srgbClr val="526272"/>
                </a:solidFill>
                <a:latin typeface="Arial"/>
                <a:ea typeface="Arial"/>
                <a:cs typeface="Arial"/>
              </a:rPr>
              <a:t>04</a:t>
            </a:r>
          </a:p>
        </p:txBody>
      </p:sp>
      <p:graphicFrame>
        <p:nvGraphicFramePr>
          <p:cNvPr id="18" name="Chart"/>
          <p:cNvGraphicFramePr/>
          <p:nvPr/>
        </p:nvGraphicFramePr>
        <p:xfrm>
          <a:off xmlns:a="http://schemas.openxmlformats.org/drawingml/2006/main" x="685800" y="1285875"/>
          <a:ext xmlns:a="http://schemas.openxmlformats.org/drawingml/2006/main" cx="7239000" cy="4048125"/>
        </p:xfrm>
        <a:graphic xmlns:a="http://schemas.openxmlformats.org/drawingml/2006/main">
          <a:graphicData uri="http://schemas.openxmlformats.org/drawingml/2006/chart">
            <c:chart xmlns:r="http://schemas.openxmlformats.org/officeDocument/2006/relationships" xmlns:c="http://schemas.openxmlformats.org/drawingml/2006/chart" r:id="Raf51767c5f8546d0"/>
          </a:graphicData>
        </a:graphic>
      </p:graphicFrame>
      <p:sp>
        <p:nvSpPr>
          <p:cNvPr id="5" name="">
            <a:extLst xmlns:a="http://schemas.openxmlformats.org/drawingml/2006/main">
              <a:ext uri="{FF2B5EF4-FFF2-40B4-BE49-F238E27FC236}">
                <a16:creationId xmlns:a16="http://schemas.microsoft.com/office/drawing/2014/main" id="{BE7C3294-A02F-493F-B3F8-4786476D333D}"/>
              </a:ext>
            </a:extLst>
          </p:cNvPr>
          <p:cNvSpPr>
            <a:spLocks xmlns:a="http://schemas.openxmlformats.org/drawingml/2006/main" noGrp="1"/>
          </p:cNvSpPr>
          <p:nvPr/>
        </p:nvSpPr>
        <p:spPr>
          <a:xfrm xmlns:a="http://schemas.openxmlformats.org/drawingml/2006/main">
            <a:off x="8620125" y="1428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526272"/>
                </a:solidFill>
                <a:latin typeface="Arial"/>
                <a:ea typeface="Arial"/>
                <a:cs typeface="Arial"/>
              </a:defRPr>
            </a:pPr>
            <a:r>
              <a:rPr sz="1350" b="1">
                <a:solidFill>
                  <a:srgbClr val="526272"/>
                </a:solidFill>
                <a:latin typeface="Arial"/>
                <a:ea typeface="Arial"/>
                <a:cs typeface="Arial"/>
              </a:rPr>
              <a:t>BP relative to</a:t>
            </a:r>
          </a:p>
        </p:txBody>
      </p:sp>
      <p:sp>
        <p:nvSpPr>
          <p:cNvPr id="6" name="">
            <a:extLst xmlns:a="http://schemas.openxmlformats.org/drawingml/2006/main">
              <a:ext uri="{FF2B5EF4-FFF2-40B4-BE49-F238E27FC236}">
                <a16:creationId xmlns:a16="http://schemas.microsoft.com/office/drawing/2014/main" id="{E68BD72C-63C5-4B42-9644-D4993E0B5F2B}"/>
              </a:ext>
            </a:extLst>
          </p:cNvPr>
          <p:cNvSpPr>
            <a:spLocks xmlns:a="http://schemas.openxmlformats.org/drawingml/2006/main" noGrp="1"/>
          </p:cNvSpPr>
          <p:nvPr/>
        </p:nvSpPr>
        <p:spPr>
          <a:xfrm xmlns:a="http://schemas.openxmlformats.org/drawingml/2006/main">
            <a:off x="8620125" y="181927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700" b="1">
                <a:solidFill>
                  <a:srgbClr val="0072B2"/>
                </a:solidFill>
                <a:latin typeface="Arial"/>
                <a:ea typeface="Arial"/>
                <a:cs typeface="Arial"/>
              </a:defRPr>
            </a:pPr>
            <a:r>
              <a:rPr sz="2700" b="1">
                <a:solidFill>
                  <a:srgbClr val="0072B2"/>
                </a:solidFill>
                <a:latin typeface="Arial"/>
                <a:ea typeface="Arial"/>
                <a:cs typeface="Arial"/>
              </a:rPr>
              <a:t>2.819×</a:t>
            </a:r>
          </a:p>
        </p:txBody>
      </p:sp>
      <p:sp>
        <p:nvSpPr>
          <p:cNvPr id="7" name="">
            <a:extLst xmlns:a="http://schemas.openxmlformats.org/drawingml/2006/main">
              <a:ext uri="{FF2B5EF4-FFF2-40B4-BE49-F238E27FC236}">
                <a16:creationId xmlns:a16="http://schemas.microsoft.com/office/drawing/2014/main" id="{D8F5429E-2669-4859-B4C4-7A8A840FB97B}"/>
              </a:ext>
            </a:extLst>
          </p:cNvPr>
          <p:cNvSpPr>
            <a:spLocks xmlns:a="http://schemas.openxmlformats.org/drawingml/2006/main" noGrp="1"/>
          </p:cNvSpPr>
          <p:nvPr/>
        </p:nvSpPr>
        <p:spPr>
          <a:xfrm xmlns:a="http://schemas.openxmlformats.org/drawingml/2006/main">
            <a:off x="8620125" y="2276475"/>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526272"/>
                </a:solidFill>
                <a:latin typeface="Arial"/>
                <a:ea typeface="Arial"/>
                <a:cs typeface="Arial"/>
              </a:defRPr>
            </a:pPr>
            <a:r>
              <a:rPr sz="1350" b="0">
                <a:solidFill>
                  <a:srgbClr val="526272"/>
                </a:solidFill>
                <a:latin typeface="Arial"/>
                <a:ea typeface="Arial"/>
                <a:cs typeface="Arial"/>
              </a:rPr>
              <a:t>A1 direct dense</a:t>
            </a:r>
          </a:p>
        </p:txBody>
      </p:sp>
      <p:sp>
        <p:nvSpPr>
          <p:cNvPr id="8" name="">
            <a:extLst xmlns:a="http://schemas.openxmlformats.org/drawingml/2006/main">
              <a:ext uri="{FF2B5EF4-FFF2-40B4-BE49-F238E27FC236}">
                <a16:creationId xmlns:a16="http://schemas.microsoft.com/office/drawing/2014/main" id="{67BD3718-10BC-4E9D-946B-C153F4FA963A}"/>
              </a:ext>
            </a:extLst>
          </p:cNvPr>
          <p:cNvSpPr>
            <a:spLocks xmlns:a="http://schemas.openxmlformats.org/drawingml/2006/main" noGrp="1"/>
          </p:cNvSpPr>
          <p:nvPr/>
        </p:nvSpPr>
        <p:spPr>
          <a:xfrm xmlns:a="http://schemas.openxmlformats.org/drawingml/2006/main">
            <a:off x="8620125" y="287655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700" b="1">
                <a:solidFill>
                  <a:srgbClr val="E69F00"/>
                </a:solidFill>
                <a:latin typeface="Arial"/>
                <a:ea typeface="Arial"/>
                <a:cs typeface="Arial"/>
              </a:defRPr>
            </a:pPr>
            <a:r>
              <a:rPr sz="2700" b="1">
                <a:solidFill>
                  <a:srgbClr val="E69F00"/>
                </a:solidFill>
                <a:latin typeface="Arial"/>
                <a:ea typeface="Arial"/>
                <a:cs typeface="Arial"/>
              </a:rPr>
              <a:t>17.699×</a:t>
            </a:r>
          </a:p>
        </p:txBody>
      </p:sp>
      <p:sp>
        <p:nvSpPr>
          <p:cNvPr id="9" name="">
            <a:extLst xmlns:a="http://schemas.openxmlformats.org/drawingml/2006/main">
              <a:ext uri="{FF2B5EF4-FFF2-40B4-BE49-F238E27FC236}">
                <a16:creationId xmlns:a16="http://schemas.microsoft.com/office/drawing/2014/main" id="{57177514-1015-41E3-ABC4-2AAAC5E008DA}"/>
              </a:ext>
            </a:extLst>
          </p:cNvPr>
          <p:cNvSpPr>
            <a:spLocks xmlns:a="http://schemas.openxmlformats.org/drawingml/2006/main" noGrp="1"/>
          </p:cNvSpPr>
          <p:nvPr/>
        </p:nvSpPr>
        <p:spPr>
          <a:xfrm xmlns:a="http://schemas.openxmlformats.org/drawingml/2006/main">
            <a:off x="8620125" y="3333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526272"/>
                </a:solidFill>
                <a:latin typeface="Arial"/>
                <a:ea typeface="Arial"/>
                <a:cs typeface="Arial"/>
              </a:defRPr>
            </a:pPr>
            <a:r>
              <a:rPr sz="1350" b="0">
                <a:solidFill>
                  <a:srgbClr val="526272"/>
                </a:solidFill>
                <a:latin typeface="Arial"/>
                <a:ea typeface="Arial"/>
                <a:cs typeface="Arial"/>
              </a:rPr>
              <a:t>A2 conditional</a:t>
            </a:r>
          </a:p>
        </p:txBody>
      </p:sp>
      <p:sp>
        <p:nvSpPr>
          <p:cNvPr id="10" name="">
            <a:extLst xmlns:a="http://schemas.openxmlformats.org/drawingml/2006/main">
              <a:ext uri="{FF2B5EF4-FFF2-40B4-BE49-F238E27FC236}">
                <a16:creationId xmlns:a16="http://schemas.microsoft.com/office/drawing/2014/main" id="{8ACB5380-FC90-49B1-A13E-827AC884B79D}"/>
              </a:ext>
            </a:extLst>
          </p:cNvPr>
          <p:cNvSpPr>
            <a:spLocks xmlns:a="http://schemas.openxmlformats.org/drawingml/2006/main" noGrp="1"/>
          </p:cNvSpPr>
          <p:nvPr/>
        </p:nvSpPr>
        <p:spPr>
          <a:xfrm xmlns:a="http://schemas.openxmlformats.org/drawingml/2006/main">
            <a:off x="8620125" y="39338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700" b="1">
                <a:solidFill>
                  <a:srgbClr val="009E73"/>
                </a:solidFill>
                <a:latin typeface="Arial"/>
                <a:ea typeface="Arial"/>
                <a:cs typeface="Arial"/>
              </a:defRPr>
            </a:pPr>
            <a:r>
              <a:rPr sz="2700" b="1">
                <a:solidFill>
                  <a:srgbClr val="009E73"/>
                </a:solidFill>
                <a:latin typeface="Arial"/>
                <a:ea typeface="Arial"/>
                <a:cs typeface="Arial"/>
              </a:rPr>
              <a:t>1.415×</a:t>
            </a:r>
          </a:p>
        </p:txBody>
      </p:sp>
      <p:sp>
        <p:nvSpPr>
          <p:cNvPr id="11" name="">
            <a:extLst xmlns:a="http://schemas.openxmlformats.org/drawingml/2006/main">
              <a:ext uri="{FF2B5EF4-FFF2-40B4-BE49-F238E27FC236}">
                <a16:creationId xmlns:a16="http://schemas.microsoft.com/office/drawing/2014/main" id="{70941D0D-53BA-445B-9DD4-A67B806CA57B}"/>
              </a:ext>
            </a:extLst>
          </p:cNvPr>
          <p:cNvSpPr>
            <a:spLocks xmlns:a="http://schemas.openxmlformats.org/drawingml/2006/main" noGrp="1"/>
          </p:cNvSpPr>
          <p:nvPr/>
        </p:nvSpPr>
        <p:spPr>
          <a:xfrm xmlns:a="http://schemas.openxmlformats.org/drawingml/2006/main">
            <a:off x="8620125" y="4391025"/>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526272"/>
                </a:solidFill>
                <a:latin typeface="Arial"/>
                <a:ea typeface="Arial"/>
                <a:cs typeface="Arial"/>
              </a:defRPr>
            </a:pPr>
            <a:r>
              <a:rPr sz="1350" b="0">
                <a:solidFill>
                  <a:srgbClr val="526272"/>
                </a:solidFill>
                <a:latin typeface="Arial"/>
                <a:ea typeface="Arial"/>
                <a:cs typeface="Arial"/>
              </a:rPr>
              <a:t>B surrogate/autograd</a:t>
            </a:r>
          </a:p>
        </p:txBody>
      </p:sp>
      <p:sp>
        <p:nvSpPr>
          <p:cNvPr id="12" name="">
            <a:extLst xmlns:a="http://schemas.openxmlformats.org/drawingml/2006/main">
              <a:ext uri="{FF2B5EF4-FFF2-40B4-BE49-F238E27FC236}">
                <a16:creationId xmlns:a16="http://schemas.microsoft.com/office/drawing/2014/main" id="{00886280-4EA7-4E32-9248-2981F658CAA1}"/>
              </a:ext>
            </a:extLst>
          </p:cNvPr>
          <p:cNvSpPr>
            <a:spLocks xmlns:a="http://schemas.openxmlformats.org/drawingml/2006/main" noGrp="1"/>
          </p:cNvSpPr>
          <p:nvPr/>
        </p:nvSpPr>
        <p:spPr>
          <a:xfrm xmlns:a="http://schemas.openxmlformats.org/drawingml/2006/main">
            <a:off x="8239125" y="1352550"/>
            <a:ext cx="9525" cy="3476625"/>
          </a:xfrm>
          <a:prstGeom xmlns:a="http://schemas.openxmlformats.org/drawingml/2006/main" prst="line">
            <a:avLst/>
          </a:prstGeom>
          <a:noFill xmlns:a="http://schemas.openxmlformats.org/drawingml/2006/main"/>
          <a:ln xmlns:a="http://schemas.openxmlformats.org/drawingml/2006/main" w="9525">
            <a:solidFill>
              <a:srgbClr val="D9E0E5"/>
            </a:solidFill>
            <a:prstDash val="solid"/>
          </a:ln>
        </p:spPr>
      </p:sp>
      <p:sp>
        <p:nvSpPr>
          <p:cNvPr id="13" name="">
            <a:extLst xmlns:a="http://schemas.openxmlformats.org/drawingml/2006/main">
              <a:ext uri="{FF2B5EF4-FFF2-40B4-BE49-F238E27FC236}">
                <a16:creationId xmlns:a16="http://schemas.microsoft.com/office/drawing/2014/main" id="{EA08A13D-397E-4FFA-8DE0-9F45D305BE69}"/>
              </a:ext>
            </a:extLst>
          </p:cNvPr>
          <p:cNvSpPr>
            <a:spLocks xmlns:a="http://schemas.openxmlformats.org/drawingml/2006/main" noGrp="1"/>
          </p:cNvSpPr>
          <p:nvPr/>
        </p:nvSpPr>
        <p:spPr>
          <a:xfrm xmlns:a="http://schemas.openxmlformats.org/drawingml/2006/main">
            <a:off x="790575" y="5724525"/>
            <a:ext cx="10344150" cy="552450"/>
          </a:xfrm>
          <a:prstGeom xmlns:a="http://schemas.openxmlformats.org/drawingml/2006/main" prst="roundRect">
            <a:avLst>
              <a:gd name="adj" fmla="val 17241"/>
            </a:avLst>
          </a:prstGeom>
          <a:solidFill xmlns:a="http://schemas.openxmlformats.org/drawingml/2006/main">
            <a:srgbClr val="DCEFF8"/>
          </a:solidFill>
          <a:ln xmlns:a="http://schemas.openxmlformats.org/drawingml/2006/main" w="9525">
            <a:solidFill>
              <a:srgbClr val="0072B2"/>
            </a:solidFill>
            <a:prstDash val="solid"/>
          </a:ln>
        </p:spPr>
      </p:sp>
      <p:sp>
        <p:nvSpPr>
          <p:cNvPr id="14" name="">
            <a:extLst xmlns:a="http://schemas.openxmlformats.org/drawingml/2006/main">
              <a:ext uri="{FF2B5EF4-FFF2-40B4-BE49-F238E27FC236}">
                <a16:creationId xmlns:a16="http://schemas.microsoft.com/office/drawing/2014/main" id="{0162BED3-37BC-47F1-84F1-6EC60E07CE61}"/>
              </a:ext>
            </a:extLst>
          </p:cNvPr>
          <p:cNvSpPr>
            <a:spLocks xmlns:a="http://schemas.openxmlformats.org/drawingml/2006/main" noGrp="1"/>
          </p:cNvSpPr>
          <p:nvPr/>
        </p:nvSpPr>
        <p:spPr>
          <a:xfrm xmlns:a="http://schemas.openxmlformats.org/drawingml/2006/main">
            <a:off x="1000125" y="5867400"/>
            <a:ext cx="9925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75" b="1">
                <a:solidFill>
                  <a:srgbClr val="17222F"/>
                </a:solidFill>
                <a:latin typeface="Arial"/>
                <a:ea typeface="Arial"/>
                <a:cs typeface="Arial"/>
              </a:defRPr>
            </a:pPr>
            <a:r>
              <a:rPr sz="1575" b="1">
                <a:solidFill>
                  <a:srgbClr val="17222F"/>
                </a:solidFill>
                <a:latin typeface="Arial"/>
                <a:ea typeface="Arial"/>
                <a:cs typeface="Arial"/>
              </a:rPr>
              <a:t>Direct A1 removes the global backward path. A2 conditional also skips masked higher-layer work.</a:t>
            </a:r>
          </a:p>
        </p:txBody>
      </p:sp>
    </p:spTree>
    <p:extLst>
      <p:ext uri="{BB962C8B-B14F-4D97-AF65-F5344CB8AC3E}">
        <p14:creationId xmlns:p14="http://schemas.microsoft.com/office/powerpoint/2010/main" val="148254108"/>
      </p:ext>
    </p:extLst>
  </p:cSld>
</p:sld>
</file>

<file path=ppt/slides/slide5.xml><?xml version="1.0" encoding="utf-8"?>
<p:sld xmlns:p="http://schemas.openxmlformats.org/presentationml/2006/main">
  <p:cSld>
    <p:bg>
      <p:bgPr>
        <a:solidFill xmlns:a="http://schemas.openxmlformats.org/drawingml/2006/main">
          <a:srgbClr val="F7F8F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BE5CDE9-ED29-4F0E-95D4-1088CF3AF2A2}"/>
              </a:ext>
            </a:extLst>
          </p:cNvPr>
          <p:cNvSpPr>
            <a:spLocks xmlns:a="http://schemas.openxmlformats.org/drawingml/2006/main" noGrp="1"/>
          </p:cNvSpPr>
          <p:nvPr/>
        </p:nvSpPr>
        <p:spPr>
          <a:xfrm xmlns:a="http://schemas.openxmlformats.org/drawingml/2006/main">
            <a:off x="609600" y="333375"/>
            <a:ext cx="9715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17222F"/>
                </a:solidFill>
                <a:latin typeface="Arial"/>
                <a:ea typeface="Arial"/>
                <a:cs typeface="Arial"/>
              </a:defRPr>
            </a:pPr>
            <a:r>
              <a:rPr sz="2550" b="1">
                <a:solidFill>
                  <a:srgbClr val="17222F"/>
                </a:solidFill>
                <a:latin typeface="Arial"/>
                <a:ea typeface="Arial"/>
                <a:cs typeface="Arial"/>
              </a:rPr>
              <a:t>Full pipeline and persistent state</a:t>
            </a:r>
          </a:p>
        </p:txBody>
      </p:sp>
      <p:sp>
        <p:nvSpPr>
          <p:cNvPr id="2" name="">
            <a:extLst xmlns:a="http://schemas.openxmlformats.org/drawingml/2006/main">
              <a:ext uri="{FF2B5EF4-FFF2-40B4-BE49-F238E27FC236}">
                <a16:creationId xmlns:a16="http://schemas.microsoft.com/office/drawing/2014/main" id="{95119557-B0EE-4AA8-A6BF-96A9AF1AD39F}"/>
              </a:ext>
            </a:extLst>
          </p:cNvPr>
          <p:cNvSpPr>
            <a:spLocks xmlns:a="http://schemas.openxmlformats.org/drawingml/2006/main" noGrp="1"/>
          </p:cNvSpPr>
          <p:nvPr/>
        </p:nvSpPr>
        <p:spPr>
          <a:xfrm xmlns:a="http://schemas.openxmlformats.org/drawingml/2006/main">
            <a:off x="609600" y="942975"/>
            <a:ext cx="10972800" cy="9525"/>
          </a:xfrm>
          <a:prstGeom xmlns:a="http://schemas.openxmlformats.org/drawingml/2006/main" prst="line">
            <a:avLst/>
          </a:prstGeom>
          <a:noFill xmlns:a="http://schemas.openxmlformats.org/drawingml/2006/main"/>
          <a:ln xmlns:a="http://schemas.openxmlformats.org/drawingml/2006/main" w="9525">
            <a:solidFill>
              <a:srgbClr val="D9E0E5"/>
            </a:solidFill>
            <a:prstDash val="solid"/>
          </a:ln>
        </p:spPr>
      </p:sp>
      <p:sp>
        <p:nvSpPr>
          <p:cNvPr id="3" name="">
            <a:extLst xmlns:a="http://schemas.openxmlformats.org/drawingml/2006/main">
              <a:ext uri="{FF2B5EF4-FFF2-40B4-BE49-F238E27FC236}">
                <a16:creationId xmlns:a16="http://schemas.microsoft.com/office/drawing/2014/main" id="{CDF23615-ED29-4FEC-8ED7-3CE51426C969}"/>
              </a:ext>
            </a:extLst>
          </p:cNvPr>
          <p:cNvSpPr>
            <a:spLocks xmlns:a="http://schemas.openxmlformats.org/drawingml/2006/main" noGrp="1"/>
          </p:cNvSpPr>
          <p:nvPr/>
        </p:nvSpPr>
        <p:spPr>
          <a:xfrm xmlns:a="http://schemas.openxmlformats.org/drawingml/2006/main">
            <a:off x="11144250" y="381000"/>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526272"/>
                </a:solidFill>
                <a:latin typeface="Arial"/>
                <a:ea typeface="Arial"/>
                <a:cs typeface="Arial"/>
              </a:defRPr>
            </a:pPr>
            <a:r>
              <a:rPr sz="1125" b="1">
                <a:solidFill>
                  <a:srgbClr val="526272"/>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185AB82B-4565-44C9-AB01-92DCFEA98DAF}"/>
              </a:ext>
            </a:extLst>
          </p:cNvPr>
          <p:cNvSpPr>
            <a:spLocks xmlns:a="http://schemas.openxmlformats.org/drawingml/2006/main" noGrp="1"/>
          </p:cNvSpPr>
          <p:nvPr/>
        </p:nvSpPr>
        <p:spPr>
          <a:xfrm xmlns:a="http://schemas.openxmlformats.org/drawingml/2006/main">
            <a:off x="647700" y="1162050"/>
            <a:ext cx="581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a:solidFill>
                  <a:srgbClr val="17222F"/>
                </a:solidFill>
                <a:latin typeface="Arial"/>
                <a:ea typeface="Arial"/>
                <a:cs typeface="Arial"/>
              </a:defRPr>
            </a:pPr>
            <a:r>
              <a:rPr sz="1725" b="1">
                <a:solidFill>
                  <a:srgbClr val="17222F"/>
                </a:solidFill>
                <a:latin typeface="Arial"/>
                <a:ea typeface="Arial"/>
                <a:cs typeface="Arial"/>
              </a:rPr>
              <a:t>Method-level compute · 20 epochs</a:t>
            </a:r>
          </a:p>
        </p:txBody>
      </p:sp>
      <p:graphicFrame>
        <p:nvGraphicFramePr>
          <p:cNvPr id="19" name="Chart"/>
          <p:cNvGraphicFramePr/>
          <p:nvPr/>
        </p:nvGraphicFramePr>
        <p:xfrm>
          <a:off xmlns:a="http://schemas.openxmlformats.org/drawingml/2006/main" x="590550" y="1504950"/>
          <a:ext xmlns:a="http://schemas.openxmlformats.org/drawingml/2006/main" cx="5905500" cy="3143250"/>
        </p:xfrm>
        <a:graphic xmlns:a="http://schemas.openxmlformats.org/drawingml/2006/main">
          <a:graphicData uri="http://schemas.openxmlformats.org/drawingml/2006/chart">
            <c:chart xmlns:r="http://schemas.openxmlformats.org/officeDocument/2006/relationships" xmlns:c="http://schemas.openxmlformats.org/drawingml/2006/chart" r:id="R874ba51c08e948ed"/>
          </a:graphicData>
        </a:graphic>
      </p:graphicFrame>
      <p:sp>
        <p:nvSpPr>
          <p:cNvPr id="6" name="">
            <a:extLst xmlns:a="http://schemas.openxmlformats.org/drawingml/2006/main">
              <a:ext uri="{FF2B5EF4-FFF2-40B4-BE49-F238E27FC236}">
                <a16:creationId xmlns:a16="http://schemas.microsoft.com/office/drawing/2014/main" id="{61520EDC-0655-4C1F-8AD7-B265FF0864D8}"/>
              </a:ext>
            </a:extLst>
          </p:cNvPr>
          <p:cNvSpPr>
            <a:spLocks xmlns:a="http://schemas.openxmlformats.org/drawingml/2006/main" noGrp="1"/>
          </p:cNvSpPr>
          <p:nvPr/>
        </p:nvSpPr>
        <p:spPr>
          <a:xfrm xmlns:a="http://schemas.openxmlformats.org/drawingml/2006/main">
            <a:off x="6619875" y="1162050"/>
            <a:ext cx="9525" cy="4619625"/>
          </a:xfrm>
          <a:prstGeom xmlns:a="http://schemas.openxmlformats.org/drawingml/2006/main" prst="line">
            <a:avLst/>
          </a:prstGeom>
          <a:noFill xmlns:a="http://schemas.openxmlformats.org/drawingml/2006/main"/>
          <a:ln xmlns:a="http://schemas.openxmlformats.org/drawingml/2006/main" w="9525">
            <a:solidFill>
              <a:srgbClr val="D9E0E5"/>
            </a:solidFill>
            <a:prstDash val="solid"/>
          </a:ln>
        </p:spPr>
      </p:sp>
      <p:sp>
        <p:nvSpPr>
          <p:cNvPr id="7" name="">
            <a:extLst xmlns:a="http://schemas.openxmlformats.org/drawingml/2006/main">
              <a:ext uri="{FF2B5EF4-FFF2-40B4-BE49-F238E27FC236}">
                <a16:creationId xmlns:a16="http://schemas.microsoft.com/office/drawing/2014/main" id="{594A2E2E-BCDB-413B-8E7C-4E41517BD088}"/>
              </a:ext>
            </a:extLst>
          </p:cNvPr>
          <p:cNvSpPr>
            <a:spLocks xmlns:a="http://schemas.openxmlformats.org/drawingml/2006/main" noGrp="1"/>
          </p:cNvSpPr>
          <p:nvPr/>
        </p:nvSpPr>
        <p:spPr>
          <a:xfrm xmlns:a="http://schemas.openxmlformats.org/drawingml/2006/main">
            <a:off x="7000875" y="1162050"/>
            <a:ext cx="428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a:solidFill>
                  <a:srgbClr val="17222F"/>
                </a:solidFill>
                <a:latin typeface="Arial"/>
                <a:ea typeface="Arial"/>
                <a:cs typeface="Arial"/>
              </a:defRPr>
            </a:pPr>
            <a:r>
              <a:rPr sz="1725" b="1">
                <a:solidFill>
                  <a:srgbClr val="17222F"/>
                </a:solidFill>
                <a:latin typeface="Arial"/>
                <a:ea typeface="Arial"/>
                <a:cs typeface="Arial"/>
              </a:rPr>
              <a:t>Persistent tensor state</a:t>
            </a:r>
          </a:p>
        </p:txBody>
      </p:sp>
      <p:graphicFrame>
        <p:nvGraphicFramePr>
          <p:cNvPr id="22" name="Chart"/>
          <p:cNvGraphicFramePr/>
          <p:nvPr/>
        </p:nvGraphicFramePr>
        <p:xfrm>
          <a:off xmlns:a="http://schemas.openxmlformats.org/drawingml/2006/main" x="6896100" y="1504950"/>
          <a:ext xmlns:a="http://schemas.openxmlformats.org/drawingml/2006/main" cx="4572000" cy="3143250"/>
        </p:xfrm>
        <a:graphic xmlns:a="http://schemas.openxmlformats.org/drawingml/2006/main">
          <a:graphicData uri="http://schemas.openxmlformats.org/drawingml/2006/chart">
            <c:chart xmlns:r="http://schemas.openxmlformats.org/officeDocument/2006/relationships" xmlns:c="http://schemas.openxmlformats.org/drawingml/2006/chart" r:id="Rad17aacc21b748c2"/>
          </a:graphicData>
        </a:graphic>
      </p:graphicFrame>
      <p:sp>
        <p:nvSpPr>
          <p:cNvPr id="9" name="">
            <a:extLst xmlns:a="http://schemas.openxmlformats.org/drawingml/2006/main">
              <a:ext uri="{FF2B5EF4-FFF2-40B4-BE49-F238E27FC236}">
                <a16:creationId xmlns:a16="http://schemas.microsoft.com/office/drawing/2014/main" id="{972E0540-C97C-45C3-B138-7BEA76E210E8}"/>
              </a:ext>
            </a:extLst>
          </p:cNvPr>
          <p:cNvSpPr>
            <a:spLocks xmlns:a="http://schemas.openxmlformats.org/drawingml/2006/main" noGrp="1"/>
          </p:cNvSpPr>
          <p:nvPr/>
        </p:nvSpPr>
        <p:spPr>
          <a:xfrm xmlns:a="http://schemas.openxmlformats.org/drawingml/2006/main">
            <a:off x="6896100" y="4333875"/>
            <a:ext cx="4572000" cy="419100"/>
          </a:xfrm>
          <a:prstGeom xmlns:a="http://schemas.openxmlformats.org/drawingml/2006/main" prst="rect">
            <a:avLst/>
          </a:prstGeom>
          <a:solidFill xmlns:a="http://schemas.openxmlformats.org/drawingml/2006/main">
            <a:srgbClr val="F7F8F4"/>
          </a:solidFill>
          <a:ln xmlns:a="http://schemas.openxmlformats.org/drawingml/2006/main" w="9525">
            <a:solidFill>
              <a:srgbClr val="F7F8F4"/>
            </a:solidFill>
            <a:prstDash val="solid"/>
          </a:ln>
        </p:spPr>
      </p:sp>
      <p:sp>
        <p:nvSpPr>
          <p:cNvPr id="10" name="">
            <a:extLst xmlns:a="http://schemas.openxmlformats.org/drawingml/2006/main">
              <a:ext uri="{FF2B5EF4-FFF2-40B4-BE49-F238E27FC236}">
                <a16:creationId xmlns:a16="http://schemas.microsoft.com/office/drawing/2014/main" id="{9D4C150B-D09F-45D0-A115-FA60E82D8AEE}"/>
              </a:ext>
            </a:extLst>
          </p:cNvPr>
          <p:cNvSpPr>
            <a:spLocks xmlns:a="http://schemas.openxmlformats.org/drawingml/2006/main" noGrp="1"/>
          </p:cNvSpPr>
          <p:nvPr/>
        </p:nvSpPr>
        <p:spPr>
          <a:xfrm xmlns:a="http://schemas.openxmlformats.org/drawingml/2006/main">
            <a:off x="781050" y="4953000"/>
            <a:ext cx="5334000" cy="838200"/>
          </a:xfrm>
          <a:prstGeom xmlns:a="http://schemas.openxmlformats.org/drawingml/2006/main" prst="roundRect">
            <a:avLst>
              <a:gd name="adj" fmla="val 11364"/>
            </a:avLst>
          </a:prstGeom>
          <a:solidFill xmlns:a="http://schemas.openxmlformats.org/drawingml/2006/main">
            <a:srgbClr val="E6E6E6"/>
          </a:solidFill>
          <a:ln xmlns:a="http://schemas.openxmlformats.org/drawingml/2006/main" w="9525">
            <a:solidFill>
              <a:srgbClr val="4D4D4D"/>
            </a:solidFill>
            <a:prstDash val="solid"/>
          </a:ln>
        </p:spPr>
      </p:sp>
      <p:sp>
        <p:nvSpPr>
          <p:cNvPr id="11" name="">
            <a:extLst xmlns:a="http://schemas.openxmlformats.org/drawingml/2006/main">
              <a:ext uri="{FF2B5EF4-FFF2-40B4-BE49-F238E27FC236}">
                <a16:creationId xmlns:a16="http://schemas.microsoft.com/office/drawing/2014/main" id="{72079ACF-94E6-4D05-B348-2DE7D1858DA1}"/>
              </a:ext>
            </a:extLst>
          </p:cNvPr>
          <p:cNvSpPr>
            <a:spLocks xmlns:a="http://schemas.openxmlformats.org/drawingml/2006/main" noGrp="1"/>
          </p:cNvSpPr>
          <p:nvPr/>
        </p:nvSpPr>
        <p:spPr>
          <a:xfrm xmlns:a="http://schemas.openxmlformats.org/drawingml/2006/main">
            <a:off x="981075" y="51244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4D4D4D"/>
                </a:solidFill>
                <a:latin typeface="Arial"/>
                <a:ea typeface="Arial"/>
                <a:cs typeface="Arial"/>
              </a:defRPr>
            </a:pPr>
            <a:r>
              <a:rPr sz="1275" b="1">
                <a:solidFill>
                  <a:srgbClr val="4D4D4D"/>
                </a:solidFill>
                <a:latin typeface="Arial"/>
                <a:ea typeface="Arial"/>
                <a:cs typeface="Arial"/>
              </a:rPr>
              <a:t>BP · 100 epochs</a:t>
            </a:r>
          </a:p>
        </p:txBody>
      </p:sp>
      <p:sp>
        <p:nvSpPr>
          <p:cNvPr id="12" name="">
            <a:extLst xmlns:a="http://schemas.openxmlformats.org/drawingml/2006/main">
              <a:ext uri="{FF2B5EF4-FFF2-40B4-BE49-F238E27FC236}">
                <a16:creationId xmlns:a16="http://schemas.microsoft.com/office/drawing/2014/main" id="{9FE0C3E7-3CA6-470D-A072-736FF9AF828F}"/>
              </a:ext>
            </a:extLst>
          </p:cNvPr>
          <p:cNvSpPr>
            <a:spLocks xmlns:a="http://schemas.openxmlformats.org/drawingml/2006/main" noGrp="1"/>
          </p:cNvSpPr>
          <p:nvPr/>
        </p:nvSpPr>
        <p:spPr>
          <a:xfrm xmlns:a="http://schemas.openxmlformats.org/drawingml/2006/main">
            <a:off x="981075" y="537210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025" b="1">
                <a:solidFill>
                  <a:srgbClr val="4D4D4D"/>
                </a:solidFill>
                <a:latin typeface="Arial"/>
                <a:ea typeface="Arial"/>
                <a:cs typeface="Arial"/>
              </a:defRPr>
            </a:pPr>
            <a:r>
              <a:rPr sz="2025" b="1">
                <a:solidFill>
                  <a:srgbClr val="4D4D4D"/>
                </a:solidFill>
                <a:latin typeface="Arial"/>
                <a:ea typeface="Arial"/>
                <a:cs typeface="Arial"/>
              </a:rPr>
              <a:t>1,222.377 T operations</a:t>
            </a:r>
          </a:p>
        </p:txBody>
      </p:sp>
      <p:sp>
        <p:nvSpPr>
          <p:cNvPr id="13" name="">
            <a:extLst xmlns:a="http://schemas.openxmlformats.org/drawingml/2006/main">
              <a:ext uri="{FF2B5EF4-FFF2-40B4-BE49-F238E27FC236}">
                <a16:creationId xmlns:a16="http://schemas.microsoft.com/office/drawing/2014/main" id="{F923E173-A99B-4AEE-A2E8-0E66E4BD2292}"/>
              </a:ext>
            </a:extLst>
          </p:cNvPr>
          <p:cNvSpPr>
            <a:spLocks xmlns:a="http://schemas.openxmlformats.org/drawingml/2006/main" noGrp="1"/>
          </p:cNvSpPr>
          <p:nvPr/>
        </p:nvSpPr>
        <p:spPr>
          <a:xfrm xmlns:a="http://schemas.openxmlformats.org/drawingml/2006/main">
            <a:off x="7000875" y="5000625"/>
            <a:ext cx="4191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a:solidFill>
                  <a:srgbClr val="526272"/>
                </a:solidFill>
                <a:latin typeface="Arial"/>
                <a:ea typeface="Arial"/>
                <a:cs typeface="Arial"/>
              </a:defRPr>
            </a:pPr>
            <a:r>
              <a:rPr sz="1275" b="0">
                <a:solidFill>
                  <a:srgbClr val="526272"/>
                </a:solidFill>
                <a:latin typeface="Arial"/>
                <a:ea typeface="Arial"/>
                <a:cs typeface="Arial"/>
              </a:rPr>
              <a:t>Includes source-appropriate preprocessing and evaluation. ZCA eigendecomposition remains a separate estimate.</a:t>
            </a:r>
          </a:p>
        </p:txBody>
      </p:sp>
      <p:sp>
        <p:nvSpPr>
          <p:cNvPr id="14" name="">
            <a:extLst xmlns:a="http://schemas.openxmlformats.org/drawingml/2006/main">
              <a:ext uri="{FF2B5EF4-FFF2-40B4-BE49-F238E27FC236}">
                <a16:creationId xmlns:a16="http://schemas.microsoft.com/office/drawing/2014/main" id="{6093641A-0F0B-433A-A83F-70541279C9C1}"/>
              </a:ext>
            </a:extLst>
          </p:cNvPr>
          <p:cNvSpPr>
            <a:spLocks xmlns:a="http://schemas.openxmlformats.org/drawingml/2006/main" noGrp="1"/>
          </p:cNvSpPr>
          <p:nvPr/>
        </p:nvSpPr>
        <p:spPr>
          <a:xfrm xmlns:a="http://schemas.openxmlformats.org/drawingml/2006/main">
            <a:off x="7000875" y="59055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2603"/>
          </a:bodyPr>
          <a:lstStyle xmlns:a="http://schemas.openxmlformats.org/drawingml/2006/main"/>
          <a:p xmlns:a="http://schemas.openxmlformats.org/drawingml/2006/main">
            <a:pPr algn="l">
              <a:defRPr sz="1275" b="1">
                <a:solidFill>
                  <a:srgbClr val="A33A3A"/>
                </a:solidFill>
                <a:latin typeface="Arial"/>
                <a:ea typeface="Arial"/>
                <a:cs typeface="Arial"/>
              </a:defRPr>
            </a:pPr>
            <a:r>
              <a:rPr sz="1275" b="1">
                <a:solidFill>
                  <a:srgbClr val="A33A3A"/>
                </a:solidFill>
                <a:latin typeface="Arial"/>
                <a:ea typeface="Arial"/>
                <a:cs typeface="Arial"/>
              </a:rPr>
              <a:t>Analytical payloads only. No measured GPU peak memory.</a:t>
            </a:r>
          </a:p>
        </p:txBody>
      </p:sp>
    </p:spTree>
    <p:extLst>
      <p:ext uri="{BB962C8B-B14F-4D97-AF65-F5344CB8AC3E}">
        <p14:creationId xmlns:p14="http://schemas.microsoft.com/office/powerpoint/2010/main" val="1951462242"/>
      </p:ext>
    </p:extLst>
  </p:cSld>
</p:sld>
</file>

<file path=ppt/slides/slide6.xml><?xml version="1.0" encoding="utf-8"?>
<p:sld xmlns:p="http://schemas.openxmlformats.org/presentationml/2006/main">
  <p:cSld>
    <p:bg>
      <p:bgPr>
        <a:solidFill xmlns:a="http://schemas.openxmlformats.org/drawingml/2006/main">
          <a:srgbClr val="F7F8F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26453FB-2BBD-44D2-8AA7-F80EAB6CA376}"/>
              </a:ext>
            </a:extLst>
          </p:cNvPr>
          <p:cNvSpPr>
            <a:spLocks xmlns:a="http://schemas.openxmlformats.org/drawingml/2006/main" noGrp="1"/>
          </p:cNvSpPr>
          <p:nvPr/>
        </p:nvSpPr>
        <p:spPr>
          <a:xfrm xmlns:a="http://schemas.openxmlformats.org/drawingml/2006/main">
            <a:off x="609600" y="333375"/>
            <a:ext cx="9715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17222F"/>
                </a:solidFill>
                <a:latin typeface="Arial"/>
                <a:ea typeface="Arial"/>
                <a:cs typeface="Arial"/>
              </a:defRPr>
            </a:pPr>
            <a:r>
              <a:rPr sz="2550" b="1">
                <a:solidFill>
                  <a:srgbClr val="17222F"/>
                </a:solidFill>
                <a:latin typeface="Arial"/>
                <a:ea typeface="Arial"/>
                <a:cs typeface="Arial"/>
              </a:rPr>
              <a:t>Accuracy and convergence context</a:t>
            </a:r>
          </a:p>
        </p:txBody>
      </p:sp>
      <p:sp>
        <p:nvSpPr>
          <p:cNvPr id="2" name="">
            <a:extLst xmlns:a="http://schemas.openxmlformats.org/drawingml/2006/main">
              <a:ext uri="{FF2B5EF4-FFF2-40B4-BE49-F238E27FC236}">
                <a16:creationId xmlns:a16="http://schemas.microsoft.com/office/drawing/2014/main" id="{C82AE16A-C99A-476D-AF55-A11869322A50}"/>
              </a:ext>
            </a:extLst>
          </p:cNvPr>
          <p:cNvSpPr>
            <a:spLocks xmlns:a="http://schemas.openxmlformats.org/drawingml/2006/main" noGrp="1"/>
          </p:cNvSpPr>
          <p:nvPr/>
        </p:nvSpPr>
        <p:spPr>
          <a:xfrm xmlns:a="http://schemas.openxmlformats.org/drawingml/2006/main">
            <a:off x="609600" y="942975"/>
            <a:ext cx="10972800" cy="9525"/>
          </a:xfrm>
          <a:prstGeom xmlns:a="http://schemas.openxmlformats.org/drawingml/2006/main" prst="line">
            <a:avLst/>
          </a:prstGeom>
          <a:noFill xmlns:a="http://schemas.openxmlformats.org/drawingml/2006/main"/>
          <a:ln xmlns:a="http://schemas.openxmlformats.org/drawingml/2006/main" w="9525">
            <a:solidFill>
              <a:srgbClr val="D9E0E5"/>
            </a:solidFill>
            <a:prstDash val="solid"/>
          </a:ln>
        </p:spPr>
      </p:sp>
      <p:sp>
        <p:nvSpPr>
          <p:cNvPr id="3" name="">
            <a:extLst xmlns:a="http://schemas.openxmlformats.org/drawingml/2006/main">
              <a:ext uri="{FF2B5EF4-FFF2-40B4-BE49-F238E27FC236}">
                <a16:creationId xmlns:a16="http://schemas.microsoft.com/office/drawing/2014/main" id="{50EE7012-6034-440D-BD67-876873A27322}"/>
              </a:ext>
            </a:extLst>
          </p:cNvPr>
          <p:cNvSpPr>
            <a:spLocks xmlns:a="http://schemas.openxmlformats.org/drawingml/2006/main" noGrp="1"/>
          </p:cNvSpPr>
          <p:nvPr/>
        </p:nvSpPr>
        <p:spPr>
          <a:xfrm xmlns:a="http://schemas.openxmlformats.org/drawingml/2006/main">
            <a:off x="11144250" y="381000"/>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526272"/>
                </a:solidFill>
                <a:latin typeface="Arial"/>
                <a:ea typeface="Arial"/>
                <a:cs typeface="Arial"/>
              </a:defRPr>
            </a:pPr>
            <a:r>
              <a:rPr sz="1125" b="1">
                <a:solidFill>
                  <a:srgbClr val="526272"/>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751DD64E-A50B-4B88-9B00-419A5D5EF0E6}"/>
              </a:ext>
            </a:extLst>
          </p:cNvPr>
          <p:cNvSpPr>
            <a:spLocks xmlns:a="http://schemas.openxmlformats.org/drawingml/2006/main" noGrp="1"/>
          </p:cNvSpPr>
          <p:nvPr/>
        </p:nvSpPr>
        <p:spPr>
          <a:xfrm xmlns:a="http://schemas.openxmlformats.org/drawingml/2006/main">
            <a:off x="695325" y="1200150"/>
            <a:ext cx="419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a:solidFill>
                  <a:srgbClr val="17222F"/>
                </a:solidFill>
                <a:latin typeface="Arial"/>
                <a:ea typeface="Arial"/>
                <a:cs typeface="Arial"/>
              </a:defRPr>
            </a:pPr>
            <a:r>
              <a:rPr sz="1725" b="1">
                <a:solidFill>
                  <a:srgbClr val="17222F"/>
                </a:solidFill>
                <a:latin typeface="Arial"/>
                <a:ea typeface="Arial"/>
                <a:cs typeface="Arial"/>
              </a:rPr>
              <a:t>Exact reported observations</a:t>
            </a:r>
          </a:p>
        </p:txBody>
      </p:sp>
      <p:sp>
        <p:nvSpPr>
          <p:cNvPr id="5" name="">
            <a:extLst xmlns:a="http://schemas.openxmlformats.org/drawingml/2006/main">
              <a:ext uri="{FF2B5EF4-FFF2-40B4-BE49-F238E27FC236}">
                <a16:creationId xmlns:a16="http://schemas.microsoft.com/office/drawing/2014/main" id="{DF6828A0-6539-4738-82A1-7D30AB566D9E}"/>
              </a:ext>
            </a:extLst>
          </p:cNvPr>
          <p:cNvSpPr>
            <a:spLocks xmlns:a="http://schemas.openxmlformats.org/drawingml/2006/main" noGrp="1"/>
          </p:cNvSpPr>
          <p:nvPr/>
        </p:nvSpPr>
        <p:spPr>
          <a:xfrm xmlns:a="http://schemas.openxmlformats.org/drawingml/2006/main">
            <a:off x="790575" y="1752600"/>
            <a:ext cx="2476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300" b="1">
                <a:solidFill>
                  <a:srgbClr val="0072B2"/>
                </a:solidFill>
                <a:latin typeface="Arial"/>
                <a:ea typeface="Arial"/>
                <a:cs typeface="Arial"/>
              </a:defRPr>
            </a:pPr>
            <a:r>
              <a:rPr sz="3300" b="1">
                <a:solidFill>
                  <a:srgbClr val="0072B2"/>
                </a:solidFill>
                <a:latin typeface="Arial"/>
                <a:ea typeface="Arial"/>
                <a:cs typeface="Arial"/>
              </a:rPr>
              <a:t>64.55%</a:t>
            </a:r>
          </a:p>
        </p:txBody>
      </p:sp>
      <p:sp>
        <p:nvSpPr>
          <p:cNvPr id="6" name="">
            <a:extLst xmlns:a="http://schemas.openxmlformats.org/drawingml/2006/main">
              <a:ext uri="{FF2B5EF4-FFF2-40B4-BE49-F238E27FC236}">
                <a16:creationId xmlns:a16="http://schemas.microsoft.com/office/drawing/2014/main" id="{A7C707DF-42E2-4757-8BAE-A8E66807D09C}"/>
              </a:ext>
            </a:extLst>
          </p:cNvPr>
          <p:cNvSpPr>
            <a:spLocks xmlns:a="http://schemas.openxmlformats.org/drawingml/2006/main" noGrp="1"/>
          </p:cNvSpPr>
          <p:nvPr/>
        </p:nvSpPr>
        <p:spPr>
          <a:xfrm xmlns:a="http://schemas.openxmlformats.org/drawingml/2006/main">
            <a:off x="800100" y="238125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526272"/>
                </a:solidFill>
                <a:latin typeface="Arial"/>
                <a:ea typeface="Arial"/>
                <a:cs typeface="Arial"/>
              </a:defRPr>
            </a:pPr>
            <a:r>
              <a:rPr sz="1350" b="0">
                <a:solidFill>
                  <a:srgbClr val="526272"/>
                </a:solidFill>
                <a:latin typeface="Arial"/>
                <a:ea typeface="Arial"/>
                <a:cs typeface="Arial"/>
              </a:rPr>
              <a:t>± 0.4 · 10 runs</a:t>
            </a:r>
          </a:p>
        </p:txBody>
      </p:sp>
      <p:sp>
        <p:nvSpPr>
          <p:cNvPr id="7" name="">
            <a:extLst xmlns:a="http://schemas.openxmlformats.org/drawingml/2006/main">
              <a:ext uri="{FF2B5EF4-FFF2-40B4-BE49-F238E27FC236}">
                <a16:creationId xmlns:a16="http://schemas.microsoft.com/office/drawing/2014/main" id="{823DB13B-D66D-408D-AD0C-98ED75866337}"/>
              </a:ext>
            </a:extLst>
          </p:cNvPr>
          <p:cNvSpPr>
            <a:spLocks xmlns:a="http://schemas.openxmlformats.org/drawingml/2006/main" noGrp="1"/>
          </p:cNvSpPr>
          <p:nvPr/>
        </p:nvSpPr>
        <p:spPr>
          <a:xfrm xmlns:a="http://schemas.openxmlformats.org/drawingml/2006/main">
            <a:off x="800100" y="2743200"/>
            <a:ext cx="323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a:solidFill>
                  <a:srgbClr val="17222F"/>
                </a:solidFill>
                <a:latin typeface="Arial"/>
                <a:ea typeface="Arial"/>
                <a:cs typeface="Arial"/>
              </a:defRPr>
            </a:pPr>
            <a:r>
              <a:rPr sz="1500" b="1">
                <a:solidFill>
                  <a:srgbClr val="17222F"/>
                </a:solidFill>
                <a:latin typeface="Arial"/>
                <a:ea typeface="Arial"/>
                <a:cs typeface="Arial"/>
              </a:rPr>
              <a:t>Original Hebbian paper</a:t>
            </a:r>
          </a:p>
        </p:txBody>
      </p:sp>
      <p:sp>
        <p:nvSpPr>
          <p:cNvPr id="8" name="">
            <a:extLst xmlns:a="http://schemas.openxmlformats.org/drawingml/2006/main">
              <a:ext uri="{FF2B5EF4-FFF2-40B4-BE49-F238E27FC236}">
                <a16:creationId xmlns:a16="http://schemas.microsoft.com/office/drawing/2014/main" id="{A6090A0E-4FDE-4A2F-B92D-C64B3D2BED48}"/>
              </a:ext>
            </a:extLst>
          </p:cNvPr>
          <p:cNvSpPr>
            <a:spLocks xmlns:a="http://schemas.openxmlformats.org/drawingml/2006/main" noGrp="1"/>
          </p:cNvSpPr>
          <p:nvPr/>
        </p:nvSpPr>
        <p:spPr>
          <a:xfrm xmlns:a="http://schemas.openxmlformats.org/drawingml/2006/main">
            <a:off x="781050" y="3248025"/>
            <a:ext cx="3381375" cy="9525"/>
          </a:xfrm>
          <a:prstGeom xmlns:a="http://schemas.openxmlformats.org/drawingml/2006/main" prst="line">
            <a:avLst/>
          </a:prstGeom>
          <a:noFill xmlns:a="http://schemas.openxmlformats.org/drawingml/2006/main"/>
          <a:ln xmlns:a="http://schemas.openxmlformats.org/drawingml/2006/main" w="9525">
            <a:solidFill>
              <a:srgbClr val="D9E0E5"/>
            </a:solidFill>
            <a:prstDash val="solid"/>
          </a:ln>
        </p:spPr>
      </p:sp>
      <p:sp>
        <p:nvSpPr>
          <p:cNvPr id="9" name="">
            <a:extLst xmlns:a="http://schemas.openxmlformats.org/drawingml/2006/main">
              <a:ext uri="{FF2B5EF4-FFF2-40B4-BE49-F238E27FC236}">
                <a16:creationId xmlns:a16="http://schemas.microsoft.com/office/drawing/2014/main" id="{DC078C44-CF2E-4FB2-906D-9109938CDB15}"/>
              </a:ext>
            </a:extLst>
          </p:cNvPr>
          <p:cNvSpPr>
            <a:spLocks xmlns:a="http://schemas.openxmlformats.org/drawingml/2006/main" noGrp="1"/>
          </p:cNvSpPr>
          <p:nvPr/>
        </p:nvSpPr>
        <p:spPr>
          <a:xfrm xmlns:a="http://schemas.openxmlformats.org/drawingml/2006/main">
            <a:off x="790575" y="3524250"/>
            <a:ext cx="2476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300" b="1">
                <a:solidFill>
                  <a:srgbClr val="009E73"/>
                </a:solidFill>
                <a:latin typeface="Arial"/>
                <a:ea typeface="Arial"/>
                <a:cs typeface="Arial"/>
              </a:defRPr>
            </a:pPr>
            <a:r>
              <a:rPr sz="3300" b="1">
                <a:solidFill>
                  <a:srgbClr val="009E73"/>
                </a:solidFill>
                <a:latin typeface="Arial"/>
                <a:ea typeface="Arial"/>
                <a:cs typeface="Arial"/>
              </a:rPr>
              <a:t>64.65%</a:t>
            </a:r>
          </a:p>
        </p:txBody>
      </p:sp>
      <p:sp>
        <p:nvSpPr>
          <p:cNvPr id="10" name="">
            <a:extLst xmlns:a="http://schemas.openxmlformats.org/drawingml/2006/main">
              <a:ext uri="{FF2B5EF4-FFF2-40B4-BE49-F238E27FC236}">
                <a16:creationId xmlns:a16="http://schemas.microsoft.com/office/drawing/2014/main" id="{3B8030BF-1A70-4C6F-98A5-B9020BFC3F5A}"/>
              </a:ext>
            </a:extLst>
          </p:cNvPr>
          <p:cNvSpPr>
            <a:spLocks xmlns:a="http://schemas.openxmlformats.org/drawingml/2006/main" noGrp="1"/>
          </p:cNvSpPr>
          <p:nvPr/>
        </p:nvSpPr>
        <p:spPr>
          <a:xfrm xmlns:a="http://schemas.openxmlformats.org/drawingml/2006/main">
            <a:off x="800100" y="41529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526272"/>
                </a:solidFill>
                <a:latin typeface="Arial"/>
                <a:ea typeface="Arial"/>
                <a:cs typeface="Arial"/>
              </a:defRPr>
            </a:pPr>
            <a:r>
              <a:rPr sz="1350" b="0">
                <a:solidFill>
                  <a:srgbClr val="526272"/>
                </a:solidFill>
                <a:latin typeface="Arial"/>
                <a:ea typeface="Arial"/>
                <a:cs typeface="Arial"/>
              </a:rPr>
              <a:t>1 saved run</a:t>
            </a:r>
          </a:p>
        </p:txBody>
      </p:sp>
      <p:sp>
        <p:nvSpPr>
          <p:cNvPr id="11" name="">
            <a:extLst xmlns:a="http://schemas.openxmlformats.org/drawingml/2006/main">
              <a:ext uri="{FF2B5EF4-FFF2-40B4-BE49-F238E27FC236}">
                <a16:creationId xmlns:a16="http://schemas.microsoft.com/office/drawing/2014/main" id="{C8883CBA-6490-4B06-BA8A-1EACD4A6E947}"/>
              </a:ext>
            </a:extLst>
          </p:cNvPr>
          <p:cNvSpPr>
            <a:spLocks xmlns:a="http://schemas.openxmlformats.org/drawingml/2006/main" noGrp="1"/>
          </p:cNvSpPr>
          <p:nvPr/>
        </p:nvSpPr>
        <p:spPr>
          <a:xfrm xmlns:a="http://schemas.openxmlformats.org/drawingml/2006/main">
            <a:off x="800100" y="4514850"/>
            <a:ext cx="323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a:solidFill>
                  <a:srgbClr val="17222F"/>
                </a:solidFill>
                <a:latin typeface="Arial"/>
                <a:ea typeface="Arial"/>
                <a:cs typeface="Arial"/>
              </a:defRPr>
            </a:pPr>
            <a:r>
              <a:rPr sz="1500" b="1">
                <a:solidFill>
                  <a:srgbClr val="17222F"/>
                </a:solidFill>
                <a:latin typeface="Arial"/>
                <a:ea typeface="Arial"/>
                <a:cs typeface="Arial"/>
              </a:rPr>
              <a:t>Repository notebook</a:t>
            </a:r>
          </a:p>
        </p:txBody>
      </p:sp>
      <p:sp>
        <p:nvSpPr>
          <p:cNvPr id="12" name="">
            <a:extLst xmlns:a="http://schemas.openxmlformats.org/drawingml/2006/main">
              <a:ext uri="{FF2B5EF4-FFF2-40B4-BE49-F238E27FC236}">
                <a16:creationId xmlns:a16="http://schemas.microsoft.com/office/drawing/2014/main" id="{4AA34C34-EDBE-48B0-ADF7-ABC67B2806BE}"/>
              </a:ext>
            </a:extLst>
          </p:cNvPr>
          <p:cNvSpPr>
            <a:spLocks xmlns:a="http://schemas.openxmlformats.org/drawingml/2006/main" noGrp="1"/>
          </p:cNvSpPr>
          <p:nvPr/>
        </p:nvSpPr>
        <p:spPr>
          <a:xfrm xmlns:a="http://schemas.openxmlformats.org/drawingml/2006/main">
            <a:off x="4762500" y="1171575"/>
            <a:ext cx="9525" cy="4191000"/>
          </a:xfrm>
          <a:prstGeom xmlns:a="http://schemas.openxmlformats.org/drawingml/2006/main" prst="line">
            <a:avLst/>
          </a:prstGeom>
          <a:noFill xmlns:a="http://schemas.openxmlformats.org/drawingml/2006/main"/>
          <a:ln xmlns:a="http://schemas.openxmlformats.org/drawingml/2006/main" w="9525">
            <a:solidFill>
              <a:srgbClr val="D9E0E5"/>
            </a:solidFill>
            <a:prstDash val="solid"/>
          </a:ln>
        </p:spPr>
      </p:sp>
      <p:sp>
        <p:nvSpPr>
          <p:cNvPr id="13" name="">
            <a:extLst xmlns:a="http://schemas.openxmlformats.org/drawingml/2006/main">
              <a:ext uri="{FF2B5EF4-FFF2-40B4-BE49-F238E27FC236}">
                <a16:creationId xmlns:a16="http://schemas.microsoft.com/office/drawing/2014/main" id="{5EDA96D4-B036-48B4-905D-941740CEBF03}"/>
              </a:ext>
            </a:extLst>
          </p:cNvPr>
          <p:cNvSpPr>
            <a:spLocks xmlns:a="http://schemas.openxmlformats.org/drawingml/2006/main" noGrp="1"/>
          </p:cNvSpPr>
          <p:nvPr/>
        </p:nvSpPr>
        <p:spPr>
          <a:xfrm xmlns:a="http://schemas.openxmlformats.org/drawingml/2006/main">
            <a:off x="5219700" y="1200150"/>
            <a:ext cx="619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1">
                <a:solidFill>
                  <a:srgbClr val="17222F"/>
                </a:solidFill>
                <a:latin typeface="Arial"/>
                <a:ea typeface="Arial"/>
                <a:cs typeface="Arial"/>
              </a:defRPr>
            </a:pPr>
            <a:r>
              <a:rPr sz="1725" b="1">
                <a:solidFill>
                  <a:srgbClr val="17222F"/>
                </a:solidFill>
                <a:latin typeface="Arial"/>
                <a:ea typeface="Arial"/>
                <a:cs typeface="Arial"/>
              </a:rPr>
              <a:t>Approximate comparison-paper graph reads</a:t>
            </a:r>
          </a:p>
        </p:txBody>
      </p:sp>
      <p:graphicFrame>
        <p:nvGraphicFramePr>
          <p:cNvPr id="30" name="Chart"/>
          <p:cNvGraphicFramePr/>
          <p:nvPr/>
        </p:nvGraphicFramePr>
        <p:xfrm>
          <a:off xmlns:a="http://schemas.openxmlformats.org/drawingml/2006/main" x="5095875" y="1647825"/>
          <a:ext xmlns:a="http://schemas.openxmlformats.org/drawingml/2006/main" cx="6191250" cy="3333750"/>
        </p:xfrm>
        <a:graphic xmlns:a="http://schemas.openxmlformats.org/drawingml/2006/main">
          <a:graphicData uri="http://schemas.openxmlformats.org/drawingml/2006/chart">
            <c:chart xmlns:r="http://schemas.openxmlformats.org/officeDocument/2006/relationships" xmlns:c="http://schemas.openxmlformats.org/drawingml/2006/chart" r:id="R4d58ec9b165c46f4"/>
          </a:graphicData>
        </a:graphic>
      </p:graphicFrame>
      <p:sp>
        <p:nvSpPr>
          <p:cNvPr id="15" name="">
            <a:extLst xmlns:a="http://schemas.openxmlformats.org/drawingml/2006/main">
              <a:ext uri="{FF2B5EF4-FFF2-40B4-BE49-F238E27FC236}">
                <a16:creationId xmlns:a16="http://schemas.microsoft.com/office/drawing/2014/main" id="{1890414E-05DA-41A4-8F25-4F25F3DE4D26}"/>
              </a:ext>
            </a:extLst>
          </p:cNvPr>
          <p:cNvSpPr>
            <a:spLocks xmlns:a="http://schemas.openxmlformats.org/drawingml/2006/main" noGrp="1"/>
          </p:cNvSpPr>
          <p:nvPr/>
        </p:nvSpPr>
        <p:spPr>
          <a:xfrm xmlns:a="http://schemas.openxmlformats.org/drawingml/2006/main">
            <a:off x="800100" y="5610225"/>
            <a:ext cx="10477500" cy="685800"/>
          </a:xfrm>
          <a:prstGeom xmlns:a="http://schemas.openxmlformats.org/drawingml/2006/main" prst="roundRect">
            <a:avLst>
              <a:gd name="adj" fmla="val 13889"/>
            </a:avLst>
          </a:prstGeom>
          <a:solidFill xmlns:a="http://schemas.openxmlformats.org/drawingml/2006/main">
            <a:srgbClr val="F7E5E5"/>
          </a:solidFill>
          <a:ln xmlns:a="http://schemas.openxmlformats.org/drawingml/2006/main" w="9525">
            <a:solidFill>
              <a:srgbClr val="A33A3A"/>
            </a:solidFill>
            <a:prstDash val="solid"/>
          </a:ln>
        </p:spPr>
      </p:sp>
      <p:sp>
        <p:nvSpPr>
          <p:cNvPr id="16" name="">
            <a:extLst xmlns:a="http://schemas.openxmlformats.org/drawingml/2006/main">
              <a:ext uri="{FF2B5EF4-FFF2-40B4-BE49-F238E27FC236}">
                <a16:creationId xmlns:a16="http://schemas.microsoft.com/office/drawing/2014/main" id="{2A548157-13BF-4986-8FBB-2011B8B00341}"/>
              </a:ext>
            </a:extLst>
          </p:cNvPr>
          <p:cNvSpPr>
            <a:spLocks xmlns:a="http://schemas.openxmlformats.org/drawingml/2006/main" noGrp="1"/>
          </p:cNvSpPr>
          <p:nvPr/>
        </p:nvSpPr>
        <p:spPr>
          <a:xfrm xmlns:a="http://schemas.openxmlformats.org/drawingml/2006/main">
            <a:off x="1028700" y="5772150"/>
            <a:ext cx="10020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75" b="1">
                <a:solidFill>
                  <a:srgbClr val="A33A3A"/>
                </a:solidFill>
                <a:latin typeface="Arial"/>
                <a:ea typeface="Arial"/>
                <a:cs typeface="Arial"/>
              </a:defRPr>
            </a:pPr>
            <a:r>
              <a:rPr sz="1575" b="1">
                <a:solidFill>
                  <a:srgbClr val="A33A3A"/>
                </a:solidFill>
                <a:latin typeface="Arial"/>
                <a:ea typeface="Arial"/>
                <a:cs typeface="Arial"/>
              </a:rPr>
              <a:t>Earlier Hebbian stabilization does not mean 5 Hebbian epochs equal 100 BP epochs in accuracy.</a:t>
            </a:r>
          </a:p>
        </p:txBody>
      </p:sp>
    </p:spTree>
    <p:extLst>
      <p:ext uri="{BB962C8B-B14F-4D97-AF65-F5344CB8AC3E}">
        <p14:creationId xmlns:p14="http://schemas.microsoft.com/office/powerpoint/2010/main" val="1873192997"/>
      </p:ext>
    </p:extLst>
  </p:cSld>
</p:sld>
</file>

<file path=ppt/slides/slide7.xml><?xml version="1.0" encoding="utf-8"?>
<p:sld xmlns:p="http://schemas.openxmlformats.org/presentationml/2006/main">
  <p:cSld>
    <p:bg>
      <p:bgPr>
        <a:solidFill xmlns:a="http://schemas.openxmlformats.org/drawingml/2006/main">
          <a:srgbClr val="F7F8F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93BB34A-AA26-4102-A18C-EE57597BE82C}"/>
              </a:ext>
            </a:extLst>
          </p:cNvPr>
          <p:cNvSpPr>
            <a:spLocks xmlns:a="http://schemas.openxmlformats.org/drawingml/2006/main" noGrp="1"/>
          </p:cNvSpPr>
          <p:nvPr/>
        </p:nvSpPr>
        <p:spPr>
          <a:xfrm xmlns:a="http://schemas.openxmlformats.org/drawingml/2006/main">
            <a:off x="609600" y="333375"/>
            <a:ext cx="9715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17222F"/>
                </a:solidFill>
                <a:latin typeface="Arial"/>
                <a:ea typeface="Arial"/>
                <a:cs typeface="Arial"/>
              </a:defRPr>
            </a:pPr>
            <a:r>
              <a:rPr sz="2550" b="1">
                <a:solidFill>
                  <a:srgbClr val="17222F"/>
                </a:solidFill>
                <a:latin typeface="Arial"/>
                <a:ea typeface="Arial"/>
                <a:cs typeface="Arial"/>
              </a:rPr>
              <a:t>Supported findings and limits</a:t>
            </a:r>
          </a:p>
        </p:txBody>
      </p:sp>
      <p:sp>
        <p:nvSpPr>
          <p:cNvPr id="2" name="">
            <a:extLst xmlns:a="http://schemas.openxmlformats.org/drawingml/2006/main">
              <a:ext uri="{FF2B5EF4-FFF2-40B4-BE49-F238E27FC236}">
                <a16:creationId xmlns:a16="http://schemas.microsoft.com/office/drawing/2014/main" id="{DA96C287-56EF-45C6-BC71-A0D82A7977EE}"/>
              </a:ext>
            </a:extLst>
          </p:cNvPr>
          <p:cNvSpPr>
            <a:spLocks xmlns:a="http://schemas.openxmlformats.org/drawingml/2006/main" noGrp="1"/>
          </p:cNvSpPr>
          <p:nvPr/>
        </p:nvSpPr>
        <p:spPr>
          <a:xfrm xmlns:a="http://schemas.openxmlformats.org/drawingml/2006/main">
            <a:off x="609600" y="942975"/>
            <a:ext cx="10972800" cy="9525"/>
          </a:xfrm>
          <a:prstGeom xmlns:a="http://schemas.openxmlformats.org/drawingml/2006/main" prst="line">
            <a:avLst/>
          </a:prstGeom>
          <a:noFill xmlns:a="http://schemas.openxmlformats.org/drawingml/2006/main"/>
          <a:ln xmlns:a="http://schemas.openxmlformats.org/drawingml/2006/main" w="9525">
            <a:solidFill>
              <a:srgbClr val="D9E0E5"/>
            </a:solidFill>
            <a:prstDash val="solid"/>
          </a:ln>
        </p:spPr>
      </p:sp>
      <p:sp>
        <p:nvSpPr>
          <p:cNvPr id="3" name="">
            <a:extLst xmlns:a="http://schemas.openxmlformats.org/drawingml/2006/main">
              <a:ext uri="{FF2B5EF4-FFF2-40B4-BE49-F238E27FC236}">
                <a16:creationId xmlns:a16="http://schemas.microsoft.com/office/drawing/2014/main" id="{B1739E15-345B-4C24-BAEA-4EEBEB0F9911}"/>
              </a:ext>
            </a:extLst>
          </p:cNvPr>
          <p:cNvSpPr>
            <a:spLocks xmlns:a="http://schemas.openxmlformats.org/drawingml/2006/main" noGrp="1"/>
          </p:cNvSpPr>
          <p:nvPr/>
        </p:nvSpPr>
        <p:spPr>
          <a:xfrm xmlns:a="http://schemas.openxmlformats.org/drawingml/2006/main">
            <a:off x="11144250" y="381000"/>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526272"/>
                </a:solidFill>
                <a:latin typeface="Arial"/>
                <a:ea typeface="Arial"/>
                <a:cs typeface="Arial"/>
              </a:defRPr>
            </a:pPr>
            <a:r>
              <a:rPr sz="1125" b="1">
                <a:solidFill>
                  <a:srgbClr val="526272"/>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BF279E19-E96D-4E91-B583-1693A473B52C}"/>
              </a:ext>
            </a:extLst>
          </p:cNvPr>
          <p:cNvSpPr>
            <a:spLocks xmlns:a="http://schemas.openxmlformats.org/drawingml/2006/main" noGrp="1"/>
          </p:cNvSpPr>
          <p:nvPr/>
        </p:nvSpPr>
        <p:spPr>
          <a:xfrm xmlns:a="http://schemas.openxmlformats.org/drawingml/2006/main">
            <a:off x="723900" y="1238250"/>
            <a:ext cx="4857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a:solidFill>
                  <a:srgbClr val="0072B2"/>
                </a:solidFill>
                <a:latin typeface="Arial"/>
                <a:ea typeface="Arial"/>
                <a:cs typeface="Arial"/>
              </a:defRPr>
            </a:pPr>
            <a:r>
              <a:rPr sz="1875" b="1">
                <a:solidFill>
                  <a:srgbClr val="0072B2"/>
                </a:solidFill>
                <a:latin typeface="Arial"/>
                <a:ea typeface="Arial"/>
                <a:cs typeface="Arial"/>
              </a:rPr>
              <a:t>What the model establishes</a:t>
            </a:r>
          </a:p>
        </p:txBody>
      </p:sp>
      <p:sp>
        <p:nvSpPr>
          <p:cNvPr id="5" name="">
            <a:extLst xmlns:a="http://schemas.openxmlformats.org/drawingml/2006/main">
              <a:ext uri="{FF2B5EF4-FFF2-40B4-BE49-F238E27FC236}">
                <a16:creationId xmlns:a16="http://schemas.microsoft.com/office/drawing/2014/main" id="{C2AEBB0E-733E-47F6-AB7E-A870CDC0CADA}"/>
              </a:ext>
            </a:extLst>
          </p:cNvPr>
          <p:cNvSpPr>
            <a:spLocks xmlns:a="http://schemas.openxmlformats.org/drawingml/2006/main" noGrp="1"/>
          </p:cNvSpPr>
          <p:nvPr/>
        </p:nvSpPr>
        <p:spPr>
          <a:xfrm xmlns:a="http://schemas.openxmlformats.org/drawingml/2006/main">
            <a:off x="762000" y="1933575"/>
            <a:ext cx="66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1">
                <a:solidFill>
                  <a:srgbClr val="0072B2"/>
                </a:solidFill>
                <a:latin typeface="Arial"/>
                <a:ea typeface="Arial"/>
                <a:cs typeface="Arial"/>
              </a:defRPr>
            </a:pPr>
            <a:r>
              <a:rPr sz="1800" b="1">
                <a:solidFill>
                  <a:srgbClr val="0072B2"/>
                </a:solidFill>
                <a:latin typeface="Arial"/>
                <a:ea typeface="Arial"/>
                <a:cs typeface="Arial"/>
              </a:rPr>
              <a:t>A1</a:t>
            </a:r>
          </a:p>
        </p:txBody>
      </p:sp>
      <p:sp>
        <p:nvSpPr>
          <p:cNvPr id="6" name="">
            <a:extLst xmlns:a="http://schemas.openxmlformats.org/drawingml/2006/main">
              <a:ext uri="{FF2B5EF4-FFF2-40B4-BE49-F238E27FC236}">
                <a16:creationId xmlns:a16="http://schemas.microsoft.com/office/drawing/2014/main" id="{EE1BA3B4-6BCF-4B1D-9496-89739B0ED018}"/>
              </a:ext>
            </a:extLst>
          </p:cNvPr>
          <p:cNvSpPr>
            <a:spLocks xmlns:a="http://schemas.openxmlformats.org/drawingml/2006/main" noGrp="1"/>
          </p:cNvSpPr>
          <p:nvPr/>
        </p:nvSpPr>
        <p:spPr>
          <a:xfrm xmlns:a="http://schemas.openxmlformats.org/drawingml/2006/main">
            <a:off x="1524000" y="1895475"/>
            <a:ext cx="4095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a:solidFill>
                  <a:srgbClr val="17222F"/>
                </a:solidFill>
                <a:latin typeface="Arial"/>
                <a:ea typeface="Arial"/>
                <a:cs typeface="Arial"/>
              </a:defRPr>
            </a:pPr>
            <a:r>
              <a:rPr sz="1575" b="1">
                <a:solidFill>
                  <a:srgbClr val="17222F"/>
                </a:solidFill>
                <a:latin typeface="Arial"/>
                <a:ea typeface="Arial"/>
                <a:cs typeface="Arial"/>
              </a:rPr>
              <a:t>Direct local Instar uses less modeled arithmetic than BP</a:t>
            </a:r>
          </a:p>
        </p:txBody>
      </p:sp>
      <p:sp>
        <p:nvSpPr>
          <p:cNvPr id="7" name="">
            <a:extLst xmlns:a="http://schemas.openxmlformats.org/drawingml/2006/main">
              <a:ext uri="{FF2B5EF4-FFF2-40B4-BE49-F238E27FC236}">
                <a16:creationId xmlns:a16="http://schemas.microsoft.com/office/drawing/2014/main" id="{707B77A4-54F4-4DB0-AF25-080DF7BAAC32}"/>
              </a:ext>
            </a:extLst>
          </p:cNvPr>
          <p:cNvSpPr>
            <a:spLocks xmlns:a="http://schemas.openxmlformats.org/drawingml/2006/main" noGrp="1"/>
          </p:cNvSpPr>
          <p:nvPr/>
        </p:nvSpPr>
        <p:spPr>
          <a:xfrm xmlns:a="http://schemas.openxmlformats.org/drawingml/2006/main">
            <a:off x="762000" y="2886075"/>
            <a:ext cx="66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1">
                <a:solidFill>
                  <a:srgbClr val="009E73"/>
                </a:solidFill>
                <a:latin typeface="Arial"/>
                <a:ea typeface="Arial"/>
                <a:cs typeface="Arial"/>
              </a:defRPr>
            </a:pPr>
            <a:r>
              <a:rPr sz="1800" b="1">
                <a:solidFill>
                  <a:srgbClr val="009E73"/>
                </a:solidFill>
                <a:latin typeface="Arial"/>
                <a:ea typeface="Arial"/>
                <a:cs typeface="Arial"/>
              </a:rPr>
              <a:t>B</a:t>
            </a:r>
          </a:p>
        </p:txBody>
      </p:sp>
      <p:sp>
        <p:nvSpPr>
          <p:cNvPr id="8" name="">
            <a:extLst xmlns:a="http://schemas.openxmlformats.org/drawingml/2006/main">
              <a:ext uri="{FF2B5EF4-FFF2-40B4-BE49-F238E27FC236}">
                <a16:creationId xmlns:a16="http://schemas.microsoft.com/office/drawing/2014/main" id="{0F8DB0D3-B79E-4AC5-813E-8ECBD294CE7C}"/>
              </a:ext>
            </a:extLst>
          </p:cNvPr>
          <p:cNvSpPr>
            <a:spLocks xmlns:a="http://schemas.openxmlformats.org/drawingml/2006/main" noGrp="1"/>
          </p:cNvSpPr>
          <p:nvPr/>
        </p:nvSpPr>
        <p:spPr>
          <a:xfrm xmlns:a="http://schemas.openxmlformats.org/drawingml/2006/main">
            <a:off x="1524000" y="2847975"/>
            <a:ext cx="4095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a:solidFill>
                  <a:srgbClr val="17222F"/>
                </a:solidFill>
                <a:latin typeface="Arial"/>
                <a:ea typeface="Arial"/>
                <a:cs typeface="Arial"/>
              </a:defRPr>
            </a:pPr>
            <a:r>
              <a:rPr sz="1575" b="1">
                <a:solidFill>
                  <a:srgbClr val="17222F"/>
                </a:solidFill>
                <a:latin typeface="Arial"/>
                <a:ea typeface="Arial"/>
                <a:cs typeface="Arial"/>
              </a:rPr>
              <a:t>Dense autograd captures only part of the potential saving</a:t>
            </a:r>
          </a:p>
        </p:txBody>
      </p:sp>
      <p:sp>
        <p:nvSpPr>
          <p:cNvPr id="9" name="">
            <a:extLst xmlns:a="http://schemas.openxmlformats.org/drawingml/2006/main">
              <a:ext uri="{FF2B5EF4-FFF2-40B4-BE49-F238E27FC236}">
                <a16:creationId xmlns:a16="http://schemas.microsoft.com/office/drawing/2014/main" id="{C138C73F-5FE4-4B42-8ACE-CD8978DB04B9}"/>
              </a:ext>
            </a:extLst>
          </p:cNvPr>
          <p:cNvSpPr>
            <a:spLocks xmlns:a="http://schemas.openxmlformats.org/drawingml/2006/main" noGrp="1"/>
          </p:cNvSpPr>
          <p:nvPr/>
        </p:nvSpPr>
        <p:spPr>
          <a:xfrm xmlns:a="http://schemas.openxmlformats.org/drawingml/2006/main">
            <a:off x="762000" y="3838575"/>
            <a:ext cx="1200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E69F00"/>
                </a:solidFill>
                <a:latin typeface="Arial"/>
                <a:ea typeface="Arial"/>
                <a:cs typeface="Arial"/>
              </a:defRPr>
            </a:pPr>
            <a:r>
              <a:rPr sz="1350" b="1">
                <a:solidFill>
                  <a:srgbClr val="E69F00"/>
                </a:solidFill>
                <a:latin typeface="Arial"/>
                <a:ea typeface="Arial"/>
                <a:cs typeface="Arial"/>
              </a:rPr>
              <a:t>A2 conditional</a:t>
            </a:r>
          </a:p>
        </p:txBody>
      </p:sp>
      <p:sp>
        <p:nvSpPr>
          <p:cNvPr id="10" name="">
            <a:extLst xmlns:a="http://schemas.openxmlformats.org/drawingml/2006/main">
              <a:ext uri="{FF2B5EF4-FFF2-40B4-BE49-F238E27FC236}">
                <a16:creationId xmlns:a16="http://schemas.microsoft.com/office/drawing/2014/main" id="{8B5AAEEA-9477-4579-B8B0-16AEF4CBF275}"/>
              </a:ext>
            </a:extLst>
          </p:cNvPr>
          <p:cNvSpPr>
            <a:spLocks xmlns:a="http://schemas.openxmlformats.org/drawingml/2006/main" noGrp="1"/>
          </p:cNvSpPr>
          <p:nvPr/>
        </p:nvSpPr>
        <p:spPr>
          <a:xfrm xmlns:a="http://schemas.openxmlformats.org/drawingml/2006/main">
            <a:off x="2095500" y="3800475"/>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a:solidFill>
                  <a:srgbClr val="17222F"/>
                </a:solidFill>
                <a:latin typeface="Arial"/>
                <a:ea typeface="Arial"/>
                <a:cs typeface="Arial"/>
              </a:defRPr>
            </a:pPr>
            <a:r>
              <a:rPr sz="1575" b="1">
                <a:solidFill>
                  <a:srgbClr val="17222F"/>
                </a:solidFill>
                <a:latin typeface="Arial"/>
                <a:ea typeface="Arial"/>
                <a:cs typeface="Arial"/>
              </a:rPr>
              <a:t>Largest saving, conditional on real sparse execution</a:t>
            </a:r>
          </a:p>
        </p:txBody>
      </p:sp>
      <p:sp>
        <p:nvSpPr>
          <p:cNvPr id="11" name="">
            <a:extLst xmlns:a="http://schemas.openxmlformats.org/drawingml/2006/main">
              <a:ext uri="{FF2B5EF4-FFF2-40B4-BE49-F238E27FC236}">
                <a16:creationId xmlns:a16="http://schemas.microsoft.com/office/drawing/2014/main" id="{79753018-51F8-4FF7-8282-22318A13D69B}"/>
              </a:ext>
            </a:extLst>
          </p:cNvPr>
          <p:cNvSpPr>
            <a:spLocks xmlns:a="http://schemas.openxmlformats.org/drawingml/2006/main" noGrp="1"/>
          </p:cNvSpPr>
          <p:nvPr/>
        </p:nvSpPr>
        <p:spPr>
          <a:xfrm xmlns:a="http://schemas.openxmlformats.org/drawingml/2006/main">
            <a:off x="762000" y="4791075"/>
            <a:ext cx="857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1">
                <a:solidFill>
                  <a:srgbClr val="4D4D4D"/>
                </a:solidFill>
                <a:latin typeface="Arial"/>
                <a:ea typeface="Arial"/>
                <a:cs typeface="Arial"/>
              </a:defRPr>
            </a:pPr>
            <a:r>
              <a:rPr sz="1425" b="1">
                <a:solidFill>
                  <a:srgbClr val="4D4D4D"/>
                </a:solidFill>
                <a:latin typeface="Arial"/>
                <a:ea typeface="Arial"/>
                <a:cs typeface="Arial"/>
              </a:rPr>
              <a:t>STATE</a:t>
            </a:r>
          </a:p>
        </p:txBody>
      </p:sp>
      <p:sp>
        <p:nvSpPr>
          <p:cNvPr id="12" name="">
            <a:extLst xmlns:a="http://schemas.openxmlformats.org/drawingml/2006/main">
              <a:ext uri="{FF2B5EF4-FFF2-40B4-BE49-F238E27FC236}">
                <a16:creationId xmlns:a16="http://schemas.microsoft.com/office/drawing/2014/main" id="{4DB78220-9FB7-4D10-B8DD-D3532BB65EDB}"/>
              </a:ext>
            </a:extLst>
          </p:cNvPr>
          <p:cNvSpPr>
            <a:spLocks xmlns:a="http://schemas.openxmlformats.org/drawingml/2006/main" noGrp="1"/>
          </p:cNvSpPr>
          <p:nvPr/>
        </p:nvSpPr>
        <p:spPr>
          <a:xfrm xmlns:a="http://schemas.openxmlformats.org/drawingml/2006/main">
            <a:off x="1714500" y="4752975"/>
            <a:ext cx="3905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a:solidFill>
                  <a:srgbClr val="17222F"/>
                </a:solidFill>
                <a:latin typeface="Arial"/>
                <a:ea typeface="Arial"/>
                <a:cs typeface="Arial"/>
              </a:defRPr>
            </a:pPr>
            <a:r>
              <a:rPr sz="1575" b="1">
                <a:solidFill>
                  <a:srgbClr val="17222F"/>
                </a:solidFill>
                <a:latin typeface="Arial"/>
                <a:ea typeface="Arial"/>
                <a:cs typeface="Arial"/>
              </a:rPr>
              <a:t>Locality can reduce persistent state and global-gradient traffic</a:t>
            </a:r>
          </a:p>
        </p:txBody>
      </p:sp>
      <p:sp>
        <p:nvSpPr>
          <p:cNvPr id="13" name="">
            <a:extLst xmlns:a="http://schemas.openxmlformats.org/drawingml/2006/main">
              <a:ext uri="{FF2B5EF4-FFF2-40B4-BE49-F238E27FC236}">
                <a16:creationId xmlns:a16="http://schemas.microsoft.com/office/drawing/2014/main" id="{B41E9B2B-C133-404F-AE0B-6DE9FBABFCFA}"/>
              </a:ext>
            </a:extLst>
          </p:cNvPr>
          <p:cNvSpPr>
            <a:spLocks xmlns:a="http://schemas.openxmlformats.org/drawingml/2006/main" noGrp="1"/>
          </p:cNvSpPr>
          <p:nvPr/>
        </p:nvSpPr>
        <p:spPr>
          <a:xfrm xmlns:a="http://schemas.openxmlformats.org/drawingml/2006/main">
            <a:off x="6096000" y="1257300"/>
            <a:ext cx="9525" cy="4286250"/>
          </a:xfrm>
          <a:prstGeom xmlns:a="http://schemas.openxmlformats.org/drawingml/2006/main" prst="line">
            <a:avLst/>
          </a:prstGeom>
          <a:noFill xmlns:a="http://schemas.openxmlformats.org/drawingml/2006/main"/>
          <a:ln xmlns:a="http://schemas.openxmlformats.org/drawingml/2006/main" w="9525">
            <a:solidFill>
              <a:srgbClr val="D9E0E5"/>
            </a:solidFill>
            <a:prstDash val="solid"/>
          </a:ln>
        </p:spPr>
      </p:sp>
      <p:sp>
        <p:nvSpPr>
          <p:cNvPr id="14" name="">
            <a:extLst xmlns:a="http://schemas.openxmlformats.org/drawingml/2006/main">
              <a:ext uri="{FF2B5EF4-FFF2-40B4-BE49-F238E27FC236}">
                <a16:creationId xmlns:a16="http://schemas.microsoft.com/office/drawing/2014/main" id="{710EBE0C-4D5B-4105-8E6F-D4D32C6725D8}"/>
              </a:ext>
            </a:extLst>
          </p:cNvPr>
          <p:cNvSpPr>
            <a:spLocks xmlns:a="http://schemas.openxmlformats.org/drawingml/2006/main" noGrp="1"/>
          </p:cNvSpPr>
          <p:nvPr/>
        </p:nvSpPr>
        <p:spPr>
          <a:xfrm xmlns:a="http://schemas.openxmlformats.org/drawingml/2006/main">
            <a:off x="6629400" y="123825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a:solidFill>
                  <a:srgbClr val="A33A3A"/>
                </a:solidFill>
                <a:latin typeface="Arial"/>
                <a:ea typeface="Arial"/>
                <a:cs typeface="Arial"/>
              </a:defRPr>
            </a:pPr>
            <a:r>
              <a:rPr sz="1875" b="1">
                <a:solidFill>
                  <a:srgbClr val="A33A3A"/>
                </a:solidFill>
                <a:latin typeface="Arial"/>
                <a:ea typeface="Arial"/>
                <a:cs typeface="Arial"/>
              </a:rPr>
              <a:t>What the model does not establish</a:t>
            </a:r>
          </a:p>
        </p:txBody>
      </p:sp>
      <p:sp>
        <p:nvSpPr>
          <p:cNvPr id="15" name="">
            <a:extLst xmlns:a="http://schemas.openxmlformats.org/drawingml/2006/main">
              <a:ext uri="{FF2B5EF4-FFF2-40B4-BE49-F238E27FC236}">
                <a16:creationId xmlns:a16="http://schemas.microsoft.com/office/drawing/2014/main" id="{BA1F71B7-1CE5-43E9-AE15-3ABC89E6E532}"/>
              </a:ext>
            </a:extLst>
          </p:cNvPr>
          <p:cNvSpPr>
            <a:spLocks xmlns:a="http://schemas.openxmlformats.org/drawingml/2006/main" noGrp="1"/>
          </p:cNvSpPr>
          <p:nvPr/>
        </p:nvSpPr>
        <p:spPr>
          <a:xfrm xmlns:a="http://schemas.openxmlformats.org/drawingml/2006/main">
            <a:off x="6686550" y="19335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425" b="1">
                <a:solidFill>
                  <a:srgbClr val="A33A3A"/>
                </a:solidFill>
                <a:latin typeface="Arial"/>
                <a:ea typeface="Arial"/>
                <a:cs typeface="Arial"/>
              </a:defRPr>
            </a:pPr>
            <a:r>
              <a:rPr sz="1425" b="1">
                <a:solidFill>
                  <a:srgbClr val="A33A3A"/>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7F7E73A1-ED72-43CB-BC07-381C1258D8E3}"/>
              </a:ext>
            </a:extLst>
          </p:cNvPr>
          <p:cNvSpPr>
            <a:spLocks xmlns:a="http://schemas.openxmlformats.org/drawingml/2006/main" noGrp="1"/>
          </p:cNvSpPr>
          <p:nvPr/>
        </p:nvSpPr>
        <p:spPr>
          <a:xfrm xmlns:a="http://schemas.openxmlformats.org/drawingml/2006/main">
            <a:off x="7162800" y="1885950"/>
            <a:ext cx="4000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a:solidFill>
                  <a:srgbClr val="17222F"/>
                </a:solidFill>
                <a:latin typeface="Arial"/>
                <a:ea typeface="Arial"/>
                <a:cs typeface="Arial"/>
              </a:defRPr>
            </a:pPr>
            <a:r>
              <a:rPr sz="1500" b="1">
                <a:solidFill>
                  <a:srgbClr val="17222F"/>
                </a:solidFill>
                <a:latin typeface="Arial"/>
                <a:ea typeface="Arial"/>
                <a:cs typeface="Arial"/>
              </a:rPr>
              <a:t>No measured energy, runtime, or GPU peak memory</a:t>
            </a:r>
          </a:p>
        </p:txBody>
      </p:sp>
      <p:sp>
        <p:nvSpPr>
          <p:cNvPr id="17" name="">
            <a:extLst xmlns:a="http://schemas.openxmlformats.org/drawingml/2006/main">
              <a:ext uri="{FF2B5EF4-FFF2-40B4-BE49-F238E27FC236}">
                <a16:creationId xmlns:a16="http://schemas.microsoft.com/office/drawing/2014/main" id="{3881EF6B-D378-461E-92C4-6764BF70BE39}"/>
              </a:ext>
            </a:extLst>
          </p:cNvPr>
          <p:cNvSpPr>
            <a:spLocks xmlns:a="http://schemas.openxmlformats.org/drawingml/2006/main" noGrp="1"/>
          </p:cNvSpPr>
          <p:nvPr/>
        </p:nvSpPr>
        <p:spPr>
          <a:xfrm xmlns:a="http://schemas.openxmlformats.org/drawingml/2006/main">
            <a:off x="6686550" y="28098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425" b="1">
                <a:solidFill>
                  <a:srgbClr val="A33A3A"/>
                </a:solidFill>
                <a:latin typeface="Arial"/>
                <a:ea typeface="Arial"/>
                <a:cs typeface="Arial"/>
              </a:defRPr>
            </a:pPr>
            <a:r>
              <a:rPr sz="1425" b="1">
                <a:solidFill>
                  <a:srgbClr val="A33A3A"/>
                </a:solidFill>
                <a:latin typeface="Arial"/>
                <a:ea typeface="Arial"/>
                <a:cs typeface="Arial"/>
              </a:rPr>
              <a:t>2</a:t>
            </a:r>
          </a:p>
        </p:txBody>
      </p:sp>
      <p:sp>
        <p:nvSpPr>
          <p:cNvPr id="18" name="">
            <a:extLst xmlns:a="http://schemas.openxmlformats.org/drawingml/2006/main">
              <a:ext uri="{FF2B5EF4-FFF2-40B4-BE49-F238E27FC236}">
                <a16:creationId xmlns:a16="http://schemas.microsoft.com/office/drawing/2014/main" id="{B6D82895-F262-46F6-BEB0-82230867E4C8}"/>
              </a:ext>
            </a:extLst>
          </p:cNvPr>
          <p:cNvSpPr>
            <a:spLocks xmlns:a="http://schemas.openxmlformats.org/drawingml/2006/main" noGrp="1"/>
          </p:cNvSpPr>
          <p:nvPr/>
        </p:nvSpPr>
        <p:spPr>
          <a:xfrm xmlns:a="http://schemas.openxmlformats.org/drawingml/2006/main">
            <a:off x="7162800" y="2762250"/>
            <a:ext cx="4000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a:solidFill>
                  <a:srgbClr val="17222F"/>
                </a:solidFill>
                <a:latin typeface="Arial"/>
                <a:ea typeface="Arial"/>
                <a:cs typeface="Arial"/>
              </a:defRPr>
            </a:pPr>
            <a:r>
              <a:rPr sz="1500" b="1">
                <a:solidFill>
                  <a:srgbClr val="17222F"/>
                </a:solidFill>
                <a:latin typeface="Arial"/>
                <a:ea typeface="Arial"/>
                <a:cs typeface="Arial"/>
              </a:rPr>
              <a:t>BP includes documented assumptions where sources are incomplete</a:t>
            </a:r>
          </a:p>
        </p:txBody>
      </p:sp>
      <p:sp>
        <p:nvSpPr>
          <p:cNvPr id="19" name="">
            <a:extLst xmlns:a="http://schemas.openxmlformats.org/drawingml/2006/main">
              <a:ext uri="{FF2B5EF4-FFF2-40B4-BE49-F238E27FC236}">
                <a16:creationId xmlns:a16="http://schemas.microsoft.com/office/drawing/2014/main" id="{C6AA9758-4A49-43C4-9E2C-8C664BDF1F07}"/>
              </a:ext>
            </a:extLst>
          </p:cNvPr>
          <p:cNvSpPr>
            <a:spLocks xmlns:a="http://schemas.openxmlformats.org/drawingml/2006/main" noGrp="1"/>
          </p:cNvSpPr>
          <p:nvPr/>
        </p:nvSpPr>
        <p:spPr>
          <a:xfrm xmlns:a="http://schemas.openxmlformats.org/drawingml/2006/main">
            <a:off x="6686550" y="36861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425" b="1">
                <a:solidFill>
                  <a:srgbClr val="A33A3A"/>
                </a:solidFill>
                <a:latin typeface="Arial"/>
                <a:ea typeface="Arial"/>
                <a:cs typeface="Arial"/>
              </a:defRPr>
            </a:pPr>
            <a:r>
              <a:rPr sz="1425" b="1">
                <a:solidFill>
                  <a:srgbClr val="A33A3A"/>
                </a:solidFill>
                <a:latin typeface="Arial"/>
                <a:ea typeface="Arial"/>
                <a:cs typeface="Arial"/>
              </a:rPr>
              <a:t>3</a:t>
            </a:r>
          </a:p>
        </p:txBody>
      </p:sp>
      <p:sp>
        <p:nvSpPr>
          <p:cNvPr id="20" name="">
            <a:extLst xmlns:a="http://schemas.openxmlformats.org/drawingml/2006/main">
              <a:ext uri="{FF2B5EF4-FFF2-40B4-BE49-F238E27FC236}">
                <a16:creationId xmlns:a16="http://schemas.microsoft.com/office/drawing/2014/main" id="{9043F2B9-7107-4944-8245-127E72EFD4B8}"/>
              </a:ext>
            </a:extLst>
          </p:cNvPr>
          <p:cNvSpPr>
            <a:spLocks xmlns:a="http://schemas.openxmlformats.org/drawingml/2006/main" noGrp="1"/>
          </p:cNvSpPr>
          <p:nvPr/>
        </p:nvSpPr>
        <p:spPr>
          <a:xfrm xmlns:a="http://schemas.openxmlformats.org/drawingml/2006/main">
            <a:off x="7162800" y="3638550"/>
            <a:ext cx="4000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a:solidFill>
                  <a:srgbClr val="17222F"/>
                </a:solidFill>
                <a:latin typeface="Arial"/>
                <a:ea typeface="Arial"/>
                <a:cs typeface="Arial"/>
              </a:defRPr>
            </a:pPr>
            <a:r>
              <a:rPr sz="1500" b="1">
                <a:solidFill>
                  <a:srgbClr val="17222F"/>
                </a:solidFill>
                <a:latin typeface="Arial"/>
                <a:ea typeface="Arial"/>
                <a:cs typeface="Arial"/>
              </a:rPr>
              <a:t>A2 conditional is not the current PyTorch execution</a:t>
            </a:r>
          </a:p>
        </p:txBody>
      </p:sp>
      <p:sp>
        <p:nvSpPr>
          <p:cNvPr id="21" name="">
            <a:extLst xmlns:a="http://schemas.openxmlformats.org/drawingml/2006/main">
              <a:ext uri="{FF2B5EF4-FFF2-40B4-BE49-F238E27FC236}">
                <a16:creationId xmlns:a16="http://schemas.microsoft.com/office/drawing/2014/main" id="{308552AC-FFB1-4A9D-B0C8-F4DEE470A631}"/>
              </a:ext>
            </a:extLst>
          </p:cNvPr>
          <p:cNvSpPr>
            <a:spLocks xmlns:a="http://schemas.openxmlformats.org/drawingml/2006/main" noGrp="1"/>
          </p:cNvSpPr>
          <p:nvPr/>
        </p:nvSpPr>
        <p:spPr>
          <a:xfrm xmlns:a="http://schemas.openxmlformats.org/drawingml/2006/main">
            <a:off x="6686550" y="4562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425" b="1">
                <a:solidFill>
                  <a:srgbClr val="A33A3A"/>
                </a:solidFill>
                <a:latin typeface="Arial"/>
                <a:ea typeface="Arial"/>
                <a:cs typeface="Arial"/>
              </a:defRPr>
            </a:pPr>
            <a:r>
              <a:rPr sz="1425" b="1">
                <a:solidFill>
                  <a:srgbClr val="A33A3A"/>
                </a:solidFill>
                <a:latin typeface="Arial"/>
                <a:ea typeface="Arial"/>
                <a:cs typeface="Arial"/>
              </a:rPr>
              <a:t>4</a:t>
            </a:r>
          </a:p>
        </p:txBody>
      </p:sp>
      <p:sp>
        <p:nvSpPr>
          <p:cNvPr id="22" name="">
            <a:extLst xmlns:a="http://schemas.openxmlformats.org/drawingml/2006/main">
              <a:ext uri="{FF2B5EF4-FFF2-40B4-BE49-F238E27FC236}">
                <a16:creationId xmlns:a16="http://schemas.microsoft.com/office/drawing/2014/main" id="{46BEFD21-8F36-4A99-B136-149F1DCB516F}"/>
              </a:ext>
            </a:extLst>
          </p:cNvPr>
          <p:cNvSpPr>
            <a:spLocks xmlns:a="http://schemas.openxmlformats.org/drawingml/2006/main" noGrp="1"/>
          </p:cNvSpPr>
          <p:nvPr/>
        </p:nvSpPr>
        <p:spPr>
          <a:xfrm xmlns:a="http://schemas.openxmlformats.org/drawingml/2006/main">
            <a:off x="7162800" y="4514850"/>
            <a:ext cx="4000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a:solidFill>
                  <a:srgbClr val="17222F"/>
                </a:solidFill>
                <a:latin typeface="Arial"/>
                <a:ea typeface="Arial"/>
                <a:cs typeface="Arial"/>
              </a:defRPr>
            </a:pPr>
            <a:r>
              <a:rPr sz="1500" b="1">
                <a:solidFill>
                  <a:srgbClr val="17222F"/>
                </a:solidFill>
                <a:latin typeface="Arial"/>
                <a:ea typeface="Arial"/>
                <a:cs typeface="Arial"/>
              </a:rPr>
              <a:t>Accuracy protocols and classifiers are not identical</a:t>
            </a:r>
          </a:p>
        </p:txBody>
      </p:sp>
      <p:sp>
        <p:nvSpPr>
          <p:cNvPr id="23" name="">
            <a:extLst xmlns:a="http://schemas.openxmlformats.org/drawingml/2006/main">
              <a:ext uri="{FF2B5EF4-FFF2-40B4-BE49-F238E27FC236}">
                <a16:creationId xmlns:a16="http://schemas.microsoft.com/office/drawing/2014/main" id="{CCD19499-9BBE-475C-BE87-A2EF250A1169}"/>
              </a:ext>
            </a:extLst>
          </p:cNvPr>
          <p:cNvSpPr>
            <a:spLocks xmlns:a="http://schemas.openxmlformats.org/drawingml/2006/main" noGrp="1"/>
          </p:cNvSpPr>
          <p:nvPr/>
        </p:nvSpPr>
        <p:spPr>
          <a:xfrm xmlns:a="http://schemas.openxmlformats.org/drawingml/2006/main">
            <a:off x="1047750" y="5886450"/>
            <a:ext cx="10096500" cy="466725"/>
          </a:xfrm>
          <a:prstGeom xmlns:a="http://schemas.openxmlformats.org/drawingml/2006/main" prst="roundRect">
            <a:avLst>
              <a:gd name="adj" fmla="val 16327"/>
            </a:avLst>
          </a:prstGeom>
          <a:solidFill xmlns:a="http://schemas.openxmlformats.org/drawingml/2006/main">
            <a:srgbClr val="FFFFFF"/>
          </a:solidFill>
          <a:ln xmlns:a="http://schemas.openxmlformats.org/drawingml/2006/main" w="9525">
            <a:solidFill>
              <a:srgbClr val="D9E0E5"/>
            </a:solidFill>
            <a:prstDash val="solid"/>
          </a:ln>
        </p:spPr>
      </p:sp>
      <p:sp>
        <p:nvSpPr>
          <p:cNvPr id="24" name="">
            <a:extLst xmlns:a="http://schemas.openxmlformats.org/drawingml/2006/main">
              <a:ext uri="{FF2B5EF4-FFF2-40B4-BE49-F238E27FC236}">
                <a16:creationId xmlns:a16="http://schemas.microsoft.com/office/drawing/2014/main" id="{B9E8F2ED-78FB-44A3-A043-26E3B8620ED6}"/>
              </a:ext>
            </a:extLst>
          </p:cNvPr>
          <p:cNvSpPr>
            <a:spLocks xmlns:a="http://schemas.openxmlformats.org/drawingml/2006/main" noGrp="1"/>
          </p:cNvSpPr>
          <p:nvPr/>
        </p:nvSpPr>
        <p:spPr>
          <a:xfrm xmlns:a="http://schemas.openxmlformats.org/drawingml/2006/main">
            <a:off x="1276350" y="5991225"/>
            <a:ext cx="9639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350" b="0">
                <a:solidFill>
                  <a:srgbClr val="526272"/>
                </a:solidFill>
                <a:latin typeface="Arial"/>
                <a:ea typeface="Arial"/>
                <a:cs typeface="Arial"/>
              </a:defRPr>
            </a:pPr>
            <a:r>
              <a:rPr sz="1350" b="0">
                <a:solidFill>
                  <a:srgbClr val="526272"/>
                </a:solidFill>
                <a:latin typeface="Arial"/>
                <a:ea typeface="Arial"/>
                <a:cs typeface="Arial"/>
              </a:rPr>
              <a:t>Hardware outcomes still depend on kernels, fusion, memory hierarchy, and sparse-access overhead.</a:t>
            </a:r>
          </a:p>
        </p:txBody>
      </p:sp>
    </p:spTree>
    <p:extLst>
      <p:ext uri="{BB962C8B-B14F-4D97-AF65-F5344CB8AC3E}">
        <p14:creationId xmlns:p14="http://schemas.microsoft.com/office/powerpoint/2010/main" val="1887901654"/>
      </p:ext>
    </p:extLst>
  </p:cSld>
</p:sld>
</file>

<file path=ppt/slides/slide8.xml><?xml version="1.0" encoding="utf-8"?>
<p:sld xmlns:p="http://schemas.openxmlformats.org/presentationml/2006/main">
  <p:cSld>
    <p:bg>
      <p:bgPr>
        <a:solidFill xmlns:a="http://schemas.openxmlformats.org/drawingml/2006/main">
          <a:srgbClr val="17222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2448650-0AE0-4070-B207-52DBE6C8E608}"/>
              </a:ext>
            </a:extLst>
          </p:cNvPr>
          <p:cNvSpPr>
            <a:spLocks xmlns:a="http://schemas.openxmlformats.org/drawingml/2006/main" noGrp="1"/>
          </p:cNvSpPr>
          <p:nvPr/>
        </p:nvSpPr>
        <p:spPr>
          <a:xfrm xmlns:a="http://schemas.openxmlformats.org/drawingml/2006/main">
            <a:off x="742950" y="590550"/>
            <a:ext cx="523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Conclusion</a:t>
            </a:r>
          </a:p>
        </p:txBody>
      </p:sp>
      <p:sp>
        <p:nvSpPr>
          <p:cNvPr id="2" name="">
            <a:extLst xmlns:a="http://schemas.openxmlformats.org/drawingml/2006/main">
              <a:ext uri="{FF2B5EF4-FFF2-40B4-BE49-F238E27FC236}">
                <a16:creationId xmlns:a16="http://schemas.microsoft.com/office/drawing/2014/main" id="{37813D1B-1C7E-4A62-8A9B-6FD322A341F9}"/>
              </a:ext>
            </a:extLst>
          </p:cNvPr>
          <p:cNvSpPr>
            <a:spLocks xmlns:a="http://schemas.openxmlformats.org/drawingml/2006/main" noGrp="1"/>
          </p:cNvSpPr>
          <p:nvPr/>
        </p:nvSpPr>
        <p:spPr>
          <a:xfrm xmlns:a="http://schemas.openxmlformats.org/drawingml/2006/main">
            <a:off x="819150" y="161925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a:solidFill>
                  <a:srgbClr val="0072B2"/>
                </a:solidFill>
                <a:latin typeface="Arial"/>
                <a:ea typeface="Arial"/>
                <a:cs typeface="Arial"/>
              </a:defRPr>
            </a:pPr>
            <a:r>
              <a:rPr sz="1650" b="1">
                <a:solidFill>
                  <a:srgbClr val="0072B2"/>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7A378FB4-E76B-48C8-8EC9-2D4133E3FDCA}"/>
              </a:ext>
            </a:extLst>
          </p:cNvPr>
          <p:cNvSpPr>
            <a:spLocks xmlns:a="http://schemas.openxmlformats.org/drawingml/2006/main" noGrp="1"/>
          </p:cNvSpPr>
          <p:nvPr/>
        </p:nvSpPr>
        <p:spPr>
          <a:xfrm xmlns:a="http://schemas.openxmlformats.org/drawingml/2006/main">
            <a:off x="1619250" y="1571625"/>
            <a:ext cx="8620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025" b="1">
                <a:solidFill>
                  <a:srgbClr val="FFFFFF"/>
                </a:solidFill>
                <a:latin typeface="Arial"/>
                <a:ea typeface="Arial"/>
                <a:cs typeface="Arial"/>
              </a:defRPr>
            </a:pPr>
            <a:r>
              <a:rPr sz="2025" b="1">
                <a:solidFill>
                  <a:srgbClr val="FFFFFF"/>
                </a:solidFill>
                <a:latin typeface="Arial"/>
                <a:ea typeface="Arial"/>
                <a:cs typeface="Arial"/>
              </a:rPr>
              <a:t>Direct local Hebbian learning has a clear modeled resource advantage for this network.</a:t>
            </a:r>
          </a:p>
        </p:txBody>
      </p:sp>
      <p:sp>
        <p:nvSpPr>
          <p:cNvPr id="4" name="">
            <a:extLst xmlns:a="http://schemas.openxmlformats.org/drawingml/2006/main">
              <a:ext uri="{FF2B5EF4-FFF2-40B4-BE49-F238E27FC236}">
                <a16:creationId xmlns:a16="http://schemas.microsoft.com/office/drawing/2014/main" id="{C2D3A316-D0E9-4373-B238-0BC8CB8A658D}"/>
              </a:ext>
            </a:extLst>
          </p:cNvPr>
          <p:cNvSpPr>
            <a:spLocks xmlns:a="http://schemas.openxmlformats.org/drawingml/2006/main" noGrp="1"/>
          </p:cNvSpPr>
          <p:nvPr/>
        </p:nvSpPr>
        <p:spPr>
          <a:xfrm xmlns:a="http://schemas.openxmlformats.org/drawingml/2006/main">
            <a:off x="1619250" y="2552700"/>
            <a:ext cx="8572500" cy="9525"/>
          </a:xfrm>
          <a:prstGeom xmlns:a="http://schemas.openxmlformats.org/drawingml/2006/main" prst="line">
            <a:avLst/>
          </a:prstGeom>
          <a:noFill xmlns:a="http://schemas.openxmlformats.org/drawingml/2006/main"/>
          <a:ln xmlns:a="http://schemas.openxmlformats.org/drawingml/2006/main" w="9525">
            <a:solidFill>
              <a:srgbClr val="40505F"/>
            </a:solidFill>
            <a:prstDash val="solid"/>
          </a:ln>
        </p:spPr>
      </p:sp>
      <p:sp>
        <p:nvSpPr>
          <p:cNvPr id="5" name="">
            <a:extLst xmlns:a="http://schemas.openxmlformats.org/drawingml/2006/main">
              <a:ext uri="{FF2B5EF4-FFF2-40B4-BE49-F238E27FC236}">
                <a16:creationId xmlns:a16="http://schemas.microsoft.com/office/drawing/2014/main" id="{44B03493-9405-400D-8F74-2E16979D8077}"/>
              </a:ext>
            </a:extLst>
          </p:cNvPr>
          <p:cNvSpPr>
            <a:spLocks xmlns:a="http://schemas.openxmlformats.org/drawingml/2006/main" noGrp="1"/>
          </p:cNvSpPr>
          <p:nvPr/>
        </p:nvSpPr>
        <p:spPr>
          <a:xfrm xmlns:a="http://schemas.openxmlformats.org/drawingml/2006/main">
            <a:off x="819150" y="287655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a:solidFill>
                  <a:srgbClr val="E69F00"/>
                </a:solidFill>
                <a:latin typeface="Arial"/>
                <a:ea typeface="Arial"/>
                <a:cs typeface="Arial"/>
              </a:defRPr>
            </a:pPr>
            <a:r>
              <a:rPr sz="1650" b="1">
                <a:solidFill>
                  <a:srgbClr val="E69F00"/>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CBC1AAAA-9BBD-4F9F-9A7C-D51A3B8ECACA}"/>
              </a:ext>
            </a:extLst>
          </p:cNvPr>
          <p:cNvSpPr>
            <a:spLocks xmlns:a="http://schemas.openxmlformats.org/drawingml/2006/main" noGrp="1"/>
          </p:cNvSpPr>
          <p:nvPr/>
        </p:nvSpPr>
        <p:spPr>
          <a:xfrm xmlns:a="http://schemas.openxmlformats.org/drawingml/2006/main">
            <a:off x="1619250" y="2828925"/>
            <a:ext cx="8620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025" b="1">
                <a:solidFill>
                  <a:srgbClr val="FFFFFF"/>
                </a:solidFill>
                <a:latin typeface="Arial"/>
                <a:ea typeface="Arial"/>
                <a:cs typeface="Arial"/>
              </a:defRPr>
            </a:pPr>
            <a:r>
              <a:rPr sz="2025" b="1">
                <a:solidFill>
                  <a:srgbClr val="FFFFFF"/>
                </a:solidFill>
                <a:latin typeface="Arial"/>
                <a:ea typeface="Arial"/>
                <a:cs typeface="Arial"/>
              </a:rPr>
              <a:t>Implementation matters: A1 improves on B, while A2 conditional needs genuine sparse execution.</a:t>
            </a:r>
          </a:p>
        </p:txBody>
      </p:sp>
      <p:sp>
        <p:nvSpPr>
          <p:cNvPr id="7" name="">
            <a:extLst xmlns:a="http://schemas.openxmlformats.org/drawingml/2006/main">
              <a:ext uri="{FF2B5EF4-FFF2-40B4-BE49-F238E27FC236}">
                <a16:creationId xmlns:a16="http://schemas.microsoft.com/office/drawing/2014/main" id="{1D59C801-D4FE-4307-89F8-B1354037D098}"/>
              </a:ext>
            </a:extLst>
          </p:cNvPr>
          <p:cNvSpPr>
            <a:spLocks xmlns:a="http://schemas.openxmlformats.org/drawingml/2006/main" noGrp="1"/>
          </p:cNvSpPr>
          <p:nvPr/>
        </p:nvSpPr>
        <p:spPr>
          <a:xfrm xmlns:a="http://schemas.openxmlformats.org/drawingml/2006/main">
            <a:off x="1619250" y="3810000"/>
            <a:ext cx="8572500" cy="9525"/>
          </a:xfrm>
          <a:prstGeom xmlns:a="http://schemas.openxmlformats.org/drawingml/2006/main" prst="line">
            <a:avLst/>
          </a:prstGeom>
          <a:noFill xmlns:a="http://schemas.openxmlformats.org/drawingml/2006/main"/>
          <a:ln xmlns:a="http://schemas.openxmlformats.org/drawingml/2006/main" w="9525">
            <a:solidFill>
              <a:srgbClr val="40505F"/>
            </a:solidFill>
            <a:prstDash val="solid"/>
          </a:ln>
        </p:spPr>
      </p:sp>
      <p:sp>
        <p:nvSpPr>
          <p:cNvPr id="8" name="">
            <a:extLst xmlns:a="http://schemas.openxmlformats.org/drawingml/2006/main">
              <a:ext uri="{FF2B5EF4-FFF2-40B4-BE49-F238E27FC236}">
                <a16:creationId xmlns:a16="http://schemas.microsoft.com/office/drawing/2014/main" id="{25E04AA1-BE60-44F3-9607-969E3E454C68}"/>
              </a:ext>
            </a:extLst>
          </p:cNvPr>
          <p:cNvSpPr>
            <a:spLocks xmlns:a="http://schemas.openxmlformats.org/drawingml/2006/main" noGrp="1"/>
          </p:cNvSpPr>
          <p:nvPr/>
        </p:nvSpPr>
        <p:spPr>
          <a:xfrm xmlns:a="http://schemas.openxmlformats.org/drawingml/2006/main">
            <a:off x="819150" y="413385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1">
                <a:solidFill>
                  <a:srgbClr val="0072B2"/>
                </a:solidFill>
                <a:latin typeface="Arial"/>
                <a:ea typeface="Arial"/>
                <a:cs typeface="Arial"/>
              </a:defRPr>
            </a:pPr>
            <a:r>
              <a:rPr sz="1650" b="1">
                <a:solidFill>
                  <a:srgbClr val="0072B2"/>
                </a:solidFill>
                <a:latin typeface="Arial"/>
                <a:ea typeface="Arial"/>
                <a:cs typeface="Arial"/>
              </a:rPr>
              <a:t>03</a:t>
            </a:r>
          </a:p>
        </p:txBody>
      </p:sp>
      <p:sp>
        <p:nvSpPr>
          <p:cNvPr id="9" name="">
            <a:extLst xmlns:a="http://schemas.openxmlformats.org/drawingml/2006/main">
              <a:ext uri="{FF2B5EF4-FFF2-40B4-BE49-F238E27FC236}">
                <a16:creationId xmlns:a16="http://schemas.microsoft.com/office/drawing/2014/main" id="{7FDA3F57-FE61-46C3-B7DA-0430477A523F}"/>
              </a:ext>
            </a:extLst>
          </p:cNvPr>
          <p:cNvSpPr>
            <a:spLocks xmlns:a="http://schemas.openxmlformats.org/drawingml/2006/main" noGrp="1"/>
          </p:cNvSpPr>
          <p:nvPr/>
        </p:nvSpPr>
        <p:spPr>
          <a:xfrm xmlns:a="http://schemas.openxmlformats.org/drawingml/2006/main">
            <a:off x="1619250" y="4086225"/>
            <a:ext cx="8620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025" b="1">
                <a:solidFill>
                  <a:srgbClr val="FFFFFF"/>
                </a:solidFill>
                <a:latin typeface="Arial"/>
                <a:ea typeface="Arial"/>
                <a:cs typeface="Arial"/>
              </a:defRPr>
            </a:pPr>
            <a:r>
              <a:rPr sz="2025" b="1">
                <a:solidFill>
                  <a:srgbClr val="FFFFFF"/>
                </a:solidFill>
                <a:latin typeface="Arial"/>
                <a:ea typeface="Arial"/>
                <a:cs typeface="Arial"/>
              </a:rPr>
              <a:t>The result concerns resource efficiency, not equal accuracy, measured energy, or universal superiority.</a:t>
            </a:r>
          </a:p>
        </p:txBody>
      </p:sp>
      <p:sp>
        <p:nvSpPr>
          <p:cNvPr id="10" name="">
            <a:extLst xmlns:a="http://schemas.openxmlformats.org/drawingml/2006/main">
              <a:ext uri="{FF2B5EF4-FFF2-40B4-BE49-F238E27FC236}">
                <a16:creationId xmlns:a16="http://schemas.microsoft.com/office/drawing/2014/main" id="{A646C935-EB01-4A44-87C0-51AEA73063BC}"/>
              </a:ext>
            </a:extLst>
          </p:cNvPr>
          <p:cNvSpPr>
            <a:spLocks xmlns:a="http://schemas.openxmlformats.org/drawingml/2006/main" noGrp="1"/>
          </p:cNvSpPr>
          <p:nvPr/>
        </p:nvSpPr>
        <p:spPr>
          <a:xfrm xmlns:a="http://schemas.openxmlformats.org/drawingml/2006/main">
            <a:off x="8839200" y="5476875"/>
            <a:ext cx="2476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3600" b="1">
                <a:solidFill>
                  <a:srgbClr val="0072B2"/>
                </a:solidFill>
                <a:latin typeface="Arial"/>
                <a:ea typeface="Arial"/>
                <a:cs typeface="Arial"/>
              </a:defRPr>
            </a:pPr>
            <a:r>
              <a:rPr sz="3600" b="1">
                <a:solidFill>
                  <a:srgbClr val="0072B2"/>
                </a:solidFill>
                <a:latin typeface="Arial"/>
                <a:ea typeface="Arial"/>
                <a:cs typeface="Arial"/>
              </a:rPr>
              <a:t>Q&amp;A</a:t>
            </a:r>
          </a:p>
        </p:txBody>
      </p:sp>
      <p:sp>
        <p:nvSpPr>
          <p:cNvPr id="11" name="">
            <a:extLst xmlns:a="http://schemas.openxmlformats.org/drawingml/2006/main">
              <a:ext uri="{FF2B5EF4-FFF2-40B4-BE49-F238E27FC236}">
                <a16:creationId xmlns:a16="http://schemas.microsoft.com/office/drawing/2014/main" id="{67F17D88-2855-49D6-8D0E-CE5E1D888634}"/>
              </a:ext>
            </a:extLst>
          </p:cNvPr>
          <p:cNvSpPr>
            <a:spLocks xmlns:a="http://schemas.openxmlformats.org/drawingml/2006/main" noGrp="1"/>
          </p:cNvSpPr>
          <p:nvPr/>
        </p:nvSpPr>
        <p:spPr>
          <a:xfrm xmlns:a="http://schemas.openxmlformats.org/drawingml/2006/main">
            <a:off x="781050" y="6029325"/>
            <a:ext cx="3619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C6D0D8"/>
                </a:solidFill>
                <a:latin typeface="Arial"/>
                <a:ea typeface="Arial"/>
                <a:cs typeface="Arial"/>
              </a:defRPr>
            </a:pPr>
            <a:r>
              <a:rPr sz="1350" b="0">
                <a:solidFill>
                  <a:srgbClr val="C6D0D8"/>
                </a:solidFill>
                <a:latin typeface="Arial"/>
                <a:ea typeface="Arial"/>
                <a:cs typeface="Arial"/>
              </a:rPr>
              <a:t>Bayan &amp; Shay</a:t>
            </a:r>
          </a:p>
        </p:txBody>
      </p:sp>
    </p:spTree>
    <p:extLst>
      <p:ext uri="{BB962C8B-B14F-4D97-AF65-F5344CB8AC3E}">
        <p14:creationId xmlns:p14="http://schemas.microsoft.com/office/powerpoint/2010/main" val="7609478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2026-09-21T11:10:29.1240000Z</dcterms:created>
  <dcterms:modified xsi:type="dcterms:W3CDTF">2026-09-21T11:10:29.1240000Z</dcterms:modified>
</coreProperties>
</file>